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313" r:id="rId4"/>
    <p:sldId id="268" r:id="rId5"/>
    <p:sldId id="269" r:id="rId6"/>
    <p:sldId id="270" r:id="rId7"/>
    <p:sldId id="272" r:id="rId8"/>
    <p:sldId id="273" r:id="rId9"/>
    <p:sldId id="274" r:id="rId10"/>
    <p:sldId id="275" r:id="rId11"/>
    <p:sldId id="276" r:id="rId12"/>
    <p:sldId id="277" r:id="rId13"/>
    <p:sldId id="260" r:id="rId14"/>
    <p:sldId id="283" r:id="rId15"/>
    <p:sldId id="279" r:id="rId16"/>
    <p:sldId id="284" r:id="rId17"/>
    <p:sldId id="285" r:id="rId18"/>
    <p:sldId id="286" r:id="rId19"/>
    <p:sldId id="287" r:id="rId20"/>
    <p:sldId id="288" r:id="rId21"/>
    <p:sldId id="281" r:id="rId22"/>
    <p:sldId id="289" r:id="rId23"/>
    <p:sldId id="271" r:id="rId24"/>
    <p:sldId id="314" r:id="rId25"/>
    <p:sldId id="278" r:id="rId26"/>
    <p:sldId id="315" r:id="rId27"/>
    <p:sldId id="322" r:id="rId28"/>
    <p:sldId id="282" r:id="rId29"/>
    <p:sldId id="292" r:id="rId30"/>
    <p:sldId id="293" r:id="rId31"/>
    <p:sldId id="290" r:id="rId32"/>
    <p:sldId id="291" r:id="rId33"/>
    <p:sldId id="295" r:id="rId34"/>
    <p:sldId id="296" r:id="rId35"/>
    <p:sldId id="297" r:id="rId36"/>
    <p:sldId id="294" r:id="rId37"/>
    <p:sldId id="299" r:id="rId38"/>
    <p:sldId id="300" r:id="rId39"/>
    <p:sldId id="317" r:id="rId40"/>
    <p:sldId id="298" r:id="rId41"/>
    <p:sldId id="304" r:id="rId42"/>
    <p:sldId id="305" r:id="rId43"/>
    <p:sldId id="306" r:id="rId44"/>
    <p:sldId id="307" r:id="rId45"/>
    <p:sldId id="309" r:id="rId46"/>
    <p:sldId id="310" r:id="rId47"/>
    <p:sldId id="311" r:id="rId48"/>
    <p:sldId id="312" r:id="rId49"/>
    <p:sldId id="320" r:id="rId50"/>
    <p:sldId id="321" r:id="rId51"/>
    <p:sldId id="316" r:id="rId52"/>
    <p:sldId id="262"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473F"/>
    <a:srgbClr val="FF574B"/>
    <a:srgbClr val="262822"/>
    <a:srgbClr val="050505"/>
    <a:srgbClr val="FF5B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68"/>
    <p:restoredTop sz="86395"/>
  </p:normalViewPr>
  <p:slideViewPr>
    <p:cSldViewPr snapToGrid="0" snapToObjects="1">
      <p:cViewPr varScale="1">
        <p:scale>
          <a:sx n="78" d="100"/>
          <a:sy n="78" d="100"/>
        </p:scale>
        <p:origin x="192" y="1240"/>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4.141"/>
    </inkml:context>
    <inkml:brush xml:id="br0">
      <inkml:brushProperty name="width" value="0.05" units="cm"/>
      <inkml:brushProperty name="height" value="0.05" units="cm"/>
      <inkml:brushProperty name="color" value="#E71224"/>
    </inkml:brush>
  </inkml:definitions>
  <inkml:trace contextRef="#ctx0" brushRef="#br0">1 10 24575,'0'-6'0,"0"2"0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5.093"/>
    </inkml:context>
    <inkml:brush xml:id="br0">
      <inkml:brushProperty name="width" value="0.05" units="cm"/>
      <inkml:brushProperty name="height" value="0.05" units="cm"/>
      <inkml:brushProperty name="color" value="#E71224"/>
    </inkml:brush>
  </inkml:definitions>
  <inkml:trace contextRef="#ctx0" brushRef="#br0">1 1 24575,'5'5'0,"-1"-1"0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0.298"/>
    </inkml:context>
    <inkml:brush xml:id="br0">
      <inkml:brushProperty name="width" value="0.05" units="cm"/>
      <inkml:brushProperty name="height" value="0.05" units="cm"/>
      <inkml:brushProperty name="color" value="#E71224"/>
    </inkml:brush>
  </inkml:definitions>
  <inkml:trace contextRef="#ctx0" brushRef="#br0">1 10 24575,'0'-5'0,"0"1"0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6.0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8.710"/>
    </inkml:context>
    <inkml:brush xml:id="br0">
      <inkml:brushProperty name="width" value="0.05" units="cm"/>
      <inkml:brushProperty name="height" value="0.05" units="cm"/>
      <inkml:brushProperty name="color" value="#E71224"/>
    </inkml:brush>
  </inkml:definitions>
  <inkml:trace contextRef="#ctx0" brushRef="#br0">0 1 24575,'5'0'0,"-1"0"0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539-EFFE-4545-8560-8B85D420C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27E099-A4CF-C148-8D5A-DC7DCE6EA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14F13F-321A-6C44-A529-3C63949C72C6}"/>
              </a:ext>
            </a:extLst>
          </p:cNvPr>
          <p:cNvSpPr>
            <a:spLocks noGrp="1"/>
          </p:cNvSpPr>
          <p:nvPr>
            <p:ph type="dt" sz="half" idx="10"/>
          </p:nvPr>
        </p:nvSpPr>
        <p:spPr/>
        <p:txBody>
          <a:bodyPr/>
          <a:lstStyle/>
          <a:p>
            <a:fld id="{BDE38E33-E634-164E-9160-E9D257145221}" type="datetimeFigureOut">
              <a:rPr lang="en-US" smtClean="0"/>
              <a:t>1/8/25</a:t>
            </a:fld>
            <a:endParaRPr lang="en-US"/>
          </a:p>
        </p:txBody>
      </p:sp>
      <p:sp>
        <p:nvSpPr>
          <p:cNvPr id="5" name="Footer Placeholder 4">
            <a:extLst>
              <a:ext uri="{FF2B5EF4-FFF2-40B4-BE49-F238E27FC236}">
                <a16:creationId xmlns:a16="http://schemas.microsoft.com/office/drawing/2014/main" id="{97777D4B-E972-3F48-8AB6-BC30D35A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37F83-FC1F-964D-9D14-71EC1C06AE71}"/>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63798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8E1E-8C7B-BF49-ADDF-0DBF11C19E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96981E-8F9B-D64C-9D10-A1DF590341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020193-341C-E347-A42A-A1A21E43FF77}"/>
              </a:ext>
            </a:extLst>
          </p:cNvPr>
          <p:cNvSpPr>
            <a:spLocks noGrp="1"/>
          </p:cNvSpPr>
          <p:nvPr>
            <p:ph type="dt" sz="half" idx="10"/>
          </p:nvPr>
        </p:nvSpPr>
        <p:spPr/>
        <p:txBody>
          <a:bodyPr/>
          <a:lstStyle/>
          <a:p>
            <a:fld id="{BDE38E33-E634-164E-9160-E9D257145221}" type="datetimeFigureOut">
              <a:rPr lang="en-US" smtClean="0"/>
              <a:t>1/8/25</a:t>
            </a:fld>
            <a:endParaRPr lang="en-US"/>
          </a:p>
        </p:txBody>
      </p:sp>
      <p:sp>
        <p:nvSpPr>
          <p:cNvPr id="5" name="Footer Placeholder 4">
            <a:extLst>
              <a:ext uri="{FF2B5EF4-FFF2-40B4-BE49-F238E27FC236}">
                <a16:creationId xmlns:a16="http://schemas.microsoft.com/office/drawing/2014/main" id="{2B618F1D-D2AE-3E45-9684-41082CDD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7C00-9FE2-D644-877F-E440C7FDB26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12644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FB7A-866B-8144-B7A1-B3D2CE8B4D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A9333F-7620-324C-821F-9AD4629D8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41DDB4-466A-D142-8FFA-437B8B3B2108}"/>
              </a:ext>
            </a:extLst>
          </p:cNvPr>
          <p:cNvSpPr>
            <a:spLocks noGrp="1"/>
          </p:cNvSpPr>
          <p:nvPr>
            <p:ph type="dt" sz="half" idx="10"/>
          </p:nvPr>
        </p:nvSpPr>
        <p:spPr/>
        <p:txBody>
          <a:bodyPr/>
          <a:lstStyle/>
          <a:p>
            <a:fld id="{BDE38E33-E634-164E-9160-E9D257145221}" type="datetimeFigureOut">
              <a:rPr lang="en-US" smtClean="0"/>
              <a:t>1/8/25</a:t>
            </a:fld>
            <a:endParaRPr lang="en-US"/>
          </a:p>
        </p:txBody>
      </p:sp>
      <p:sp>
        <p:nvSpPr>
          <p:cNvPr id="5" name="Footer Placeholder 4">
            <a:extLst>
              <a:ext uri="{FF2B5EF4-FFF2-40B4-BE49-F238E27FC236}">
                <a16:creationId xmlns:a16="http://schemas.microsoft.com/office/drawing/2014/main" id="{0E5B42E0-284F-5746-B82C-C36E036E5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5C72-09E6-E047-BEF5-956CDC65F70E}"/>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3278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2E35-2AE7-6F47-B4DA-83DE0DF474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FCAD58-35EE-E345-9223-93C0D708CA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64EF8E7-11C7-6E44-9C23-E6F8B255FA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588C67-D211-A347-94D3-2566B042CEAC}"/>
              </a:ext>
            </a:extLst>
          </p:cNvPr>
          <p:cNvSpPr>
            <a:spLocks noGrp="1"/>
          </p:cNvSpPr>
          <p:nvPr>
            <p:ph type="dt" sz="half" idx="10"/>
          </p:nvPr>
        </p:nvSpPr>
        <p:spPr/>
        <p:txBody>
          <a:bodyPr/>
          <a:lstStyle/>
          <a:p>
            <a:fld id="{BDE38E33-E634-164E-9160-E9D257145221}" type="datetimeFigureOut">
              <a:rPr lang="en-US" smtClean="0"/>
              <a:t>1/8/25</a:t>
            </a:fld>
            <a:endParaRPr lang="en-US"/>
          </a:p>
        </p:txBody>
      </p:sp>
      <p:sp>
        <p:nvSpPr>
          <p:cNvPr id="6" name="Footer Placeholder 5">
            <a:extLst>
              <a:ext uri="{FF2B5EF4-FFF2-40B4-BE49-F238E27FC236}">
                <a16:creationId xmlns:a16="http://schemas.microsoft.com/office/drawing/2014/main" id="{BF3FAA6E-E7CE-1B4F-A78D-8055C20FF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079D9-12B3-A149-9192-6D6EE5E58F8C}"/>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6961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7B05-85DB-5A4D-931F-231EBBA112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6F10373-280F-CA46-BE02-633860BE9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0A25CD-D56D-9749-8FA7-012A6FFB1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940AEA-A232-8E45-B81D-24868FB2C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DB3D5C-B45E-294F-899C-37B8ABB445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43D68E-FDF7-C045-8CAA-189B56B2E697}"/>
              </a:ext>
            </a:extLst>
          </p:cNvPr>
          <p:cNvSpPr>
            <a:spLocks noGrp="1"/>
          </p:cNvSpPr>
          <p:nvPr>
            <p:ph type="dt" sz="half" idx="10"/>
          </p:nvPr>
        </p:nvSpPr>
        <p:spPr/>
        <p:txBody>
          <a:bodyPr/>
          <a:lstStyle/>
          <a:p>
            <a:fld id="{BDE38E33-E634-164E-9160-E9D257145221}" type="datetimeFigureOut">
              <a:rPr lang="en-US" smtClean="0"/>
              <a:t>1/8/25</a:t>
            </a:fld>
            <a:endParaRPr lang="en-US"/>
          </a:p>
        </p:txBody>
      </p:sp>
      <p:sp>
        <p:nvSpPr>
          <p:cNvPr id="8" name="Footer Placeholder 7">
            <a:extLst>
              <a:ext uri="{FF2B5EF4-FFF2-40B4-BE49-F238E27FC236}">
                <a16:creationId xmlns:a16="http://schemas.microsoft.com/office/drawing/2014/main" id="{7C413D46-B78B-B34E-A26D-1E905B740B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BDADF-5108-CD45-9618-15BBE06090DB}"/>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99492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9E0C-142B-1A4D-89C5-B127E3184B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8F2823E-3DFF-BC40-A52F-4043983FB2DD}"/>
              </a:ext>
            </a:extLst>
          </p:cNvPr>
          <p:cNvSpPr>
            <a:spLocks noGrp="1"/>
          </p:cNvSpPr>
          <p:nvPr>
            <p:ph type="dt" sz="half" idx="10"/>
          </p:nvPr>
        </p:nvSpPr>
        <p:spPr/>
        <p:txBody>
          <a:bodyPr/>
          <a:lstStyle/>
          <a:p>
            <a:fld id="{BDE38E33-E634-164E-9160-E9D257145221}" type="datetimeFigureOut">
              <a:rPr lang="en-US" smtClean="0"/>
              <a:t>1/8/25</a:t>
            </a:fld>
            <a:endParaRPr lang="en-US"/>
          </a:p>
        </p:txBody>
      </p:sp>
      <p:sp>
        <p:nvSpPr>
          <p:cNvPr id="4" name="Footer Placeholder 3">
            <a:extLst>
              <a:ext uri="{FF2B5EF4-FFF2-40B4-BE49-F238E27FC236}">
                <a16:creationId xmlns:a16="http://schemas.microsoft.com/office/drawing/2014/main" id="{124D8986-40E4-9C4C-9000-D7F27294F6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A2C31-69A8-2541-8800-BF6093390D3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80514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6F4BA-B7C3-0B40-A517-3063895B03DF}"/>
              </a:ext>
            </a:extLst>
          </p:cNvPr>
          <p:cNvSpPr>
            <a:spLocks noGrp="1"/>
          </p:cNvSpPr>
          <p:nvPr>
            <p:ph type="dt" sz="half" idx="10"/>
          </p:nvPr>
        </p:nvSpPr>
        <p:spPr/>
        <p:txBody>
          <a:bodyPr/>
          <a:lstStyle/>
          <a:p>
            <a:fld id="{BDE38E33-E634-164E-9160-E9D257145221}" type="datetimeFigureOut">
              <a:rPr lang="en-US" smtClean="0"/>
              <a:t>1/8/25</a:t>
            </a:fld>
            <a:endParaRPr lang="en-US"/>
          </a:p>
        </p:txBody>
      </p:sp>
      <p:sp>
        <p:nvSpPr>
          <p:cNvPr id="3" name="Footer Placeholder 2">
            <a:extLst>
              <a:ext uri="{FF2B5EF4-FFF2-40B4-BE49-F238E27FC236}">
                <a16:creationId xmlns:a16="http://schemas.microsoft.com/office/drawing/2014/main" id="{4797E2D8-25FE-5D4E-AA84-54C5D96B6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3C8086-56AB-5846-9B21-24E9FACF9EE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56485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128B-CB7D-4949-BDCD-CEA57AD653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C22BEB-180F-2C4F-AD00-7398A27FFD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449D24-1922-914E-8AE1-EDB93293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CC72B2-DD18-5848-8941-A617E3E7920F}"/>
              </a:ext>
            </a:extLst>
          </p:cNvPr>
          <p:cNvSpPr>
            <a:spLocks noGrp="1"/>
          </p:cNvSpPr>
          <p:nvPr>
            <p:ph type="dt" sz="half" idx="10"/>
          </p:nvPr>
        </p:nvSpPr>
        <p:spPr/>
        <p:txBody>
          <a:bodyPr/>
          <a:lstStyle/>
          <a:p>
            <a:fld id="{BDE38E33-E634-164E-9160-E9D257145221}" type="datetimeFigureOut">
              <a:rPr lang="en-US" smtClean="0"/>
              <a:t>1/8/25</a:t>
            </a:fld>
            <a:endParaRPr lang="en-US"/>
          </a:p>
        </p:txBody>
      </p:sp>
      <p:sp>
        <p:nvSpPr>
          <p:cNvPr id="6" name="Footer Placeholder 5">
            <a:extLst>
              <a:ext uri="{FF2B5EF4-FFF2-40B4-BE49-F238E27FC236}">
                <a16:creationId xmlns:a16="http://schemas.microsoft.com/office/drawing/2014/main" id="{688227D4-8A18-8847-B7F4-B294D0E21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1A7C-E471-BB41-A5AE-D7F2A5EF524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0120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BA7A-65F6-804A-9941-BCE8970B95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38F054-1226-C841-8344-D63DBC021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1DC94-414C-3F41-B393-D969AAC6A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DE8132-7D31-F647-A931-5987A506D35F}"/>
              </a:ext>
            </a:extLst>
          </p:cNvPr>
          <p:cNvSpPr>
            <a:spLocks noGrp="1"/>
          </p:cNvSpPr>
          <p:nvPr>
            <p:ph type="dt" sz="half" idx="10"/>
          </p:nvPr>
        </p:nvSpPr>
        <p:spPr/>
        <p:txBody>
          <a:bodyPr/>
          <a:lstStyle/>
          <a:p>
            <a:fld id="{BDE38E33-E634-164E-9160-E9D257145221}" type="datetimeFigureOut">
              <a:rPr lang="en-US" smtClean="0"/>
              <a:t>1/8/25</a:t>
            </a:fld>
            <a:endParaRPr lang="en-US"/>
          </a:p>
        </p:txBody>
      </p:sp>
      <p:sp>
        <p:nvSpPr>
          <p:cNvPr id="6" name="Footer Placeholder 5">
            <a:extLst>
              <a:ext uri="{FF2B5EF4-FFF2-40B4-BE49-F238E27FC236}">
                <a16:creationId xmlns:a16="http://schemas.microsoft.com/office/drawing/2014/main" id="{59DF137E-B2CD-DD4D-BF38-E08630C9F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F7E92-EA36-7B48-A10F-1F43EE78FE1D}"/>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38456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4E04-9F9F-AB48-88B1-E1883CD331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657EA1-F037-8B4E-9A3A-2DE41A3DE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DB8C3C-2D4F-BE41-8BC7-084B83BEFA84}"/>
              </a:ext>
            </a:extLst>
          </p:cNvPr>
          <p:cNvSpPr>
            <a:spLocks noGrp="1"/>
          </p:cNvSpPr>
          <p:nvPr>
            <p:ph type="dt" sz="half" idx="10"/>
          </p:nvPr>
        </p:nvSpPr>
        <p:spPr/>
        <p:txBody>
          <a:bodyPr/>
          <a:lstStyle/>
          <a:p>
            <a:fld id="{BDE38E33-E634-164E-9160-E9D257145221}" type="datetimeFigureOut">
              <a:rPr lang="en-US" smtClean="0"/>
              <a:t>1/8/25</a:t>
            </a:fld>
            <a:endParaRPr lang="en-US"/>
          </a:p>
        </p:txBody>
      </p:sp>
      <p:sp>
        <p:nvSpPr>
          <p:cNvPr id="5" name="Footer Placeholder 4">
            <a:extLst>
              <a:ext uri="{FF2B5EF4-FFF2-40B4-BE49-F238E27FC236}">
                <a16:creationId xmlns:a16="http://schemas.microsoft.com/office/drawing/2014/main" id="{D612D0DE-14FE-1D40-BE53-A452852B6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D8C1-DBB4-6047-9F3A-27574BE70FD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1818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564D8-A2EB-6040-A321-450F2B3B53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E19CC6-DE46-8941-A1E0-A043207418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B8749-56EB-B24A-9291-4EBB8B556CFA}"/>
              </a:ext>
            </a:extLst>
          </p:cNvPr>
          <p:cNvSpPr>
            <a:spLocks noGrp="1"/>
          </p:cNvSpPr>
          <p:nvPr>
            <p:ph type="dt" sz="half" idx="10"/>
          </p:nvPr>
        </p:nvSpPr>
        <p:spPr/>
        <p:txBody>
          <a:bodyPr/>
          <a:lstStyle/>
          <a:p>
            <a:fld id="{BDE38E33-E634-164E-9160-E9D257145221}" type="datetimeFigureOut">
              <a:rPr lang="en-US" smtClean="0"/>
              <a:t>1/8/25</a:t>
            </a:fld>
            <a:endParaRPr lang="en-US"/>
          </a:p>
        </p:txBody>
      </p:sp>
      <p:sp>
        <p:nvSpPr>
          <p:cNvPr id="5" name="Footer Placeholder 4">
            <a:extLst>
              <a:ext uri="{FF2B5EF4-FFF2-40B4-BE49-F238E27FC236}">
                <a16:creationId xmlns:a16="http://schemas.microsoft.com/office/drawing/2014/main" id="{527ABE29-13B7-C144-9FE6-C43F1BC65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9BD64-DA0B-7445-BB80-5A502968ADB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8931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0518A-80A7-B946-A2C0-357FF80B4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66F8D-B95D-3748-A8C1-B613B61AC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1E4AA-0008-E746-A8C3-917D9ECC1F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38E33-E634-164E-9160-E9D257145221}" type="datetimeFigureOut">
              <a:rPr lang="en-US" smtClean="0"/>
              <a:t>1/8/25</a:t>
            </a:fld>
            <a:endParaRPr lang="en-US"/>
          </a:p>
        </p:txBody>
      </p:sp>
      <p:sp>
        <p:nvSpPr>
          <p:cNvPr id="5" name="Footer Placeholder 4">
            <a:extLst>
              <a:ext uri="{FF2B5EF4-FFF2-40B4-BE49-F238E27FC236}">
                <a16:creationId xmlns:a16="http://schemas.microsoft.com/office/drawing/2014/main" id="{32A644B1-065E-4C4F-8DD6-AB2140588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71CFFB-C884-9249-B66F-52213D90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301A9-E266-4A4D-81C0-23C5428F31B4}" type="slidenum">
              <a:rPr lang="en-US" smtClean="0"/>
              <a:t>‹#›</a:t>
            </a:fld>
            <a:endParaRPr lang="en-US"/>
          </a:p>
        </p:txBody>
      </p:sp>
    </p:spTree>
    <p:extLst>
      <p:ext uri="{BB962C8B-B14F-4D97-AF65-F5344CB8AC3E}">
        <p14:creationId xmlns:p14="http://schemas.microsoft.com/office/powerpoint/2010/main" val="183214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jquery.com/" TargetMode="External"/><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jquery.com/" TargetMode="External"/><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dictionary.com/browse/asynchronou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localhost:8000/uni/code_examples/ajax1.html" TargetMode="External"/><Relationship Id="rId2" Type="http://schemas.openxmlformats.org/officeDocument/2006/relationships/hyperlink" Target="https://www.w3schools.com/js/js_ajax_intro.asp" TargetMode="External"/><Relationship Id="rId1" Type="http://schemas.openxmlformats.org/officeDocument/2006/relationships/slideLayout" Target="../slideLayouts/slideLayout2.xml"/><Relationship Id="rId5" Type="http://schemas.openxmlformats.org/officeDocument/2006/relationships/hyperlink" Target="http://localhost/COMP1841/week6-03/index.php" TargetMode="Externa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hyperlink" Target="http://localhost:8000/uni/code_examples/Jajax.html"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localhost:8000/uni/code_examples/fetch.html" TargetMode="External"/><Relationship Id="rId2" Type="http://schemas.openxmlformats.org/officeDocument/2006/relationships/hyperlink" Target="https://www.w3schools.com/js/js_api_fetch.asp" TargetMode="Externa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hyperlink" Target="https://www.w3schools.com/js/js_json_intro.asp"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w3schools.com/react/default.asp" TargetMode="External"/><Relationship Id="rId2" Type="http://schemas.openxmlformats.org/officeDocument/2006/relationships/hyperlink" Target="https://reactjs.org/" TargetMode="Externa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v3.vuejs.org/" TargetMode="External"/><Relationship Id="rId2" Type="http://schemas.openxmlformats.org/officeDocument/2006/relationships/hyperlink" Target="https://vuejs.org/" TargetMode="Externa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vuejs.org/guide/quick-start.html" TargetMode="External"/><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www.vuemastery.com/courses/intro-to-vue-3/intro-to-vue3/"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57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8B91-A0EF-6441-AC27-9667FD447C0F}"/>
              </a:ext>
            </a:extLst>
          </p:cNvPr>
          <p:cNvSpPr>
            <a:spLocks noGrp="1"/>
          </p:cNvSpPr>
          <p:nvPr>
            <p:ph type="ctrTitle"/>
          </p:nvPr>
        </p:nvSpPr>
        <p:spPr>
          <a:xfrm>
            <a:off x="0" y="1526518"/>
            <a:ext cx="12192000" cy="2472633"/>
          </a:xfrm>
          <a:ln>
            <a:noFill/>
          </a:ln>
          <a:effectLst>
            <a:outerShdw blurRad="165100" dist="101600" dir="5400000" algn="t" rotWithShape="0">
              <a:prstClr val="black">
                <a:alpha val="40000"/>
              </a:prstClr>
            </a:outerShdw>
          </a:effectLst>
        </p:spPr>
        <p:txBody>
          <a:bodyPr>
            <a:noAutofit/>
          </a:bodyPr>
          <a:lstStyle/>
          <a:p>
            <a:r>
              <a:rPr lang="en-US" sz="1500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 1842</a:t>
            </a:r>
          </a:p>
        </p:txBody>
      </p:sp>
      <p:sp>
        <p:nvSpPr>
          <p:cNvPr id="3" name="Subtitle 2">
            <a:extLst>
              <a:ext uri="{FF2B5EF4-FFF2-40B4-BE49-F238E27FC236}">
                <a16:creationId xmlns:a16="http://schemas.microsoft.com/office/drawing/2014/main" id="{7CC15634-394B-C140-BAEF-ABAB8B4926C9}"/>
              </a:ext>
            </a:extLst>
          </p:cNvPr>
          <p:cNvSpPr>
            <a:spLocks noGrp="1"/>
          </p:cNvSpPr>
          <p:nvPr>
            <p:ph type="subTitle" idx="1"/>
          </p:nvPr>
        </p:nvSpPr>
        <p:spPr>
          <a:xfrm>
            <a:off x="0" y="4640041"/>
            <a:ext cx="12192000" cy="862267"/>
          </a:xfrm>
        </p:spPr>
        <p:txBody>
          <a:bodyPr>
            <a:normAutofit lnSpcReduction="10000"/>
          </a:bodyPr>
          <a:lstStyle/>
          <a:p>
            <a:r>
              <a:rPr lang="en-US" dirty="0">
                <a:solidFill>
                  <a:schemeClr val="bg1"/>
                </a:solidFill>
                <a:latin typeface="Helvetica Neue Thin" panose="020B0403020202020204" pitchFamily="34" charset="0"/>
                <a:ea typeface="Helvetica Neue Thin" panose="020B0403020202020204" pitchFamily="34" charset="0"/>
              </a:rPr>
              <a:t>Week 1 – Vue.js intro</a:t>
            </a:r>
          </a:p>
          <a:p>
            <a:r>
              <a:rPr lang="en-US" dirty="0">
                <a:solidFill>
                  <a:schemeClr val="bg1"/>
                </a:solidFill>
                <a:latin typeface="Helvetica Neue Thin" panose="020B0403020202020204" pitchFamily="34" charset="0"/>
                <a:ea typeface="Helvetica Neue Thin" panose="020B0403020202020204" pitchFamily="34" charset="0"/>
              </a:rPr>
              <a:t>Matt Prichard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D7C0677-BBE1-414B-814E-FB526796BABE}"/>
                  </a:ext>
                </a:extLst>
              </p14:cNvPr>
              <p14:cNvContentPartPr/>
              <p14:nvPr/>
            </p14:nvContentPartPr>
            <p14:xfrm>
              <a:off x="8651014" y="2840692"/>
              <a:ext cx="360" cy="3600"/>
            </p14:xfrm>
          </p:contentPart>
        </mc:Choice>
        <mc:Fallback xmlns="">
          <p:pic>
            <p:nvPicPr>
              <p:cNvPr id="5" name="Ink 4">
                <a:extLst>
                  <a:ext uri="{FF2B5EF4-FFF2-40B4-BE49-F238E27FC236}">
                    <a16:creationId xmlns:a16="http://schemas.microsoft.com/office/drawing/2014/main" id="{DD7C0677-BBE1-414B-814E-FB526796BABE}"/>
                  </a:ext>
                </a:extLst>
              </p:cNvPr>
              <p:cNvPicPr/>
              <p:nvPr/>
            </p:nvPicPr>
            <p:blipFill>
              <a:blip r:embed="rId3"/>
              <a:stretch>
                <a:fillRect/>
              </a:stretch>
            </p:blipFill>
            <p:spPr>
              <a:xfrm>
                <a:off x="8642374" y="283169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850E275-2940-D64F-8F9D-8FEA90F263CD}"/>
                  </a:ext>
                </a:extLst>
              </p14:cNvPr>
              <p14:cNvContentPartPr/>
              <p14:nvPr/>
            </p14:nvContentPartPr>
            <p14:xfrm>
              <a:off x="7568494" y="1355692"/>
              <a:ext cx="3600" cy="3600"/>
            </p14:xfrm>
          </p:contentPart>
        </mc:Choice>
        <mc:Fallback xmlns="">
          <p:pic>
            <p:nvPicPr>
              <p:cNvPr id="6" name="Ink 5">
                <a:extLst>
                  <a:ext uri="{FF2B5EF4-FFF2-40B4-BE49-F238E27FC236}">
                    <a16:creationId xmlns:a16="http://schemas.microsoft.com/office/drawing/2014/main" id="{2850E275-2940-D64F-8F9D-8FEA90F263CD}"/>
                  </a:ext>
                </a:extLst>
              </p:cNvPr>
              <p:cNvPicPr/>
              <p:nvPr/>
            </p:nvPicPr>
            <p:blipFill>
              <a:blip r:embed="rId5"/>
              <a:stretch>
                <a:fillRect/>
              </a:stretch>
            </p:blipFill>
            <p:spPr>
              <a:xfrm>
                <a:off x="7559854" y="1347052"/>
                <a:ext cx="21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C9CF2D3-71F9-664F-83A1-4ACBF7039607}"/>
                  </a:ext>
                </a:extLst>
              </p14:cNvPr>
              <p14:cNvContentPartPr/>
              <p14:nvPr/>
            </p14:nvContentPartPr>
            <p14:xfrm>
              <a:off x="5078734" y="3049852"/>
              <a:ext cx="360" cy="3600"/>
            </p14:xfrm>
          </p:contentPart>
        </mc:Choice>
        <mc:Fallback xmlns="">
          <p:pic>
            <p:nvPicPr>
              <p:cNvPr id="7" name="Ink 6">
                <a:extLst>
                  <a:ext uri="{FF2B5EF4-FFF2-40B4-BE49-F238E27FC236}">
                    <a16:creationId xmlns:a16="http://schemas.microsoft.com/office/drawing/2014/main" id="{3C9CF2D3-71F9-664F-83A1-4ACBF7039607}"/>
                  </a:ext>
                </a:extLst>
              </p:cNvPr>
              <p:cNvPicPr/>
              <p:nvPr/>
            </p:nvPicPr>
            <p:blipFill>
              <a:blip r:embed="rId3"/>
              <a:stretch>
                <a:fillRect/>
              </a:stretch>
            </p:blipFill>
            <p:spPr>
              <a:xfrm>
                <a:off x="5070094" y="304121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FDACCB0-A54B-354A-A3EC-60B7525CDF0A}"/>
                  </a:ext>
                </a:extLst>
              </p14:cNvPr>
              <p14:cNvContentPartPr/>
              <p14:nvPr/>
            </p14:nvContentPartPr>
            <p14:xfrm>
              <a:off x="5525854" y="1776532"/>
              <a:ext cx="360" cy="360"/>
            </p14:xfrm>
          </p:contentPart>
        </mc:Choice>
        <mc:Fallback xmlns="">
          <p:pic>
            <p:nvPicPr>
              <p:cNvPr id="8" name="Ink 7">
                <a:extLst>
                  <a:ext uri="{FF2B5EF4-FFF2-40B4-BE49-F238E27FC236}">
                    <a16:creationId xmlns:a16="http://schemas.microsoft.com/office/drawing/2014/main" id="{8FDACCB0-A54B-354A-A3EC-60B7525CDF0A}"/>
                  </a:ext>
                </a:extLst>
              </p:cNvPr>
              <p:cNvPicPr/>
              <p:nvPr/>
            </p:nvPicPr>
            <p:blipFill>
              <a:blip r:embed="rId8"/>
              <a:stretch>
                <a:fillRect/>
              </a:stretch>
            </p:blipFill>
            <p:spPr>
              <a:xfrm>
                <a:off x="5517214" y="17675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5448C-44AF-1340-8608-65DF607A0667}"/>
                  </a:ext>
                </a:extLst>
              </p14:cNvPr>
              <p14:cNvContentPartPr/>
              <p14:nvPr/>
            </p14:nvContentPartPr>
            <p14:xfrm>
              <a:off x="768814" y="1290172"/>
              <a:ext cx="3600" cy="360"/>
            </p14:xfrm>
          </p:contentPart>
        </mc:Choice>
        <mc:Fallback xmlns="">
          <p:pic>
            <p:nvPicPr>
              <p:cNvPr id="9" name="Ink 8">
                <a:extLst>
                  <a:ext uri="{FF2B5EF4-FFF2-40B4-BE49-F238E27FC236}">
                    <a16:creationId xmlns:a16="http://schemas.microsoft.com/office/drawing/2014/main" id="{6465448C-44AF-1340-8608-65DF607A0667}"/>
                  </a:ext>
                </a:extLst>
              </p:cNvPr>
              <p:cNvPicPr/>
              <p:nvPr/>
            </p:nvPicPr>
            <p:blipFill>
              <a:blip r:embed="rId10"/>
              <a:stretch>
                <a:fillRect/>
              </a:stretch>
            </p:blipFill>
            <p:spPr>
              <a:xfrm>
                <a:off x="759814" y="1281532"/>
                <a:ext cx="21240" cy="18000"/>
              </a:xfrm>
              <a:prstGeom prst="rect">
                <a:avLst/>
              </a:prstGeom>
            </p:spPr>
          </p:pic>
        </mc:Fallback>
      </mc:AlternateContent>
    </p:spTree>
    <p:extLst>
      <p:ext uri="{BB962C8B-B14F-4D97-AF65-F5344CB8AC3E}">
        <p14:creationId xmlns:p14="http://schemas.microsoft.com/office/powerpoint/2010/main" val="16342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Introduction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515600" cy="4351338"/>
          </a:xfrm>
        </p:spPr>
        <p:txBody>
          <a:bodyPr>
            <a:normAutofit fontScale="85000" lnSpcReduction="20000"/>
          </a:bodyPr>
          <a:lstStyle/>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Recap</a:t>
            </a:r>
          </a:p>
          <a:p>
            <a:pPr marL="0" indent="0">
              <a:lnSpc>
                <a:spcPct val="150000"/>
              </a:lnSpc>
              <a:buNone/>
            </a:pPr>
            <a:r>
              <a:rPr lang="en-GB" spc="50" dirty="0" err="1">
                <a:solidFill>
                  <a:schemeClr val="tx1">
                    <a:lumMod val="85000"/>
                    <a:lumOff val="15000"/>
                  </a:schemeClr>
                </a:solidFill>
                <a:latin typeface="Helvetica Neue Light" panose="02000403000000020004" pitchFamily="2" charset="0"/>
                <a:ea typeface="Helvetica Neue Light" panose="02000403000000020004" pitchFamily="2" charset="0"/>
              </a:rPr>
              <a:t>JQuery</a:t>
            </a:r>
            <a:endPar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AJAX</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JSON</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SPAs</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Angular and React</a:t>
            </a:r>
          </a:p>
          <a:p>
            <a:pPr marL="0" indent="0">
              <a:lnSpc>
                <a:spcPct val="150000"/>
              </a:lnSpc>
              <a:buNone/>
            </a:pPr>
            <a:r>
              <a:rPr lang="en-GB" spc="50" dirty="0" err="1">
                <a:solidFill>
                  <a:schemeClr val="tx1">
                    <a:lumMod val="85000"/>
                    <a:lumOff val="15000"/>
                  </a:schemeClr>
                </a:solidFill>
                <a:latin typeface="Helvetica Neue Light" panose="02000403000000020004" pitchFamily="2" charset="0"/>
                <a:ea typeface="Helvetica Neue Light" panose="02000403000000020004" pitchFamily="2" charset="0"/>
              </a:rPr>
              <a:t>Vue.js</a:t>
            </a:r>
            <a:endPar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5913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Recap</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JS variables; var - </a:t>
            </a:r>
            <a:r>
              <a:rPr lang="en-GB" dirty="0" err="1">
                <a:latin typeface="Helvetica Neue Light" panose="02000403000000020004" pitchFamily="2" charset="0"/>
                <a:ea typeface="Helvetica Neue Light" panose="02000403000000020004" pitchFamily="2" charset="0"/>
              </a:rPr>
              <a:t>const</a:t>
            </a:r>
            <a:r>
              <a:rPr lang="en-GB" dirty="0">
                <a:latin typeface="Helvetica Neue Light" panose="02000403000000020004" pitchFamily="2" charset="0"/>
                <a:ea typeface="Helvetica Neue Light" panose="02000403000000020004" pitchFamily="2" charset="0"/>
              </a:rPr>
              <a:t> - let</a:t>
            </a:r>
          </a:p>
          <a:p>
            <a:pPr marL="0" indent="0">
              <a:lnSpc>
                <a:spcPct val="150000"/>
              </a:lnSpc>
              <a:buNone/>
            </a:pPr>
            <a:r>
              <a:rPr lang="en-GB" dirty="0">
                <a:latin typeface="Helvetica Neue Light" panose="02000403000000020004" pitchFamily="2" charset="0"/>
                <a:ea typeface="Helvetica Neue Light" panose="02000403000000020004" pitchFamily="2" charset="0"/>
              </a:rPr>
              <a:t>Getting and showing data by accessing the DOM</a:t>
            </a:r>
          </a:p>
          <a:p>
            <a:pPr marL="0" indent="0">
              <a:lnSpc>
                <a:spcPct val="150000"/>
              </a:lnSpc>
              <a:buNone/>
            </a:pPr>
            <a:r>
              <a:rPr lang="en-GB" dirty="0">
                <a:latin typeface="Helvetica Neue Light" panose="02000403000000020004" pitchFamily="2" charset="0"/>
                <a:ea typeface="Helvetica Neue Light" panose="02000403000000020004" pitchFamily="2" charset="0"/>
              </a:rPr>
              <a:t>HTTP</a:t>
            </a:r>
          </a:p>
          <a:p>
            <a:pPr marL="0" indent="0">
              <a:lnSpc>
                <a:spcPct val="150000"/>
              </a:lnSpc>
              <a:buNone/>
            </a:pPr>
            <a:r>
              <a:rPr lang="en-GB" dirty="0">
                <a:latin typeface="Helvetica Neue Light" panose="02000403000000020004" pitchFamily="2" charset="0"/>
                <a:ea typeface="Helvetica Neue Light" panose="02000403000000020004" pitchFamily="2" charset="0"/>
              </a:rPr>
              <a:t>Request/response/headers</a:t>
            </a:r>
          </a:p>
          <a:p>
            <a:pPr marL="0" indent="0">
              <a:lnSpc>
                <a:spcPct val="150000"/>
              </a:lnSpc>
              <a:buNone/>
            </a:pPr>
            <a:r>
              <a:rPr lang="en-GB" dirty="0">
                <a:latin typeface="Helvetica Neue Light" panose="02000403000000020004" pitchFamily="2" charset="0"/>
                <a:ea typeface="Helvetica Neue Light" panose="02000403000000020004" pitchFamily="2" charset="0"/>
              </a:rPr>
              <a:t>Status codes</a:t>
            </a:r>
          </a:p>
          <a:p>
            <a:pPr marL="0" indent="0">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647592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4464B4FD-8E4E-8543-AB43-EAE7625E4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75937"/>
            <a:ext cx="12192000" cy="4459287"/>
          </a:xfrm>
          <a:prstGeom prst="rect">
            <a:avLst/>
          </a:prstGeom>
          <a:noFill/>
          <a:extLst>
            <a:ext uri="{909E8E84-426E-40DD-AFC4-6F175D3DCCD1}">
              <a14:hiddenFill xmlns:a14="http://schemas.microsoft.com/office/drawing/2010/main">
                <a:solidFill>
                  <a:srgbClr val="FFFFFF"/>
                </a:solidFill>
              </a14:hiddenFill>
            </a:ext>
          </a:extLst>
        </p:spPr>
      </p:pic>
      <p:sp>
        <p:nvSpPr>
          <p:cNvPr id="13" name="Rounded Rectangular Callout 12">
            <a:extLst>
              <a:ext uri="{FF2B5EF4-FFF2-40B4-BE49-F238E27FC236}">
                <a16:creationId xmlns:a16="http://schemas.microsoft.com/office/drawing/2014/main" id="{C57738B9-D859-0A4D-A8EF-C1FCD38B66F7}"/>
              </a:ext>
            </a:extLst>
          </p:cNvPr>
          <p:cNvSpPr/>
          <p:nvPr/>
        </p:nvSpPr>
        <p:spPr>
          <a:xfrm>
            <a:off x="738027" y="322776"/>
            <a:ext cx="10715946" cy="722619"/>
          </a:xfrm>
          <a:prstGeom prst="wedgeRoundRectCallout">
            <a:avLst>
              <a:gd name="adj1" fmla="val -44128"/>
              <a:gd name="adj2" fmla="val 3131"/>
              <a:gd name="adj3" fmla="val 16667"/>
            </a:avLst>
          </a:prstGeom>
          <a:effectLst>
            <a:outerShdw blurRad="152400" dir="18900000" sy="23000" kx="-1200000" algn="bl" rotWithShape="0">
              <a:prstClr val="black">
                <a:alpha val="20000"/>
              </a:prstClr>
            </a:out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US" sz="3200" dirty="0">
                <a:latin typeface="Helvetica Neue Light" panose="02000403000000020004" pitchFamily="2" charset="0"/>
                <a:ea typeface="Helvetica Neue Light" panose="02000403000000020004" pitchFamily="2" charset="0"/>
              </a:rPr>
              <a:t>Remember this horror of a slide from week 1 ?</a:t>
            </a:r>
          </a:p>
        </p:txBody>
      </p:sp>
    </p:spTree>
    <p:extLst>
      <p:ext uri="{BB962C8B-B14F-4D97-AF65-F5344CB8AC3E}">
        <p14:creationId xmlns:p14="http://schemas.microsoft.com/office/powerpoint/2010/main" val="843769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88322"/>
          </a:xfrm>
        </p:spPr>
        <p:txBody>
          <a:bodyPr>
            <a:normAutofit/>
          </a:body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 </a:t>
            </a:r>
            <a:r>
              <a:rPr lang="en-US" sz="4000" b="1"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brief </a:t>
            </a:r>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overview of the current situation</a:t>
            </a:r>
          </a:p>
        </p:txBody>
      </p:sp>
      <p:pic>
        <p:nvPicPr>
          <p:cNvPr id="2050" name="Picture 2" descr="jQuery - Logos Download">
            <a:extLst>
              <a:ext uri="{FF2B5EF4-FFF2-40B4-BE49-F238E27FC236}">
                <a16:creationId xmlns:a16="http://schemas.microsoft.com/office/drawing/2014/main" id="{F145B4BA-5769-AC41-B6EA-EC4298181D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219" y="1591612"/>
            <a:ext cx="2850874" cy="69768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2sxc &gt; Learn &gt; Simple AngularJS in DNN with 2sxc4ng">
            <a:extLst>
              <a:ext uri="{FF2B5EF4-FFF2-40B4-BE49-F238E27FC236}">
                <a16:creationId xmlns:a16="http://schemas.microsoft.com/office/drawing/2014/main" id="{29B8BDE3-4C80-E648-8A6B-7BE9D5FBFD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219" y="2826173"/>
            <a:ext cx="3441148" cy="89366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Using a Single onChange Handler for Multiple Inputs in ...">
            <a:extLst>
              <a:ext uri="{FF2B5EF4-FFF2-40B4-BE49-F238E27FC236}">
                <a16:creationId xmlns:a16="http://schemas.microsoft.com/office/drawing/2014/main" id="{32697E01-C3AF-0643-9FEB-D1B5A527A53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371" t="19107" r="4021" b="15254"/>
          <a:stretch/>
        </p:blipFill>
        <p:spPr bwMode="auto">
          <a:xfrm>
            <a:off x="377541" y="3862019"/>
            <a:ext cx="4451900" cy="1337109"/>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a:extLst>
              <a:ext uri="{FF2B5EF4-FFF2-40B4-BE49-F238E27FC236}">
                <a16:creationId xmlns:a16="http://schemas.microsoft.com/office/drawing/2014/main" id="{7E970E68-3A02-DF42-AE9F-80509DB5BD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5481892"/>
            <a:ext cx="2411896" cy="1033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400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jQuery started 2006. At the time, JavaScript was not as common and trendy as it is now. jQuery basically altered the fate of web user interfaces because it enabled developers to produce interactive experiences easily and painlessly. In other words, jQuery revolutionized the industry by shifting developers from creating primitive websites to developing web apps.</a:t>
            </a:r>
          </a:p>
        </p:txBody>
      </p:sp>
      <p:pic>
        <p:nvPicPr>
          <p:cNvPr id="7" name="Picture 2" descr="jQuery - Logos Download">
            <a:extLst>
              <a:ext uri="{FF2B5EF4-FFF2-40B4-BE49-F238E27FC236}">
                <a16:creationId xmlns:a16="http://schemas.microsoft.com/office/drawing/2014/main" id="{4FAF7603-1B02-E14E-AFA9-70FB975CF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51925"/>
            <a:ext cx="4597328" cy="1125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7844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jQuery - Logos Download">
            <a:extLst>
              <a:ext uri="{FF2B5EF4-FFF2-40B4-BE49-F238E27FC236}">
                <a16:creationId xmlns:a16="http://schemas.microsoft.com/office/drawing/2014/main" id="{4FAF7603-1B02-E14E-AFA9-70FB975CF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51925"/>
            <a:ext cx="4597328" cy="1125084"/>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4">
            <a:extLst>
              <a:ext uri="{FF2B5EF4-FFF2-40B4-BE49-F238E27FC236}">
                <a16:creationId xmlns:a16="http://schemas.microsoft.com/office/drawing/2014/main" id="{98112B1D-342E-B04B-8909-A498C00CF677}"/>
              </a:ext>
            </a:extLst>
          </p:cNvPr>
          <p:cNvSpPr>
            <a:spLocks noGrp="1"/>
          </p:cNvSpPr>
          <p:nvPr>
            <p:ph idx="1"/>
          </p:nvPr>
        </p:nvSpPr>
        <p:spPr>
          <a:xfrm>
            <a:off x="838200" y="1825625"/>
            <a:ext cx="10515600" cy="4351338"/>
          </a:xfrm>
        </p:spPr>
        <p:txBody>
          <a:bodyPr>
            <a:normAutofit/>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jQuery is a fast, small, and feature-rich JavaScript library. It makes things like HTML document traversal and manipulation, event handling, animation, and Ajax much simpler with an easy-to-use API that works across a multitude of browsers.</a:t>
            </a:r>
          </a:p>
          <a:p>
            <a:pPr marL="0" indent="0">
              <a:lnSpc>
                <a:spcPct val="150000"/>
              </a:lnSpc>
              <a:buNone/>
            </a:pPr>
            <a:r>
              <a:rPr lang="en-GB" dirty="0">
                <a:latin typeface="Helvetica Neue Light" panose="02000403000000020004" pitchFamily="2" charset="0"/>
                <a:ea typeface="Helvetica Neue Light" panose="02000403000000020004" pitchFamily="2" charset="0"/>
              </a:rPr>
              <a:t>Go to </a:t>
            </a:r>
            <a:r>
              <a:rPr lang="en-US" dirty="0">
                <a:latin typeface="Helvetica Neue Light" panose="02000403000000020004" pitchFamily="2" charset="0"/>
                <a:ea typeface="Helvetica Neue Light" panose="02000403000000020004" pitchFamily="2" charset="0"/>
                <a:hlinkClick r:id="rId3"/>
              </a:rPr>
              <a:t>https://jquery.com/</a:t>
            </a:r>
            <a:r>
              <a:rPr lang="en-US" dirty="0">
                <a:latin typeface="Helvetica Neue Light" panose="02000403000000020004" pitchFamily="2" charset="0"/>
                <a:ea typeface="Helvetica Neue Light" panose="02000403000000020004" pitchFamily="2" charset="0"/>
              </a:rPr>
              <a:t> use the CDN to plug the library in.</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629816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328A0C3-1BD7-5D47-9A4E-5F7081059CF6}"/>
              </a:ext>
            </a:extLst>
          </p:cNvPr>
          <p:cNvSpPr/>
          <p:nvPr/>
        </p:nvSpPr>
        <p:spPr>
          <a:xfrm>
            <a:off x="10848814" y="0"/>
            <a:ext cx="1751308" cy="7253207"/>
          </a:xfrm>
          <a:prstGeom prst="rect">
            <a:avLst/>
          </a:prstGeom>
          <a:solidFill>
            <a:srgbClr val="26282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2" descr="jQuery - Logos Download">
            <a:extLst>
              <a:ext uri="{FF2B5EF4-FFF2-40B4-BE49-F238E27FC236}">
                <a16:creationId xmlns:a16="http://schemas.microsoft.com/office/drawing/2014/main" id="{4FAF7603-1B02-E14E-AFA9-70FB975CF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51925"/>
            <a:ext cx="4597328" cy="112508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F0946B8-FF9A-6948-92FA-4F0BDD1BF051}"/>
              </a:ext>
            </a:extLst>
          </p:cNvPr>
          <p:cNvSpPr txBox="1"/>
          <p:nvPr/>
        </p:nvSpPr>
        <p:spPr>
          <a:xfrm>
            <a:off x="7001360" y="1116542"/>
            <a:ext cx="4203915" cy="584775"/>
          </a:xfrm>
          <a:prstGeom prst="rect">
            <a:avLst/>
          </a:prstGeom>
          <a:noFill/>
        </p:spPr>
        <p:txBody>
          <a:bodyPr wrap="square">
            <a:spAutoFit/>
          </a:bodyPr>
          <a:lstStyle/>
          <a:p>
            <a:r>
              <a:rPr lang="en-US" sz="3200" dirty="0">
                <a:latin typeface="Georgia" panose="02040502050405020303" pitchFamily="18" charset="0"/>
                <a:hlinkClick r:id="rId3"/>
              </a:rPr>
              <a:t>https://jquery.com/</a:t>
            </a:r>
            <a:endParaRPr lang="en-US" sz="3200" dirty="0">
              <a:latin typeface="Georgia" panose="02040502050405020303" pitchFamily="18" charset="0"/>
            </a:endParaRPr>
          </a:p>
        </p:txBody>
      </p:sp>
      <p:pic>
        <p:nvPicPr>
          <p:cNvPr id="8" name="Picture 7">
            <a:extLst>
              <a:ext uri="{FF2B5EF4-FFF2-40B4-BE49-F238E27FC236}">
                <a16:creationId xmlns:a16="http://schemas.microsoft.com/office/drawing/2014/main" id="{644C80DA-93E3-7D4A-9A34-118B65950DCA}"/>
              </a:ext>
            </a:extLst>
          </p:cNvPr>
          <p:cNvPicPr>
            <a:picLocks noChangeAspect="1"/>
          </p:cNvPicPr>
          <p:nvPr/>
        </p:nvPicPr>
        <p:blipFill>
          <a:blip r:embed="rId4"/>
          <a:stretch>
            <a:fillRect/>
          </a:stretch>
        </p:blipFill>
        <p:spPr>
          <a:xfrm>
            <a:off x="-151211" y="-13990"/>
            <a:ext cx="11173477" cy="6885980"/>
          </a:xfrm>
          <a:prstGeom prst="rect">
            <a:avLst/>
          </a:prstGeom>
        </p:spPr>
      </p:pic>
      <p:sp>
        <p:nvSpPr>
          <p:cNvPr id="9" name="TextBox 8">
            <a:extLst>
              <a:ext uri="{FF2B5EF4-FFF2-40B4-BE49-F238E27FC236}">
                <a16:creationId xmlns:a16="http://schemas.microsoft.com/office/drawing/2014/main" id="{E1F3A4CE-6543-FC49-BDE2-B2777CD90AD2}"/>
              </a:ext>
            </a:extLst>
          </p:cNvPr>
          <p:cNvSpPr txBox="1"/>
          <p:nvPr/>
        </p:nvSpPr>
        <p:spPr>
          <a:xfrm>
            <a:off x="8179232" y="6178598"/>
            <a:ext cx="4802537" cy="461665"/>
          </a:xfrm>
          <a:prstGeom prst="rect">
            <a:avLst/>
          </a:prstGeom>
          <a:noFill/>
        </p:spPr>
        <p:txBody>
          <a:bodyPr wrap="square">
            <a:spAutoFit/>
          </a:bodyPr>
          <a:lstStyle/>
          <a:p>
            <a:r>
              <a:rPr lang="en-US" sz="2400" dirty="0" err="1">
                <a:solidFill>
                  <a:schemeClr val="bg1"/>
                </a:solidFill>
              </a:rPr>
              <a:t>code_examples</a:t>
            </a:r>
            <a:r>
              <a:rPr lang="en-US" sz="2400" dirty="0">
                <a:solidFill>
                  <a:schemeClr val="bg1"/>
                </a:solidFill>
              </a:rPr>
              <a:t>/</a:t>
            </a:r>
            <a:r>
              <a:rPr lang="en-US" sz="2400" dirty="0" err="1">
                <a:solidFill>
                  <a:schemeClr val="bg1"/>
                </a:solidFill>
              </a:rPr>
              <a:t>JQuery.html</a:t>
            </a:r>
            <a:endParaRPr lang="en-US" sz="2400" dirty="0">
              <a:solidFill>
                <a:schemeClr val="bg1"/>
              </a:solidFill>
            </a:endParaRPr>
          </a:p>
        </p:txBody>
      </p:sp>
    </p:spTree>
    <p:extLst>
      <p:ext uri="{BB962C8B-B14F-4D97-AF65-F5344CB8AC3E}">
        <p14:creationId xmlns:p14="http://schemas.microsoft.com/office/powerpoint/2010/main" val="1836442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jQuery - Logos Download">
            <a:extLst>
              <a:ext uri="{FF2B5EF4-FFF2-40B4-BE49-F238E27FC236}">
                <a16:creationId xmlns:a16="http://schemas.microsoft.com/office/drawing/2014/main" id="{4FAF7603-1B02-E14E-AFA9-70FB975CF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74433"/>
            <a:ext cx="4597328" cy="1125084"/>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4">
            <a:extLst>
              <a:ext uri="{FF2B5EF4-FFF2-40B4-BE49-F238E27FC236}">
                <a16:creationId xmlns:a16="http://schemas.microsoft.com/office/drawing/2014/main" id="{98112B1D-342E-B04B-8909-A498C00CF677}"/>
              </a:ext>
            </a:extLst>
          </p:cNvPr>
          <p:cNvSpPr>
            <a:spLocks noGrp="1"/>
          </p:cNvSpPr>
          <p:nvPr>
            <p:ph idx="1"/>
          </p:nvPr>
        </p:nvSpPr>
        <p:spPr>
          <a:xfrm>
            <a:off x="729712" y="2042601"/>
            <a:ext cx="10515600" cy="2436409"/>
          </a:xfrm>
        </p:spPr>
        <p:txBody>
          <a:bodyPr>
            <a:normAutofit/>
          </a:bodyPr>
          <a:lstStyle/>
          <a:p>
            <a:pPr marL="0" indent="0">
              <a:lnSpc>
                <a:spcPct val="150000"/>
              </a:lnSpc>
              <a:buNone/>
            </a:pPr>
            <a:r>
              <a:rPr lang="en-GB" sz="4800" dirty="0">
                <a:latin typeface="American Typewriter" panose="02090604020004020304" pitchFamily="18" charset="77"/>
                <a:ea typeface="Helvetica Neue Light" panose="02000403000000020004" pitchFamily="2" charset="0"/>
              </a:rPr>
              <a:t>One of jQuery’s biggest strengths was the simplification of AJAX</a:t>
            </a:r>
          </a:p>
        </p:txBody>
      </p:sp>
      <p:pic>
        <p:nvPicPr>
          <p:cNvPr id="7170" name="Picture 2" descr="Ajax Security Issues">
            <a:extLst>
              <a:ext uri="{FF2B5EF4-FFF2-40B4-BE49-F238E27FC236}">
                <a16:creationId xmlns:a16="http://schemas.microsoft.com/office/drawing/2014/main" id="{5B0F7F4C-8D63-C740-91CA-4A650A8DC9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010"/>
          <a:stretch/>
        </p:blipFill>
        <p:spPr bwMode="auto">
          <a:xfrm>
            <a:off x="404893" y="4421591"/>
            <a:ext cx="4725046" cy="2436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7265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AJAX</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940512" cy="4638999"/>
          </a:xfrm>
        </p:spPr>
        <p:txBody>
          <a:bodyPr>
            <a:noAutofit/>
          </a:bodyPr>
          <a:lstStyle/>
          <a:p>
            <a:pPr>
              <a:lnSpc>
                <a:spcPct val="150000"/>
              </a:lnSpc>
            </a:pPr>
            <a:r>
              <a:rPr lang="en-GB" sz="2200" dirty="0">
                <a:latin typeface="Helvetica Neue Light" panose="02000403000000020004" pitchFamily="2" charset="0"/>
                <a:ea typeface="Helvetica Neue Light" panose="02000403000000020004" pitchFamily="2" charset="0"/>
              </a:rPr>
              <a:t>Ajax (Asynchronous JavaScript and XML)</a:t>
            </a:r>
            <a:r>
              <a:rPr lang="en-GB" sz="2200" baseline="30000" dirty="0">
                <a:latin typeface="Helvetica Neue Light" panose="02000403000000020004" pitchFamily="2" charset="0"/>
                <a:ea typeface="Helvetica Neue Light" panose="02000403000000020004" pitchFamily="2" charset="0"/>
              </a:rPr>
              <a:t> </a:t>
            </a:r>
            <a:r>
              <a:rPr lang="en-GB" sz="2200" dirty="0">
                <a:latin typeface="Helvetica Neue Light" panose="02000403000000020004" pitchFamily="2" charset="0"/>
                <a:ea typeface="Helvetica Neue Light" panose="02000403000000020004" pitchFamily="2" charset="0"/>
              </a:rPr>
              <a:t>is a set of web development techniques that uses various web technologies on the </a:t>
            </a:r>
            <a:r>
              <a:rPr lang="en-GB" sz="2200" b="1" dirty="0">
                <a:latin typeface="Helvetica Neue Light" panose="02000403000000020004" pitchFamily="2" charset="0"/>
                <a:ea typeface="Helvetica Neue Light" panose="02000403000000020004" pitchFamily="2" charset="0"/>
              </a:rPr>
              <a:t>client-side</a:t>
            </a:r>
            <a:r>
              <a:rPr lang="en-GB" sz="2200" dirty="0">
                <a:latin typeface="Helvetica Neue Light" panose="02000403000000020004" pitchFamily="2" charset="0"/>
                <a:ea typeface="Helvetica Neue Light" panose="02000403000000020004" pitchFamily="2" charset="0"/>
              </a:rPr>
              <a:t> to create </a:t>
            </a:r>
            <a:r>
              <a:rPr lang="en-GB" sz="2200" b="1" dirty="0">
                <a:latin typeface="Helvetica Neue Light" panose="02000403000000020004" pitchFamily="2" charset="0"/>
                <a:ea typeface="Helvetica Neue Light" panose="02000403000000020004" pitchFamily="2" charset="0"/>
                <a:hlinkClick r:id="rId2"/>
              </a:rPr>
              <a:t>asynchronous</a:t>
            </a:r>
            <a:r>
              <a:rPr lang="en-GB" sz="2200" dirty="0">
                <a:latin typeface="Helvetica Neue Light" panose="02000403000000020004" pitchFamily="2" charset="0"/>
                <a:ea typeface="Helvetica Neue Light" panose="02000403000000020004" pitchFamily="2" charset="0"/>
              </a:rPr>
              <a:t> web applications. First appeared March 1999.</a:t>
            </a:r>
          </a:p>
          <a:p>
            <a:pPr>
              <a:lnSpc>
                <a:spcPct val="150000"/>
              </a:lnSpc>
            </a:pPr>
            <a:r>
              <a:rPr lang="en-GB" sz="2200" dirty="0">
                <a:latin typeface="Helvetica Neue Light" panose="02000403000000020004" pitchFamily="2" charset="0"/>
                <a:ea typeface="Helvetica Neue Light" panose="02000403000000020004" pitchFamily="2" charset="0"/>
              </a:rPr>
              <a:t>With Ajax, web applications can send and retrieve data from a server asynchronously (in the background) without interfering with the display and behaviour of the existing page.</a:t>
            </a:r>
          </a:p>
          <a:p>
            <a:pPr>
              <a:lnSpc>
                <a:spcPct val="150000"/>
              </a:lnSpc>
            </a:pPr>
            <a:r>
              <a:rPr lang="en-GB" sz="2200" dirty="0">
                <a:latin typeface="Helvetica Neue Light" panose="02000403000000020004" pitchFamily="2" charset="0"/>
                <a:ea typeface="Helvetica Neue Light" panose="02000403000000020004" pitchFamily="2" charset="0"/>
              </a:rPr>
              <a:t>Ajax allows web pages and web applications, to change content </a:t>
            </a:r>
            <a:r>
              <a:rPr lang="en-GB" sz="2200" b="1" dirty="0">
                <a:latin typeface="HELVETICA NEUE LIGHT" panose="02000403000000020004" pitchFamily="2" charset="0"/>
                <a:ea typeface="HELVETICA NEUE LIGHT" panose="02000403000000020004" pitchFamily="2" charset="0"/>
              </a:rPr>
              <a:t>dynamically</a:t>
            </a:r>
            <a:r>
              <a:rPr lang="en-GB" sz="2200" dirty="0">
                <a:latin typeface="Helvetica Neue Light" panose="02000403000000020004" pitchFamily="2" charset="0"/>
                <a:ea typeface="Helvetica Neue Light" panose="02000403000000020004" pitchFamily="2" charset="0"/>
              </a:rPr>
              <a:t> without the need to reload the entire page. In practice, modern implementations commonly utilize </a:t>
            </a:r>
            <a:r>
              <a:rPr lang="en-GB" sz="2200" b="1" dirty="0">
                <a:latin typeface="HELVETICA NEUE LIGHT" panose="02000403000000020004" pitchFamily="2" charset="0"/>
                <a:ea typeface="HELVETICA NEUE LIGHT" panose="02000403000000020004" pitchFamily="2" charset="0"/>
              </a:rPr>
              <a:t>JSON </a:t>
            </a:r>
            <a:r>
              <a:rPr lang="en-GB" sz="2200" dirty="0">
                <a:latin typeface="Helvetica Neue Light" panose="02000403000000020004" pitchFamily="2" charset="0"/>
                <a:ea typeface="Helvetica Neue Light" panose="02000403000000020004" pitchFamily="2" charset="0"/>
              </a:rPr>
              <a:t>instead of </a:t>
            </a:r>
            <a:r>
              <a:rPr lang="en-GB" sz="2200" b="1" dirty="0">
                <a:latin typeface="HELVETICA NEUE LIGHT" panose="02000403000000020004" pitchFamily="2" charset="0"/>
                <a:ea typeface="HELVETICA NEUE LIGHT" panose="02000403000000020004" pitchFamily="2" charset="0"/>
              </a:rPr>
              <a:t>XML.</a:t>
            </a:r>
          </a:p>
        </p:txBody>
      </p:sp>
    </p:spTree>
    <p:extLst>
      <p:ext uri="{BB962C8B-B14F-4D97-AF65-F5344CB8AC3E}">
        <p14:creationId xmlns:p14="http://schemas.microsoft.com/office/powerpoint/2010/main" val="3201799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20179"/>
            <a:ext cx="1051560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AJAX…</a:t>
            </a:r>
            <a:r>
              <a:rPr lang="en-US" sz="6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cont</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202110"/>
            <a:ext cx="10940512" cy="4297120"/>
          </a:xfrm>
        </p:spPr>
        <p:txBody>
          <a:bodyPr>
            <a:normAutofit/>
          </a:bodyPr>
          <a:lstStyle/>
          <a:p>
            <a:pPr marL="0" indent="0">
              <a:lnSpc>
                <a:spcPct val="150000"/>
              </a:lnSpc>
              <a:buNone/>
            </a:pPr>
            <a:r>
              <a:rPr lang="en-GB" sz="2200" dirty="0">
                <a:latin typeface="Helvetica Neue Light" panose="02000403000000020004" pitchFamily="2" charset="0"/>
                <a:ea typeface="Helvetica Neue Light" panose="02000403000000020004" pitchFamily="2" charset="0"/>
              </a:rPr>
              <a:t>AJAX is not a programming language.</a:t>
            </a:r>
          </a:p>
          <a:p>
            <a:pPr marL="0" indent="0">
              <a:lnSpc>
                <a:spcPct val="150000"/>
              </a:lnSpc>
              <a:buNone/>
            </a:pPr>
            <a:r>
              <a:rPr lang="en-GB" sz="2200" dirty="0">
                <a:latin typeface="Helvetica Neue Light" panose="02000403000000020004" pitchFamily="2" charset="0"/>
                <a:ea typeface="Helvetica Neue Light" panose="02000403000000020004" pitchFamily="2" charset="0"/>
              </a:rPr>
              <a:t>AJAX just uses a combination of: </a:t>
            </a:r>
          </a:p>
          <a:p>
            <a:pPr>
              <a:lnSpc>
                <a:spcPct val="150000"/>
              </a:lnSpc>
            </a:pPr>
            <a:r>
              <a:rPr lang="en-GB" sz="2200" dirty="0">
                <a:latin typeface="Helvetica Neue Light" panose="02000403000000020004" pitchFamily="2" charset="0"/>
                <a:ea typeface="Helvetica Neue Light" panose="02000403000000020004" pitchFamily="2" charset="0"/>
              </a:rPr>
              <a:t>A browser built-in </a:t>
            </a:r>
            <a:r>
              <a:rPr lang="en-GB" sz="2200" b="1" dirty="0" err="1">
                <a:latin typeface="Helvetica Neue Light" panose="02000403000000020004" pitchFamily="2" charset="0"/>
                <a:ea typeface="Helvetica Neue Light" panose="02000403000000020004" pitchFamily="2" charset="0"/>
              </a:rPr>
              <a:t>XMLHttpRequest</a:t>
            </a:r>
            <a:r>
              <a:rPr lang="en-GB" sz="2200" dirty="0">
                <a:latin typeface="Helvetica Neue Light" panose="02000403000000020004" pitchFamily="2" charset="0"/>
                <a:ea typeface="Helvetica Neue Light" panose="02000403000000020004" pitchFamily="2" charset="0"/>
              </a:rPr>
              <a:t> object (to request data from a web server).</a:t>
            </a:r>
          </a:p>
          <a:p>
            <a:pPr>
              <a:lnSpc>
                <a:spcPct val="150000"/>
              </a:lnSpc>
            </a:pPr>
            <a:r>
              <a:rPr lang="en-GB" sz="2200" dirty="0">
                <a:latin typeface="Helvetica Neue Light" panose="02000403000000020004" pitchFamily="2" charset="0"/>
                <a:ea typeface="Helvetica Neue Light" panose="02000403000000020004" pitchFamily="2" charset="0"/>
              </a:rPr>
              <a:t>JavaScript and </a:t>
            </a:r>
            <a:r>
              <a:rPr lang="en-GB" sz="2200" b="1" dirty="0">
                <a:latin typeface="Helvetica Neue Light" panose="02000403000000020004" pitchFamily="2" charset="0"/>
                <a:ea typeface="Helvetica Neue Light" panose="02000403000000020004" pitchFamily="2" charset="0"/>
              </a:rPr>
              <a:t>HTML DOM </a:t>
            </a:r>
            <a:r>
              <a:rPr lang="en-GB" sz="2200" dirty="0">
                <a:latin typeface="Helvetica Neue Light" panose="02000403000000020004" pitchFamily="2" charset="0"/>
                <a:ea typeface="Helvetica Neue Light" panose="02000403000000020004" pitchFamily="2" charset="0"/>
              </a:rPr>
              <a:t>(to display or use the data).</a:t>
            </a:r>
          </a:p>
          <a:p>
            <a:pPr>
              <a:lnSpc>
                <a:spcPct val="150000"/>
              </a:lnSpc>
            </a:pPr>
            <a:r>
              <a:rPr lang="en-GB" sz="2200" dirty="0">
                <a:latin typeface="Helvetica Neue Light" panose="02000403000000020004" pitchFamily="2" charset="0"/>
                <a:ea typeface="Helvetica Neue Light" panose="02000403000000020004" pitchFamily="2" charset="0"/>
              </a:rPr>
              <a:t>Remember last term all our PHP interactivity involved page reloads using Location headers or reloading the current page.</a:t>
            </a:r>
          </a:p>
        </p:txBody>
      </p:sp>
      <p:sp>
        <p:nvSpPr>
          <p:cNvPr id="6" name="TextBox 5">
            <a:extLst>
              <a:ext uri="{FF2B5EF4-FFF2-40B4-BE49-F238E27FC236}">
                <a16:creationId xmlns:a16="http://schemas.microsoft.com/office/drawing/2014/main" id="{5F6AD85A-D72C-4540-BD40-9A6E9F1FE895}"/>
              </a:ext>
            </a:extLst>
          </p:cNvPr>
          <p:cNvSpPr txBox="1"/>
          <p:nvPr/>
        </p:nvSpPr>
        <p:spPr>
          <a:xfrm>
            <a:off x="803106" y="6254207"/>
            <a:ext cx="9829799" cy="453907"/>
          </a:xfrm>
          <a:prstGeom prst="rect">
            <a:avLst/>
          </a:prstGeom>
          <a:noFill/>
        </p:spPr>
        <p:txBody>
          <a:bodyPr wrap="square">
            <a:spAutoFit/>
          </a:bodyPr>
          <a:lstStyle/>
          <a:p>
            <a:pPr marL="0" indent="0">
              <a:lnSpc>
                <a:spcPct val="150000"/>
              </a:lnSpc>
              <a:buNone/>
            </a:pPr>
            <a:r>
              <a:rPr lang="en-GB" dirty="0">
                <a:latin typeface="Helvetica Neue Light" panose="02000403000000020004" pitchFamily="2" charset="0"/>
                <a:ea typeface="Helvetica Neue Light" panose="02000403000000020004" pitchFamily="2" charset="0"/>
                <a:hlinkClick r:id="rId2"/>
              </a:rPr>
              <a:t>https://www.w3schools.com/js/js_ajax_intro.asp</a:t>
            </a:r>
            <a:endParaRPr lang="en-GB" dirty="0">
              <a:latin typeface="Helvetica Neue Light" panose="02000403000000020004" pitchFamily="2" charset="0"/>
              <a:ea typeface="Helvetica Neue Light" panose="02000403000000020004" pitchFamily="2" charset="0"/>
            </a:endParaRPr>
          </a:p>
        </p:txBody>
      </p:sp>
      <p:sp>
        <p:nvSpPr>
          <p:cNvPr id="7" name="TextBox 6">
            <a:extLst>
              <a:ext uri="{FF2B5EF4-FFF2-40B4-BE49-F238E27FC236}">
                <a16:creationId xmlns:a16="http://schemas.microsoft.com/office/drawing/2014/main" id="{7E665CD5-8250-ED48-B299-A25202C7CBCC}"/>
              </a:ext>
            </a:extLst>
          </p:cNvPr>
          <p:cNvSpPr txBox="1"/>
          <p:nvPr/>
        </p:nvSpPr>
        <p:spPr>
          <a:xfrm>
            <a:off x="803106" y="5338553"/>
            <a:ext cx="7285892" cy="1015663"/>
          </a:xfrm>
          <a:prstGeom prst="rect">
            <a:avLst/>
          </a:prstGeom>
          <a:noFill/>
        </p:spPr>
        <p:txBody>
          <a:bodyPr wrap="square">
            <a:spAutoFit/>
          </a:bodyPr>
          <a:lstStyle/>
          <a:p>
            <a:r>
              <a:rPr lang="en-US" dirty="0">
                <a:ea typeface="Helvetica Neue Light" panose="02000403000000020004" pitchFamily="2" charset="0"/>
                <a:hlinkClick r:id="rId3"/>
              </a:rPr>
              <a:t>http://localhost:8000/uni/code_examples/ajax1.html</a:t>
            </a:r>
            <a:endParaRPr lang="en-US" dirty="0">
              <a:ea typeface="Helvetica Neue Light" panose="02000403000000020004" pitchFamily="2" charset="0"/>
            </a:endParaRPr>
          </a:p>
          <a:p>
            <a:endParaRPr lang="en-US" dirty="0">
              <a:ea typeface="Helvetica Neue Light" panose="02000403000000020004" pitchFamily="2" charset="0"/>
            </a:endParaRPr>
          </a:p>
          <a:p>
            <a:endParaRPr lang="en-US" sz="2400" dirty="0">
              <a:latin typeface="Helvetica Neue Light" panose="02000403000000020004" pitchFamily="2" charset="0"/>
              <a:ea typeface="Helvetica Neue Light" panose="02000403000000020004" pitchFamily="2" charset="0"/>
            </a:endParaRPr>
          </a:p>
        </p:txBody>
      </p:sp>
      <p:pic>
        <p:nvPicPr>
          <p:cNvPr id="9218" name="Picture 2" descr="Picking a Good Example - Inductive Bible StudyInductive ...">
            <a:extLst>
              <a:ext uri="{FF2B5EF4-FFF2-40B4-BE49-F238E27FC236}">
                <a16:creationId xmlns:a16="http://schemas.microsoft.com/office/drawing/2014/main" id="{90FEEB49-A373-3F41-9CAA-7E92E6AD7C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0825" y="5407879"/>
            <a:ext cx="1375766" cy="10797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4348FAD-5FC7-E15D-3B51-623A010FB3ED}"/>
              </a:ext>
            </a:extLst>
          </p:cNvPr>
          <p:cNvSpPr txBox="1"/>
          <p:nvPr/>
        </p:nvSpPr>
        <p:spPr>
          <a:xfrm>
            <a:off x="838200" y="5793847"/>
            <a:ext cx="8083137" cy="307777"/>
          </a:xfrm>
          <a:prstGeom prst="rect">
            <a:avLst/>
          </a:prstGeom>
          <a:noFill/>
        </p:spPr>
        <p:txBody>
          <a:bodyPr wrap="square">
            <a:spAutoFit/>
          </a:bodyPr>
          <a:lstStyle/>
          <a:p>
            <a:r>
              <a:rPr lang="en-GB" sz="1400" dirty="0">
                <a:solidFill>
                  <a:srgbClr val="000000"/>
                </a:solidFill>
                <a:effectLst/>
                <a:latin typeface="Monaco" pitchFamily="2" charset="77"/>
                <a:ea typeface="Calibri" panose="020F0502020204030204" pitchFamily="34" charset="0"/>
                <a:cs typeface="Monaco" pitchFamily="2" charset="77"/>
              </a:rPr>
              <a:t>Run server from terminal - python3 -m </a:t>
            </a:r>
            <a:r>
              <a:rPr lang="en-GB" sz="1400" dirty="0" err="1">
                <a:solidFill>
                  <a:srgbClr val="000000"/>
                </a:solidFill>
                <a:effectLst/>
                <a:latin typeface="Monaco" pitchFamily="2" charset="77"/>
                <a:ea typeface="Calibri" panose="020F0502020204030204" pitchFamily="34" charset="0"/>
                <a:cs typeface="Monaco" pitchFamily="2" charset="77"/>
              </a:rPr>
              <a:t>http.server</a:t>
            </a:r>
            <a:r>
              <a:rPr lang="en-GB" sz="1400" dirty="0">
                <a:solidFill>
                  <a:srgbClr val="000000"/>
                </a:solidFill>
                <a:effectLst/>
                <a:latin typeface="Monaco" pitchFamily="2" charset="77"/>
                <a:ea typeface="Calibri" panose="020F0502020204030204" pitchFamily="34" charset="0"/>
                <a:cs typeface="Monaco" pitchFamily="2" charset="77"/>
              </a:rPr>
              <a:t> 8000</a:t>
            </a:r>
            <a:endParaRPr lang="en-GB"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DB8D91F7-640D-C75F-88D6-8F2F36365D10}"/>
              </a:ext>
            </a:extLst>
          </p:cNvPr>
          <p:cNvSpPr txBox="1"/>
          <p:nvPr/>
        </p:nvSpPr>
        <p:spPr>
          <a:xfrm>
            <a:off x="838200" y="4825004"/>
            <a:ext cx="6096000" cy="369332"/>
          </a:xfrm>
          <a:prstGeom prst="rect">
            <a:avLst/>
          </a:prstGeom>
          <a:noFill/>
        </p:spPr>
        <p:txBody>
          <a:bodyPr wrap="square">
            <a:spAutoFit/>
          </a:bodyPr>
          <a:lstStyle/>
          <a:p>
            <a:r>
              <a:rPr lang="en-US" dirty="0">
                <a:hlinkClick r:id="rId5"/>
              </a:rPr>
              <a:t>http://localhost/COMP1841/week6-03/index.php</a:t>
            </a:r>
            <a:endParaRPr lang="en-US" dirty="0"/>
          </a:p>
        </p:txBody>
      </p:sp>
    </p:spTree>
    <p:extLst>
      <p:ext uri="{BB962C8B-B14F-4D97-AF65-F5344CB8AC3E}">
        <p14:creationId xmlns:p14="http://schemas.microsoft.com/office/powerpoint/2010/main" val="2498342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jQuery  -&gt; AJAX</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535705"/>
            <a:ext cx="10940512" cy="5144064"/>
          </a:xfrm>
        </p:spPr>
        <p:txBody>
          <a:bodyPr>
            <a:noAutofit/>
          </a:bodyPr>
          <a:lstStyle/>
          <a:p>
            <a:pPr>
              <a:lnSpc>
                <a:spcPct val="160000"/>
              </a:lnSpc>
            </a:pPr>
            <a:r>
              <a:rPr lang="en-GB" sz="2200" dirty="0">
                <a:latin typeface="Helvetica Neue Light" panose="02000403000000020004" pitchFamily="2" charset="0"/>
                <a:ea typeface="Helvetica Neue Light" panose="02000403000000020004" pitchFamily="2" charset="0"/>
              </a:rPr>
              <a:t>The whole point of jQuery is to simplify and standardise the use of JavaScript.</a:t>
            </a:r>
          </a:p>
          <a:p>
            <a:pPr>
              <a:lnSpc>
                <a:spcPct val="150000"/>
              </a:lnSpc>
            </a:pPr>
            <a:r>
              <a:rPr lang="en-GB" sz="2200" dirty="0">
                <a:latin typeface="Helvetica Neue Light" panose="02000403000000020004" pitchFamily="2" charset="0"/>
                <a:ea typeface="Helvetica Neue Light" panose="02000403000000020004" pitchFamily="2" charset="0"/>
              </a:rPr>
              <a:t>jQuery provides several methods for AJAX functionality.</a:t>
            </a:r>
          </a:p>
          <a:p>
            <a:pPr>
              <a:lnSpc>
                <a:spcPct val="150000"/>
              </a:lnSpc>
            </a:pPr>
            <a:r>
              <a:rPr lang="en-GB" sz="2200" dirty="0">
                <a:latin typeface="Helvetica Neue Light" panose="02000403000000020004" pitchFamily="2" charset="0"/>
                <a:ea typeface="Helvetica Neue Light" panose="02000403000000020004" pitchFamily="2" charset="0"/>
              </a:rPr>
              <a:t>With the jQuery AJAX methods, you can request text, HTML, XML, or JSON from a remote server using both HTTP Get and HTTP Post and load the external data directly into the selected HTML elements of a web page.</a:t>
            </a:r>
          </a:p>
          <a:p>
            <a:pPr>
              <a:lnSpc>
                <a:spcPct val="150000"/>
              </a:lnSpc>
            </a:pPr>
            <a:r>
              <a:rPr lang="en-GB" sz="2200" dirty="0">
                <a:latin typeface="Helvetica Neue Light" panose="02000403000000020004" pitchFamily="2" charset="0"/>
                <a:ea typeface="Helvetica Neue Light" panose="02000403000000020004" pitchFamily="2" charset="0"/>
              </a:rPr>
              <a:t>Writing regular AJAX code can be a bit tricky, because different browsers have different syntax for AJAX implementation. However, jQuery has taken care of this for us, so that we can write AJAX functionality with only one single line of code.</a:t>
            </a:r>
          </a:p>
          <a:p>
            <a:pPr>
              <a:lnSpc>
                <a:spcPct val="150000"/>
              </a:lnSpc>
            </a:pPr>
            <a:r>
              <a:rPr lang="en-GB" sz="2200" dirty="0">
                <a:latin typeface="Helvetica Neue Light" panose="02000403000000020004" pitchFamily="2" charset="0"/>
                <a:ea typeface="Helvetica Neue Light" panose="02000403000000020004" pitchFamily="2" charset="0"/>
                <a:hlinkClick r:id="rId2"/>
              </a:rPr>
              <a:t>http://localhost:8000/uni/code_examples/Jajax.html</a:t>
            </a:r>
            <a:endParaRPr lang="en-GB" sz="2200" dirty="0">
              <a:latin typeface="Helvetica Neue Light" panose="02000403000000020004" pitchFamily="2" charset="0"/>
              <a:ea typeface="Helvetica Neue Light" panose="02000403000000020004" pitchFamily="2" charset="0"/>
            </a:endParaRPr>
          </a:p>
          <a:p>
            <a:pPr>
              <a:lnSpc>
                <a:spcPct val="150000"/>
              </a:lnSpc>
            </a:pPr>
            <a:endParaRPr lang="en-GB" sz="2200" dirty="0">
              <a:latin typeface="Helvetica Neue Light" panose="02000403000000020004" pitchFamily="2" charset="0"/>
              <a:ea typeface="Helvetica Neue Light" panose="02000403000000020004" pitchFamily="2" charset="0"/>
            </a:endParaRPr>
          </a:p>
        </p:txBody>
      </p:sp>
      <p:pic>
        <p:nvPicPr>
          <p:cNvPr id="6" name="Picture 2" descr="Picking a Good Example - Inductive Bible StudyInductive ...">
            <a:extLst>
              <a:ext uri="{FF2B5EF4-FFF2-40B4-BE49-F238E27FC236}">
                <a16:creationId xmlns:a16="http://schemas.microsoft.com/office/drawing/2014/main" id="{9A59CC17-40A6-144A-995C-1D3A7A4A6C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35327" y="5600054"/>
            <a:ext cx="1375766" cy="1079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622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6000" dirty="0">
                <a:solidFill>
                  <a:srgbClr val="D3473F"/>
                </a:solidFill>
                <a:latin typeface="American Typewriter" panose="02090604020004020304" pitchFamily="18" charset="77"/>
              </a:rPr>
              <a:t>JavaScript Fetch API</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825625"/>
            <a:ext cx="10515600" cy="2498402"/>
          </a:xfrm>
        </p:spPr>
        <p:txBody>
          <a:bodyPr>
            <a:normAutofit/>
          </a:bodyPr>
          <a:lstStyle/>
          <a:p>
            <a:pPr marL="0" indent="0">
              <a:lnSpc>
                <a:spcPct val="150000"/>
              </a:lnSpc>
              <a:buNone/>
            </a:pPr>
            <a:r>
              <a:rPr lang="en-GB" sz="3200" dirty="0">
                <a:latin typeface="Helvetica Neue Light" panose="02000403000000020004" pitchFamily="2" charset="0"/>
                <a:ea typeface="Helvetica Neue Light" panose="02000403000000020004" pitchFamily="2" charset="0"/>
              </a:rPr>
              <a:t>The Fetch API interface allows web browser to make HTTP requests to web servers.</a:t>
            </a:r>
          </a:p>
          <a:p>
            <a:pPr marL="0" indent="0">
              <a:lnSpc>
                <a:spcPct val="150000"/>
              </a:lnSpc>
              <a:buNone/>
            </a:pPr>
            <a:r>
              <a:rPr lang="en-GB" sz="3200" dirty="0">
                <a:latin typeface="Helvetica Neue Light" panose="02000403000000020004" pitchFamily="2" charset="0"/>
                <a:ea typeface="Helvetica Neue Light" panose="02000403000000020004" pitchFamily="2" charset="0"/>
              </a:rPr>
              <a:t>No need for </a:t>
            </a:r>
            <a:r>
              <a:rPr lang="en-GB" sz="3200" dirty="0" err="1">
                <a:latin typeface="Helvetica Neue Light" panose="02000403000000020004" pitchFamily="2" charset="0"/>
                <a:ea typeface="Helvetica Neue Light" panose="02000403000000020004" pitchFamily="2" charset="0"/>
              </a:rPr>
              <a:t>XMLHttpRequest</a:t>
            </a:r>
            <a:r>
              <a:rPr lang="en-GB" sz="3200" dirty="0">
                <a:latin typeface="Helvetica Neue Light" panose="02000403000000020004" pitchFamily="2" charset="0"/>
                <a:ea typeface="Helvetica Neue Light" panose="02000403000000020004" pitchFamily="2" charset="0"/>
              </a:rPr>
              <a:t> anymore.</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
        <p:nvSpPr>
          <p:cNvPr id="2" name="Rectangle 1">
            <a:extLst>
              <a:ext uri="{FF2B5EF4-FFF2-40B4-BE49-F238E27FC236}">
                <a16:creationId xmlns:a16="http://schemas.microsoft.com/office/drawing/2014/main" id="{F5FE3EE7-5E51-4745-8EDC-6E4733203B76}"/>
              </a:ext>
            </a:extLst>
          </p:cNvPr>
          <p:cNvSpPr/>
          <p:nvPr/>
        </p:nvSpPr>
        <p:spPr>
          <a:xfrm>
            <a:off x="838200" y="5913806"/>
            <a:ext cx="8708756" cy="579069"/>
          </a:xfrm>
          <a:prstGeom prst="rect">
            <a:avLst/>
          </a:prstGeom>
        </p:spPr>
        <p:txBody>
          <a:bodyPr wrap="square">
            <a:spAutoFit/>
          </a:bodyPr>
          <a:lstStyle/>
          <a:p>
            <a:pPr>
              <a:lnSpc>
                <a:spcPct val="150000"/>
              </a:lnSpc>
            </a:pPr>
            <a:r>
              <a:rPr lang="en-GB" sz="24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hlinkClick r:id="rId2"/>
              </a:rPr>
              <a:t>https://www.w3schools.com/js/js_api_fetch.asp</a:t>
            </a:r>
            <a:endParaRPr lang="en-GB" sz="24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endParaRPr>
          </a:p>
        </p:txBody>
      </p:sp>
      <p:sp>
        <p:nvSpPr>
          <p:cNvPr id="10" name="TextBox 9">
            <a:extLst>
              <a:ext uri="{FF2B5EF4-FFF2-40B4-BE49-F238E27FC236}">
                <a16:creationId xmlns:a16="http://schemas.microsoft.com/office/drawing/2014/main" id="{EA1792EB-D775-BC4B-B457-9298FA70BF57}"/>
              </a:ext>
            </a:extLst>
          </p:cNvPr>
          <p:cNvSpPr txBox="1"/>
          <p:nvPr/>
        </p:nvSpPr>
        <p:spPr>
          <a:xfrm>
            <a:off x="838200" y="5026685"/>
            <a:ext cx="7685868" cy="769441"/>
          </a:xfrm>
          <a:prstGeom prst="rect">
            <a:avLst/>
          </a:prstGeom>
          <a:noFill/>
        </p:spPr>
        <p:txBody>
          <a:bodyPr wrap="square">
            <a:spAutoFit/>
          </a:bodyPr>
          <a:lstStyle/>
          <a:p>
            <a:r>
              <a:rPr lang="en-US" sz="2400" dirty="0">
                <a:solidFill>
                  <a:schemeClr val="accent5">
                    <a:lumMod val="75000"/>
                  </a:schemeClr>
                </a:solidFill>
                <a:latin typeface="Georgia" panose="02040502050405020303" pitchFamily="18" charset="0"/>
                <a:hlinkClick r:id="rId3"/>
              </a:rPr>
              <a:t>http://localhost:8000/uni/code_examples/fetch.html</a:t>
            </a:r>
            <a:endParaRPr lang="en-US" sz="2400" dirty="0">
              <a:solidFill>
                <a:schemeClr val="accent5">
                  <a:lumMod val="75000"/>
                </a:schemeClr>
              </a:solidFill>
              <a:latin typeface="Georgia" panose="02040502050405020303" pitchFamily="18" charset="0"/>
            </a:endParaRPr>
          </a:p>
          <a:p>
            <a:r>
              <a:rPr lang="en-US" sz="2000" dirty="0">
                <a:latin typeface="Georgia" panose="02040502050405020303" pitchFamily="18" charset="0"/>
              </a:rPr>
              <a:t>To </a:t>
            </a:r>
            <a:r>
              <a:rPr lang="en-US" sz="2000" dirty="0" err="1">
                <a:latin typeface="Georgia" panose="02040502050405020303" pitchFamily="18" charset="0"/>
              </a:rPr>
              <a:t>js</a:t>
            </a:r>
            <a:r>
              <a:rPr lang="en-US" sz="2000" dirty="0">
                <a:latin typeface="Georgia" panose="02040502050405020303" pitchFamily="18" charset="0"/>
              </a:rPr>
              <a:t> console</a:t>
            </a:r>
          </a:p>
        </p:txBody>
      </p:sp>
      <p:pic>
        <p:nvPicPr>
          <p:cNvPr id="11" name="Picture 2" descr="Picking a Good Example - Inductive Bible StudyInductive ...">
            <a:extLst>
              <a:ext uri="{FF2B5EF4-FFF2-40B4-BE49-F238E27FC236}">
                <a16:creationId xmlns:a16="http://schemas.microsoft.com/office/drawing/2014/main" id="{D4B02BA7-E1DE-9A4B-B7F7-392CE16FDB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78034" y="4834091"/>
            <a:ext cx="1375766" cy="10797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1972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5E8826-094A-2A48-93F9-718DB4CC5FB2}"/>
              </a:ext>
            </a:extLst>
          </p:cNvPr>
          <p:cNvPicPr>
            <a:picLocks noChangeAspect="1"/>
          </p:cNvPicPr>
          <p:nvPr/>
        </p:nvPicPr>
        <p:blipFill>
          <a:blip r:embed="rId2"/>
          <a:stretch>
            <a:fillRect/>
          </a:stretch>
        </p:blipFill>
        <p:spPr>
          <a:xfrm>
            <a:off x="10187767" y="4208671"/>
            <a:ext cx="1730429" cy="2452695"/>
          </a:xfrm>
          <a:prstGeom prst="rect">
            <a:avLst/>
          </a:prstGeom>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JSON</a:t>
            </a:r>
            <a:endParaRPr lang="en-US" sz="49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53665"/>
            <a:ext cx="10515600" cy="4218715"/>
          </a:xfrm>
        </p:spPr>
        <p:txBody>
          <a:bodyPr>
            <a:normAutofit/>
          </a:bodyPr>
          <a:lstStyle/>
          <a:p>
            <a:pPr marL="0" indent="0" fontAlgn="base">
              <a:lnSpc>
                <a:spcPct val="150000"/>
              </a:lnSpc>
              <a:buNone/>
            </a:pPr>
            <a:r>
              <a:rPr lang="en-GB" dirty="0">
                <a:latin typeface="Helvetica Neue Light" panose="02000403000000020004" pitchFamily="2" charset="0"/>
                <a:ea typeface="Helvetica Neue Light" panose="02000403000000020004" pitchFamily="2" charset="0"/>
              </a:rPr>
              <a:t>Many software applications need to exchange data between a client and server.</a:t>
            </a:r>
          </a:p>
          <a:p>
            <a:pPr marL="0" indent="0" fontAlgn="base">
              <a:lnSpc>
                <a:spcPct val="150000"/>
              </a:lnSpc>
              <a:buNone/>
            </a:pPr>
            <a:r>
              <a:rPr lang="en-GB" dirty="0">
                <a:latin typeface="Helvetica Neue Light" panose="02000403000000020004" pitchFamily="2" charset="0"/>
                <a:ea typeface="Helvetica Neue Light" panose="02000403000000020004" pitchFamily="2" charset="0"/>
              </a:rPr>
              <a:t>For a long time, XML was the preferred data format when it came to information exchange between the two points. Then in early 2000, JSON was introduced as an alternate data format for information exchange.</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
        <p:nvSpPr>
          <p:cNvPr id="6" name="TextBox 5">
            <a:extLst>
              <a:ext uri="{FF2B5EF4-FFF2-40B4-BE49-F238E27FC236}">
                <a16:creationId xmlns:a16="http://schemas.microsoft.com/office/drawing/2014/main" id="{02924533-C25E-D148-AF45-44C755549656}"/>
              </a:ext>
            </a:extLst>
          </p:cNvPr>
          <p:cNvSpPr txBox="1"/>
          <p:nvPr/>
        </p:nvSpPr>
        <p:spPr>
          <a:xfrm>
            <a:off x="838200" y="5851795"/>
            <a:ext cx="7608376" cy="461665"/>
          </a:xfrm>
          <a:prstGeom prst="rect">
            <a:avLst/>
          </a:prstGeom>
          <a:noFill/>
        </p:spPr>
        <p:txBody>
          <a:bodyPr wrap="square">
            <a:spAutoFit/>
          </a:bodyPr>
          <a:lstStyle/>
          <a:p>
            <a:r>
              <a:rPr lang="en-US" sz="2400" dirty="0">
                <a:solidFill>
                  <a:schemeClr val="accent5">
                    <a:lumMod val="75000"/>
                  </a:schemeClr>
                </a:solidFill>
                <a:latin typeface="Georgia" panose="02040502050405020303" pitchFamily="18" charset="0"/>
                <a:hlinkClick r:id="rId3"/>
              </a:rPr>
              <a:t>https://www.w3schools.com/js/js_json_intro.asp</a:t>
            </a:r>
            <a:endParaRPr lang="en-US" sz="2400" dirty="0">
              <a:solidFill>
                <a:schemeClr val="accent5">
                  <a:lumMod val="75000"/>
                </a:schemeClr>
              </a:solidFill>
              <a:latin typeface="Georgia" panose="02040502050405020303" pitchFamily="18" charset="0"/>
            </a:endParaRPr>
          </a:p>
        </p:txBody>
      </p:sp>
    </p:spTree>
    <p:extLst>
      <p:ext uri="{BB962C8B-B14F-4D97-AF65-F5344CB8AC3E}">
        <p14:creationId xmlns:p14="http://schemas.microsoft.com/office/powerpoint/2010/main" val="4093893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fontScale="90000"/>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JSON</a:t>
            </a:r>
            <a:r>
              <a:rPr lang="en-GB" sz="6000" dirty="0">
                <a:latin typeface="Helvetica Neue Light" panose="02000403000000020004" pitchFamily="2" charset="0"/>
                <a:ea typeface="Helvetica Neue Light" panose="02000403000000020004" pitchFamily="2" charset="0"/>
              </a:rPr>
              <a:t> </a:t>
            </a:r>
            <a:r>
              <a:rPr lang="en-GB" sz="4900" dirty="0">
                <a:solidFill>
                  <a:srgbClr val="D3473F"/>
                </a:solidFill>
                <a:latin typeface="American Typewriter" panose="02090604020004020304" pitchFamily="18" charset="77"/>
                <a:ea typeface="Helvetica Neue Light" panose="02000403000000020004" pitchFamily="2" charset="0"/>
              </a:rPr>
              <a:t>- JavaScript Object Notation </a:t>
            </a:r>
            <a:endParaRPr lang="en-US" sz="49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53665"/>
            <a:ext cx="10515600" cy="5039210"/>
          </a:xfrm>
        </p:spPr>
        <p:txBody>
          <a:bodyPr>
            <a:normAutofit fontScale="92500" lnSpcReduction="10000"/>
          </a:bodyPr>
          <a:lstStyle/>
          <a:p>
            <a:pPr marL="0" indent="0" fontAlgn="base">
              <a:lnSpc>
                <a:spcPct val="150000"/>
              </a:lnSpc>
              <a:buNone/>
            </a:pPr>
            <a:r>
              <a:rPr lang="en-GB" sz="2600" dirty="0">
                <a:latin typeface="Helvetica Neue Light" panose="02000403000000020004" pitchFamily="2" charset="0"/>
                <a:ea typeface="Helvetica Neue Light" panose="02000403000000020004" pitchFamily="2" charset="0"/>
              </a:rPr>
              <a:t>JSON is a text-based data exchange format. It is a collection of key-value pairs where </a:t>
            </a:r>
            <a:r>
              <a:rPr lang="en-GB" sz="2600" b="1" dirty="0">
                <a:latin typeface="Helvetica Neue Light" panose="02000403000000020004" pitchFamily="2" charset="0"/>
                <a:ea typeface="Helvetica Neue Light" panose="02000403000000020004" pitchFamily="2" charset="0"/>
              </a:rPr>
              <a:t>the key must be a string type</a:t>
            </a:r>
            <a:r>
              <a:rPr lang="en-GB" sz="2600" dirty="0">
                <a:latin typeface="Helvetica Neue Light" panose="02000403000000020004" pitchFamily="2" charset="0"/>
                <a:ea typeface="Helvetica Neue Light" panose="02000403000000020004" pitchFamily="2" charset="0"/>
              </a:rPr>
              <a:t>, and the value can be of any of the following types:</a:t>
            </a:r>
          </a:p>
          <a:p>
            <a:pPr fontAlgn="base">
              <a:lnSpc>
                <a:spcPct val="150000"/>
              </a:lnSpc>
            </a:pPr>
            <a:r>
              <a:rPr lang="en-GB" sz="2200" dirty="0">
                <a:latin typeface="Helvetica Neue Light" panose="02000403000000020004" pitchFamily="2" charset="0"/>
                <a:ea typeface="Helvetica Neue Light" panose="02000403000000020004" pitchFamily="2" charset="0"/>
              </a:rPr>
              <a:t>Number</a:t>
            </a:r>
          </a:p>
          <a:p>
            <a:pPr fontAlgn="base">
              <a:lnSpc>
                <a:spcPct val="150000"/>
              </a:lnSpc>
            </a:pPr>
            <a:r>
              <a:rPr lang="en-GB" sz="2200" dirty="0">
                <a:latin typeface="Helvetica Neue Light" panose="02000403000000020004" pitchFamily="2" charset="0"/>
                <a:ea typeface="Helvetica Neue Light" panose="02000403000000020004" pitchFamily="2" charset="0"/>
              </a:rPr>
              <a:t>String</a:t>
            </a:r>
          </a:p>
          <a:p>
            <a:pPr fontAlgn="base">
              <a:lnSpc>
                <a:spcPct val="150000"/>
              </a:lnSpc>
            </a:pPr>
            <a:r>
              <a:rPr lang="en-GB" sz="2200" dirty="0">
                <a:latin typeface="Helvetica Neue Light" panose="02000403000000020004" pitchFamily="2" charset="0"/>
                <a:ea typeface="Helvetica Neue Light" panose="02000403000000020004" pitchFamily="2" charset="0"/>
              </a:rPr>
              <a:t>Boolean</a:t>
            </a:r>
          </a:p>
          <a:p>
            <a:pPr fontAlgn="base">
              <a:lnSpc>
                <a:spcPct val="150000"/>
              </a:lnSpc>
            </a:pPr>
            <a:r>
              <a:rPr lang="en-GB" sz="2200" dirty="0">
                <a:latin typeface="Helvetica Neue Light" panose="02000403000000020004" pitchFamily="2" charset="0"/>
                <a:ea typeface="Helvetica Neue Light" panose="02000403000000020004" pitchFamily="2" charset="0"/>
              </a:rPr>
              <a:t>Array</a:t>
            </a:r>
          </a:p>
          <a:p>
            <a:pPr fontAlgn="base">
              <a:lnSpc>
                <a:spcPct val="150000"/>
              </a:lnSpc>
            </a:pPr>
            <a:r>
              <a:rPr lang="en-GB" sz="2200" dirty="0">
                <a:latin typeface="Helvetica Neue Light" panose="02000403000000020004" pitchFamily="2" charset="0"/>
                <a:ea typeface="Helvetica Neue Light" panose="02000403000000020004" pitchFamily="2" charset="0"/>
              </a:rPr>
              <a:t>Object</a:t>
            </a:r>
          </a:p>
          <a:p>
            <a:pPr fontAlgn="base">
              <a:lnSpc>
                <a:spcPct val="150000"/>
              </a:lnSpc>
            </a:pPr>
            <a:r>
              <a:rPr lang="en-GB" sz="2200" dirty="0">
                <a:latin typeface="Helvetica Neue Light" panose="02000403000000020004" pitchFamily="2" charset="0"/>
                <a:ea typeface="Helvetica Neue Light" panose="02000403000000020004" pitchFamily="2" charset="0"/>
              </a:rPr>
              <a:t>null</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039259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Basic rules</a:t>
            </a:r>
            <a:endParaRPr lang="en-US" sz="49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53665"/>
            <a:ext cx="10956010" cy="5039210"/>
          </a:xfrm>
        </p:spPr>
        <p:txBody>
          <a:bodyPr>
            <a:normAutofit/>
          </a:bodyPr>
          <a:lstStyle/>
          <a:p>
            <a:pPr fontAlgn="base">
              <a:lnSpc>
                <a:spcPct val="150000"/>
              </a:lnSpc>
            </a:pPr>
            <a:r>
              <a:rPr lang="en-GB" dirty="0">
                <a:latin typeface="Helvetica Neue Light" panose="02000403000000020004" pitchFamily="2" charset="0"/>
                <a:ea typeface="Helvetica Neue Light" panose="02000403000000020004" pitchFamily="2" charset="0"/>
              </a:rPr>
              <a:t>In the JSON data format, the keys must be enclosed in double quotes.</a:t>
            </a:r>
          </a:p>
          <a:p>
            <a:pPr fontAlgn="base">
              <a:lnSpc>
                <a:spcPct val="150000"/>
              </a:lnSpc>
            </a:pPr>
            <a:r>
              <a:rPr lang="en-GB" dirty="0">
                <a:latin typeface="Helvetica Neue Light" panose="02000403000000020004" pitchFamily="2" charset="0"/>
                <a:ea typeface="Helvetica Neue Light" panose="02000403000000020004" pitchFamily="2" charset="0"/>
              </a:rPr>
              <a:t>The key and value must be separated by a colon (:) symbol.</a:t>
            </a:r>
          </a:p>
          <a:p>
            <a:pPr fontAlgn="base">
              <a:lnSpc>
                <a:spcPct val="150000"/>
              </a:lnSpc>
            </a:pPr>
            <a:r>
              <a:rPr lang="en-GB" dirty="0">
                <a:latin typeface="Helvetica Neue Light" panose="02000403000000020004" pitchFamily="2" charset="0"/>
                <a:ea typeface="Helvetica Neue Light" panose="02000403000000020004" pitchFamily="2" charset="0"/>
              </a:rPr>
              <a:t>There can be multiple key-value pairs. Two key-value pairs must be separated by a comma (,) symbol.</a:t>
            </a:r>
          </a:p>
          <a:p>
            <a:pPr fontAlgn="base">
              <a:lnSpc>
                <a:spcPct val="150000"/>
              </a:lnSpc>
            </a:pPr>
            <a:r>
              <a:rPr lang="en-GB" dirty="0">
                <a:latin typeface="Helvetica Neue Light" panose="02000403000000020004" pitchFamily="2" charset="0"/>
                <a:ea typeface="Helvetica Neue Light" panose="02000403000000020004" pitchFamily="2" charset="0"/>
              </a:rPr>
              <a:t>No comments (// or /* */) are allowed in JSON data.</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903256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GB"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Simple JSON object</a:t>
            </a:r>
            <a:endParaRPr lang="en-US" sz="49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pic>
        <p:nvPicPr>
          <p:cNvPr id="6" name="Picture 5">
            <a:extLst>
              <a:ext uri="{FF2B5EF4-FFF2-40B4-BE49-F238E27FC236}">
                <a16:creationId xmlns:a16="http://schemas.microsoft.com/office/drawing/2014/main" id="{A8965FEA-2697-8245-A646-410FE602011C}"/>
              </a:ext>
            </a:extLst>
          </p:cNvPr>
          <p:cNvPicPr>
            <a:picLocks noChangeAspect="1"/>
          </p:cNvPicPr>
          <p:nvPr/>
        </p:nvPicPr>
        <p:blipFill rotWithShape="1">
          <a:blip r:embed="rId2"/>
          <a:srcRect t="30502"/>
          <a:stretch/>
        </p:blipFill>
        <p:spPr>
          <a:xfrm>
            <a:off x="601340" y="1558320"/>
            <a:ext cx="9410565" cy="3741359"/>
          </a:xfrm>
          <a:prstGeom prst="rect">
            <a:avLst/>
          </a:prstGeom>
        </p:spPr>
      </p:pic>
      <p:sp>
        <p:nvSpPr>
          <p:cNvPr id="8" name="TextBox 7">
            <a:extLst>
              <a:ext uri="{FF2B5EF4-FFF2-40B4-BE49-F238E27FC236}">
                <a16:creationId xmlns:a16="http://schemas.microsoft.com/office/drawing/2014/main" id="{78EE06F6-991F-7E4D-871B-4149DA082C03}"/>
              </a:ext>
            </a:extLst>
          </p:cNvPr>
          <p:cNvSpPr txBox="1"/>
          <p:nvPr/>
        </p:nvSpPr>
        <p:spPr>
          <a:xfrm>
            <a:off x="838201" y="5695787"/>
            <a:ext cx="10515599" cy="461665"/>
          </a:xfrm>
          <a:prstGeom prst="rect">
            <a:avLst/>
          </a:prstGeom>
          <a:noFill/>
        </p:spPr>
        <p:txBody>
          <a:bodyPr wrap="square">
            <a:spAutoFit/>
          </a:bodyPr>
          <a:lstStyle/>
          <a:p>
            <a:r>
              <a:rPr lang="en-GB" sz="2400" dirty="0">
                <a:solidFill>
                  <a:srgbClr val="0A0A23"/>
                </a:solidFill>
                <a:effectLst/>
                <a:latin typeface="Helvetica Neue Light" panose="02000403000000020004" pitchFamily="2" charset="0"/>
                <a:ea typeface="Helvetica Neue Light" panose="02000403000000020004" pitchFamily="2" charset="0"/>
              </a:rPr>
              <a:t>A collection of key-value pairs enclosed by a pair of curly braces </a:t>
            </a:r>
            <a:r>
              <a:rPr lang="en-GB" sz="2400" dirty="0">
                <a:latin typeface="Helvetica Neue Light" panose="02000403000000020004" pitchFamily="2" charset="0"/>
                <a:ea typeface="Helvetica Neue Light" panose="02000403000000020004" pitchFamily="2" charset="0"/>
              </a:rPr>
              <a:t>{...}</a:t>
            </a:r>
            <a:r>
              <a:rPr lang="en-GB" sz="2400" dirty="0">
                <a:solidFill>
                  <a:srgbClr val="0A0A23"/>
                </a:solidFill>
                <a:effectLst/>
                <a:latin typeface="Helvetica Neue Light" panose="02000403000000020004" pitchFamily="2" charset="0"/>
                <a:ea typeface="Helvetica Neue Light" panose="02000403000000020004" pitchFamily="2" charset="0"/>
              </a:rPr>
              <a:t>. </a:t>
            </a:r>
            <a:endParaRPr lang="en-US"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399732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1" y="33699"/>
            <a:ext cx="10515600" cy="1325563"/>
          </a:xfrm>
        </p:spPr>
        <p:txBody>
          <a:bodyPr>
            <a:normAutofit/>
          </a:bodyPr>
          <a:lstStyle/>
          <a:p>
            <a:r>
              <a:rPr lang="en-GB"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Or…JSON Arrays</a:t>
            </a:r>
            <a:endParaRPr lang="en-US" sz="49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8" name="TextBox 7">
            <a:extLst>
              <a:ext uri="{FF2B5EF4-FFF2-40B4-BE49-F238E27FC236}">
                <a16:creationId xmlns:a16="http://schemas.microsoft.com/office/drawing/2014/main" id="{78EE06F6-991F-7E4D-871B-4149DA082C03}"/>
              </a:ext>
            </a:extLst>
          </p:cNvPr>
          <p:cNvSpPr txBox="1"/>
          <p:nvPr/>
        </p:nvSpPr>
        <p:spPr>
          <a:xfrm>
            <a:off x="7981626" y="1359261"/>
            <a:ext cx="3890075" cy="2790508"/>
          </a:xfrm>
          <a:prstGeom prst="rect">
            <a:avLst/>
          </a:prstGeom>
          <a:noFill/>
        </p:spPr>
        <p:txBody>
          <a:bodyPr wrap="square">
            <a:spAutoFit/>
          </a:bodyPr>
          <a:lstStyle/>
          <a:p>
            <a:pPr>
              <a:lnSpc>
                <a:spcPct val="150000"/>
              </a:lnSpc>
            </a:pPr>
            <a:r>
              <a:rPr lang="en-GB" sz="2400" dirty="0">
                <a:latin typeface="Helvetica Neue Light" panose="02000403000000020004" pitchFamily="2" charset="0"/>
                <a:ea typeface="Helvetica Neue Light" panose="02000403000000020004" pitchFamily="2" charset="0"/>
              </a:rPr>
              <a:t>A collection of an ordered list of key-value pairs separated by comma (,) and enclosed by a pair of square brackets [...].</a:t>
            </a:r>
            <a:endParaRPr lang="en-US" sz="24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F83F8514-6EFE-E445-99A7-E7DC19E39895}"/>
              </a:ext>
            </a:extLst>
          </p:cNvPr>
          <p:cNvPicPr>
            <a:picLocks noChangeAspect="1"/>
          </p:cNvPicPr>
          <p:nvPr/>
        </p:nvPicPr>
        <p:blipFill>
          <a:blip r:embed="rId2"/>
          <a:stretch>
            <a:fillRect/>
          </a:stretch>
        </p:blipFill>
        <p:spPr>
          <a:xfrm>
            <a:off x="946687" y="1359261"/>
            <a:ext cx="6600988" cy="5179453"/>
          </a:xfrm>
          <a:prstGeom prst="rect">
            <a:avLst/>
          </a:prstGeom>
        </p:spPr>
      </p:pic>
    </p:spTree>
    <p:extLst>
      <p:ext uri="{BB962C8B-B14F-4D97-AF65-F5344CB8AC3E}">
        <p14:creationId xmlns:p14="http://schemas.microsoft.com/office/powerpoint/2010/main" val="736645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1" y="33699"/>
            <a:ext cx="10515600" cy="1325563"/>
          </a:xfrm>
        </p:spPr>
        <p:txBody>
          <a:bodyPr>
            <a:normAutofit/>
          </a:bodyPr>
          <a:lstStyle/>
          <a:p>
            <a:r>
              <a:rPr lang="en-GB"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JSON vs XML</a:t>
            </a:r>
            <a:endParaRPr lang="en-US" sz="49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8" name="TextBox 7">
            <a:extLst>
              <a:ext uri="{FF2B5EF4-FFF2-40B4-BE49-F238E27FC236}">
                <a16:creationId xmlns:a16="http://schemas.microsoft.com/office/drawing/2014/main" id="{78EE06F6-991F-7E4D-871B-4149DA082C03}"/>
              </a:ext>
            </a:extLst>
          </p:cNvPr>
          <p:cNvSpPr txBox="1"/>
          <p:nvPr/>
        </p:nvSpPr>
        <p:spPr>
          <a:xfrm>
            <a:off x="838199" y="1142285"/>
            <a:ext cx="11033502" cy="5560497"/>
          </a:xfrm>
          <a:prstGeom prst="rect">
            <a:avLst/>
          </a:prstGeom>
          <a:noFill/>
        </p:spPr>
        <p:txBody>
          <a:bodyPr wrap="square">
            <a:spAutoFit/>
          </a:bodyPr>
          <a:lstStyle/>
          <a:p>
            <a:pPr>
              <a:lnSpc>
                <a:spcPct val="150000"/>
              </a:lnSpc>
            </a:pPr>
            <a:r>
              <a:rPr lang="en-GB" sz="2400" dirty="0">
                <a:latin typeface="Helvetica Neue Light" panose="02000403000000020004" pitchFamily="2" charset="0"/>
                <a:ea typeface="Helvetica Neue Light" panose="02000403000000020004" pitchFamily="2" charset="0"/>
              </a:rPr>
              <a:t>A few years back, XML (Extensible Markup Language) was a popular choice for storing and sharing data over the network. JSON has emerged as a popular alternative to XML for the following reasons:</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Less verbose — XML uses many more words than required, which makes it time-consuming to read and write.</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Lightweight &amp; faster — XML must be parsed by an XML parser, but JSON can be parsed using JavaScript built-in functions. Parsing large XML files is slow and requires a lot of memory.</a:t>
            </a:r>
          </a:p>
          <a:p>
            <a:pPr marL="342900" indent="-342900">
              <a:lnSpc>
                <a:spcPct val="150000"/>
              </a:lnSpc>
              <a:buFont typeface="Arial" panose="020B0604020202020204" pitchFamily="34" charset="0"/>
              <a:buChar char="•"/>
            </a:pPr>
            <a:r>
              <a:rPr lang="en-GB" sz="2400" dirty="0">
                <a:latin typeface="Helvetica Neue Light" panose="02000403000000020004" pitchFamily="2" charset="0"/>
                <a:ea typeface="Helvetica Neue Light" panose="02000403000000020004" pitchFamily="2" charset="0"/>
              </a:rPr>
              <a:t>More data types — You cannot store arrays in XML which are extensively used in JSON format.</a:t>
            </a:r>
          </a:p>
        </p:txBody>
      </p:sp>
    </p:spTree>
    <p:extLst>
      <p:ext uri="{BB962C8B-B14F-4D97-AF65-F5344CB8AC3E}">
        <p14:creationId xmlns:p14="http://schemas.microsoft.com/office/powerpoint/2010/main" val="517916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8EE06F6-991F-7E4D-871B-4149DA082C03}"/>
              </a:ext>
            </a:extLst>
          </p:cNvPr>
          <p:cNvSpPr txBox="1"/>
          <p:nvPr/>
        </p:nvSpPr>
        <p:spPr>
          <a:xfrm>
            <a:off x="4556175" y="648750"/>
            <a:ext cx="3388963" cy="6114494"/>
          </a:xfrm>
          <a:prstGeom prst="rect">
            <a:avLst/>
          </a:prstGeom>
          <a:noFill/>
        </p:spPr>
        <p:txBody>
          <a:bodyPr wrap="square">
            <a:spAutoFit/>
          </a:bodyPr>
          <a:lstStyle/>
          <a:p>
            <a:pPr>
              <a:lnSpc>
                <a:spcPct val="150000"/>
              </a:lnSpc>
            </a:pPr>
            <a:r>
              <a:rPr lang="en-GB" sz="2400" dirty="0">
                <a:latin typeface="Helvetica Neue Light" panose="02000403000000020004" pitchFamily="2" charset="0"/>
                <a:ea typeface="Helvetica Neue Light" panose="02000403000000020004" pitchFamily="2" charset="0"/>
              </a:rPr>
              <a:t>As you can see the XML structure is not intuitive. On the other hand, the JSON structure is much more compact and intuitive, making it easy to read.</a:t>
            </a:r>
          </a:p>
          <a:p>
            <a:pPr>
              <a:lnSpc>
                <a:spcPct val="150000"/>
              </a:lnSpc>
            </a:pPr>
            <a:endParaRPr lang="en-GB" sz="2400" dirty="0">
              <a:latin typeface="Helvetica Neue Light" panose="02000403000000020004" pitchFamily="2" charset="0"/>
              <a:ea typeface="Helvetica Neue Light" panose="02000403000000020004" pitchFamily="2" charset="0"/>
            </a:endParaRPr>
          </a:p>
          <a:p>
            <a:pPr>
              <a:lnSpc>
                <a:spcPct val="150000"/>
              </a:lnSpc>
            </a:pPr>
            <a:r>
              <a:rPr lang="en-GB" sz="2400" dirty="0">
                <a:solidFill>
                  <a:srgbClr val="C00000"/>
                </a:solidFill>
                <a:latin typeface="Helvetica Neue Light" panose="02000403000000020004" pitchFamily="2" charset="0"/>
                <a:ea typeface="Helvetica Neue Light" panose="02000403000000020004" pitchFamily="2" charset="0"/>
              </a:rPr>
              <a:t>Look at expanded word doc - </a:t>
            </a:r>
            <a:r>
              <a:rPr lang="en-GB" sz="2400" dirty="0" err="1">
                <a:solidFill>
                  <a:srgbClr val="C00000"/>
                </a:solidFill>
                <a:latin typeface="Helvetica Neue Light" panose="02000403000000020004" pitchFamily="2" charset="0"/>
                <a:ea typeface="Helvetica Neue Light" panose="02000403000000020004" pitchFamily="2" charset="0"/>
              </a:rPr>
              <a:t>matt.docx</a:t>
            </a:r>
            <a:endParaRPr lang="en-GB" sz="2400" dirty="0">
              <a:solidFill>
                <a:srgbClr val="C00000"/>
              </a:solidFill>
              <a:latin typeface="Helvetica Neue Light" panose="02000403000000020004" pitchFamily="2" charset="0"/>
              <a:ea typeface="Helvetica Neue Light" panose="02000403000000020004" pitchFamily="2" charset="0"/>
            </a:endParaRPr>
          </a:p>
          <a:p>
            <a:pPr>
              <a:lnSpc>
                <a:spcPct val="150000"/>
              </a:lnSpc>
            </a:pPr>
            <a:r>
              <a:rPr lang="en-GB" sz="2400" dirty="0">
                <a:solidFill>
                  <a:srgbClr val="C00000"/>
                </a:solidFill>
                <a:latin typeface="Helvetica Neue Light" panose="02000403000000020004" pitchFamily="2" charset="0"/>
                <a:ea typeface="Helvetica Neue Light" panose="02000403000000020004" pitchFamily="2" charset="0"/>
              </a:rPr>
              <a:t>Use </a:t>
            </a:r>
            <a:r>
              <a:rPr lang="en-GB" sz="2400" dirty="0" err="1">
                <a:solidFill>
                  <a:srgbClr val="C00000"/>
                </a:solidFill>
                <a:latin typeface="Helvetica Neue Light" panose="02000403000000020004" pitchFamily="2" charset="0"/>
                <a:ea typeface="Helvetica Neue Light" panose="02000403000000020004" pitchFamily="2" charset="0"/>
              </a:rPr>
              <a:t>unarchiver</a:t>
            </a:r>
            <a:endParaRPr lang="en-US" sz="2400" dirty="0">
              <a:solidFill>
                <a:srgbClr val="C00000"/>
              </a:solidFill>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69B1670F-AA7D-6D4E-BA10-270D272FB00D}"/>
              </a:ext>
            </a:extLst>
          </p:cNvPr>
          <p:cNvPicPr>
            <a:picLocks noChangeAspect="1"/>
          </p:cNvPicPr>
          <p:nvPr/>
        </p:nvPicPr>
        <p:blipFill>
          <a:blip r:embed="rId2"/>
          <a:stretch>
            <a:fillRect/>
          </a:stretch>
        </p:blipFill>
        <p:spPr>
          <a:xfrm>
            <a:off x="-1" y="-1"/>
            <a:ext cx="4339525" cy="6906195"/>
          </a:xfrm>
          <a:prstGeom prst="rect">
            <a:avLst/>
          </a:prstGeom>
        </p:spPr>
      </p:pic>
      <p:pic>
        <p:nvPicPr>
          <p:cNvPr id="7" name="Picture 6">
            <a:extLst>
              <a:ext uri="{FF2B5EF4-FFF2-40B4-BE49-F238E27FC236}">
                <a16:creationId xmlns:a16="http://schemas.microsoft.com/office/drawing/2014/main" id="{D1C69178-2C1E-B042-BBA2-8A1999ABBE2C}"/>
              </a:ext>
            </a:extLst>
          </p:cNvPr>
          <p:cNvPicPr>
            <a:picLocks noChangeAspect="1"/>
          </p:cNvPicPr>
          <p:nvPr/>
        </p:nvPicPr>
        <p:blipFill>
          <a:blip r:embed="rId3"/>
          <a:stretch>
            <a:fillRect/>
          </a:stretch>
        </p:blipFill>
        <p:spPr>
          <a:xfrm>
            <a:off x="8161789" y="-1"/>
            <a:ext cx="4030211" cy="6858001"/>
          </a:xfrm>
          <a:prstGeom prst="rect">
            <a:avLst/>
          </a:prstGeom>
        </p:spPr>
      </p:pic>
    </p:spTree>
    <p:extLst>
      <p:ext uri="{BB962C8B-B14F-4D97-AF65-F5344CB8AC3E}">
        <p14:creationId xmlns:p14="http://schemas.microsoft.com/office/powerpoint/2010/main" val="767916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766218"/>
            <a:ext cx="10515600" cy="1325563"/>
          </a:xfrm>
        </p:spPr>
        <p:txBody>
          <a:bodyPr>
            <a:normAutofit/>
          </a:bodyPr>
          <a:lstStyle/>
          <a:p>
            <a:pPr algn="ctr"/>
            <a:r>
              <a:rPr lang="en-US" sz="8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BREAK</a:t>
            </a:r>
          </a:p>
        </p:txBody>
      </p:sp>
    </p:spTree>
    <p:extLst>
      <p:ext uri="{BB962C8B-B14F-4D97-AF65-F5344CB8AC3E}">
        <p14:creationId xmlns:p14="http://schemas.microsoft.com/office/powerpoint/2010/main" val="219933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18822"/>
            <a:ext cx="10515600" cy="1186078"/>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SPA</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04898"/>
            <a:ext cx="10884408" cy="5234280"/>
          </a:xfrm>
        </p:spPr>
        <p:txBody>
          <a:bodyPr>
            <a:normAutofit/>
          </a:bodyPr>
          <a:lstStyle/>
          <a:p>
            <a:pPr marL="0" indent="0">
              <a:lnSpc>
                <a:spcPct val="150000"/>
              </a:lnSpc>
              <a:buNone/>
            </a:pPr>
            <a:r>
              <a:rPr lang="en-GB" sz="2400" b="1" dirty="0">
                <a:latin typeface="Helvetica Neue Light" panose="02000403000000020004" pitchFamily="2" charset="0"/>
                <a:ea typeface="Helvetica Neue Light" panose="02000403000000020004" pitchFamily="2" charset="0"/>
              </a:rPr>
              <a:t>A single-page application </a:t>
            </a:r>
            <a:r>
              <a:rPr lang="en-GB" sz="2400" dirty="0">
                <a:latin typeface="Helvetica Neue Light" panose="02000403000000020004" pitchFamily="2" charset="0"/>
                <a:ea typeface="Helvetica Neue Light" panose="02000403000000020004" pitchFamily="2" charset="0"/>
              </a:rPr>
              <a:t>(SPA) is a web application or website that interacts with the user by dynamically rewriting the current web page with new data from the web server, instead of the default method of a web browser loading entire new pages. The goal is faster transitions that make the website feel more like a native app.</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In a SPA, a page refresh never occurs; instead, all necessary HTML, JavaScript, and CSS code is either retrieved by the browser with a single page load, or the appropriate resources are dynamically loaded and added to the page as necessary, usually in response to user actions.</a:t>
            </a:r>
          </a:p>
        </p:txBody>
      </p:sp>
    </p:spTree>
    <p:extLst>
      <p:ext uri="{BB962C8B-B14F-4D97-AF65-F5344CB8AC3E}">
        <p14:creationId xmlns:p14="http://schemas.microsoft.com/office/powerpoint/2010/main" val="1056504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Angular, developed by Google, was first released in 2010, making it the oldest of the big 3. It is a TypeScript-based JavaScript framework. A substantial shift occurred in 2016 on the release of Angular 2 (and the dropping of the “JS” from the original name – AngularJS). </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Angular 2+ is known as just Angular. Although AngularJS (version 1) still gets updates. The latest stable version is Angular 17, which was released in November 2023.</a:t>
            </a:r>
          </a:p>
        </p:txBody>
      </p:sp>
      <p:pic>
        <p:nvPicPr>
          <p:cNvPr id="6" name="Picture 4" descr="2sxc &gt; Learn &gt; Simple AngularJS in DNN with 2sxc4ng">
            <a:extLst>
              <a:ext uri="{FF2B5EF4-FFF2-40B4-BE49-F238E27FC236}">
                <a16:creationId xmlns:a16="http://schemas.microsoft.com/office/drawing/2014/main" id="{257CB26F-40FE-AE44-A6DE-4B3914C08B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471874"/>
            <a:ext cx="3890639" cy="1010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6703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1715897"/>
            <a:ext cx="10515600" cy="4351338"/>
          </a:xfrm>
        </p:spPr>
        <p:txBody>
          <a:bodyPr>
            <a:normAutofit fontScale="92500" lnSpcReduction="10000"/>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Angular has a steep learning curve, considering it is a complete solution, and mastering Angular requires you to learn associated concepts like TypeScript and MVC.</a:t>
            </a:r>
          </a:p>
          <a:p>
            <a:pPr marL="0" indent="0">
              <a:lnSpc>
                <a:spcPct val="150000"/>
              </a:lnSpc>
              <a:buNone/>
            </a:pPr>
            <a:r>
              <a:rPr lang="en-GB" dirty="0">
                <a:latin typeface="Helvetica Neue Light" panose="02000403000000020004" pitchFamily="2" charset="0"/>
                <a:ea typeface="Helvetica Neue Light" panose="02000403000000020004" pitchFamily="2" charset="0"/>
              </a:rPr>
              <a:t>Angular is the most mature of the frameworks, has good backing in terms of contributors and is a complete package.</a:t>
            </a:r>
          </a:p>
          <a:p>
            <a:pPr marL="0" indent="0">
              <a:lnSpc>
                <a:spcPct val="150000"/>
              </a:lnSpc>
              <a:buNone/>
            </a:pPr>
            <a:r>
              <a:rPr lang="en-GB" dirty="0">
                <a:latin typeface="Helvetica Neue Light" panose="02000403000000020004" pitchFamily="2" charset="0"/>
                <a:ea typeface="Helvetica Neue Light" panose="02000403000000020004" pitchFamily="2" charset="0"/>
              </a:rPr>
              <a:t>Angular is a good choice for companies with large teams and developers who already use TypeScript.</a:t>
            </a:r>
            <a:endParaRPr lang="en-GB" sz="2400" dirty="0">
              <a:latin typeface="Helvetica Neue Light" panose="02000403000000020004" pitchFamily="2" charset="0"/>
              <a:ea typeface="Helvetica Neue Light" panose="02000403000000020004" pitchFamily="2" charset="0"/>
            </a:endParaRPr>
          </a:p>
        </p:txBody>
      </p:sp>
      <p:pic>
        <p:nvPicPr>
          <p:cNvPr id="6" name="Picture 4" descr="2sxc &gt; Learn &gt; Simple AngularJS in DNN with 2sxc4ng">
            <a:extLst>
              <a:ext uri="{FF2B5EF4-FFF2-40B4-BE49-F238E27FC236}">
                <a16:creationId xmlns:a16="http://schemas.microsoft.com/office/drawing/2014/main" id="{257CB26F-40FE-AE44-A6DE-4B3914C08B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471874"/>
            <a:ext cx="3890639" cy="1010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8782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2926080" y="365125"/>
            <a:ext cx="8427720" cy="1325563"/>
          </a:xfrm>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React      </a:t>
            </a:r>
            <a:r>
              <a:rPr lang="en-GB" sz="3200" dirty="0">
                <a:latin typeface="Helvetica Neue Light" panose="02000403000000020004" pitchFamily="2" charset="0"/>
                <a:ea typeface="Helvetica Neue Light" panose="02000403000000020004" pitchFamily="2" charset="0"/>
                <a:hlinkClick r:id="rId2"/>
              </a:rPr>
              <a:t>https://reactjs.org/</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2141537"/>
            <a:ext cx="10515600" cy="4351338"/>
          </a:xfrm>
        </p:spPr>
        <p:txBody>
          <a:bodyPr>
            <a:normAutofit fontScale="92500" lnSpcReduction="10000"/>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React, developed by Facebook, was initially released in 2013. Facebook uses React extensively in their products (Facebook, Instagram, and WhatsApp). The current stable version is 18.2, released in June 2022 (with smaller incremental updates since then).</a:t>
            </a:r>
          </a:p>
          <a:p>
            <a:pPr marL="0" indent="0">
              <a:lnSpc>
                <a:spcPct val="150000"/>
              </a:lnSpc>
              <a:buNone/>
            </a:pPr>
            <a:r>
              <a:rPr lang="en-GB" dirty="0">
                <a:latin typeface="Helvetica Neue Light" panose="02000403000000020004" pitchFamily="2" charset="0"/>
                <a:ea typeface="Helvetica Neue Light" panose="02000403000000020004" pitchFamily="2" charset="0"/>
              </a:rPr>
              <a:t>React applications usually requires the use of additional libraries for routing, as well as certain client-side functionality.</a:t>
            </a:r>
          </a:p>
          <a:p>
            <a:pPr marL="0" indent="0">
              <a:lnSpc>
                <a:spcPct val="150000"/>
              </a:lnSpc>
              <a:buNone/>
            </a:pPr>
            <a:r>
              <a:rPr lang="en-GB" dirty="0">
                <a:latin typeface="Helvetica Neue Light" panose="02000403000000020004" pitchFamily="2" charset="0"/>
                <a:ea typeface="Helvetica Neue Light" panose="02000403000000020004" pitchFamily="2" charset="0"/>
              </a:rPr>
              <a:t>Covered by </a:t>
            </a:r>
            <a:r>
              <a:rPr lang="en-GB" dirty="0">
                <a:latin typeface="Helvetica Neue Light" panose="02000403000000020004" pitchFamily="2" charset="0"/>
                <a:ea typeface="Helvetica Neue Light" panose="02000403000000020004" pitchFamily="2" charset="0"/>
                <a:hlinkClick r:id="rId3"/>
              </a:rPr>
              <a:t>W3schools</a:t>
            </a:r>
            <a:endParaRPr lang="en-GB"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1030" name="Picture 6" descr="react logo">
            <a:extLst>
              <a:ext uri="{FF2B5EF4-FFF2-40B4-BE49-F238E27FC236}">
                <a16:creationId xmlns:a16="http://schemas.microsoft.com/office/drawing/2014/main" id="{A157B234-5ED3-594F-B607-8CB7C15618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896" y="191089"/>
            <a:ext cx="1836105" cy="1725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956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Vue…at last </a:t>
            </a: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sym typeface="Wingdings" pitchFamily="2" charset="2"/>
              </a:rPr>
              <a:t></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666942EB-397A-C24B-A8C6-0CD4F398A86F}"/>
              </a:ext>
            </a:extLst>
          </p:cNvPr>
          <p:cNvSpPr>
            <a:spLocks noGrp="1"/>
          </p:cNvSpPr>
          <p:nvPr>
            <p:ph idx="1"/>
          </p:nvPr>
        </p:nvSpPr>
        <p:spPr>
          <a:xfrm>
            <a:off x="838200" y="1690687"/>
            <a:ext cx="10515600" cy="4802187"/>
          </a:xfrm>
        </p:spPr>
        <p:txBody>
          <a:bodyPr>
            <a:normAutofit/>
          </a:bodyPr>
          <a:lstStyle/>
          <a:p>
            <a:pPr marL="0" indent="0">
              <a:lnSpc>
                <a:spcPct val="150000"/>
              </a:lnSpc>
              <a:buNone/>
            </a:pPr>
            <a:r>
              <a:rPr lang="en-GB" u="sng" dirty="0">
                <a:latin typeface="Helvetica Neue Light" panose="02000403000000020004" pitchFamily="2" charset="0"/>
                <a:ea typeface="Helvetica Neue Light" panose="02000403000000020004" pitchFamily="2" charset="0"/>
              </a:rPr>
              <a:t>Vue</a:t>
            </a:r>
            <a:r>
              <a:rPr lang="en-GB" dirty="0">
                <a:latin typeface="Helvetica Neue Light" panose="02000403000000020004" pitchFamily="2" charset="0"/>
                <a:ea typeface="Helvetica Neue Light" panose="02000403000000020004" pitchFamily="2" charset="0"/>
              </a:rPr>
              <a:t>, also known as </a:t>
            </a:r>
            <a:r>
              <a:rPr lang="en-GB" dirty="0" err="1">
                <a:latin typeface="Helvetica Neue Light" panose="02000403000000020004" pitchFamily="2" charset="0"/>
                <a:ea typeface="Helvetica Neue Light" panose="02000403000000020004" pitchFamily="2" charset="0"/>
              </a:rPr>
              <a:t>Vue.js</a:t>
            </a:r>
            <a:r>
              <a:rPr lang="en-GB" dirty="0">
                <a:latin typeface="Helvetica Neue Light" panose="02000403000000020004" pitchFamily="2" charset="0"/>
                <a:ea typeface="Helvetica Neue Light" panose="02000403000000020004" pitchFamily="2" charset="0"/>
              </a:rPr>
              <a:t>, is the youngest member of the group. It was developed by ex-Google employee Evan You in 2014. </a:t>
            </a:r>
          </a:p>
          <a:p>
            <a:pPr marL="0" indent="0">
              <a:lnSpc>
                <a:spcPct val="150000"/>
              </a:lnSpc>
              <a:buNone/>
            </a:pPr>
            <a:r>
              <a:rPr lang="en-GB" dirty="0">
                <a:latin typeface="Helvetica Neue Light" panose="02000403000000020004" pitchFamily="2" charset="0"/>
                <a:ea typeface="Helvetica Neue Light" panose="02000403000000020004" pitchFamily="2" charset="0"/>
              </a:rPr>
              <a:t>Vue has seen a substantial shift in popularity, even though it doesn’t have the backing of a large company. The current stable version is 3.0, released in September 2020. </a:t>
            </a:r>
          </a:p>
          <a:p>
            <a:pPr marL="0" indent="0">
              <a:lnSpc>
                <a:spcPct val="150000"/>
              </a:lnSpc>
              <a:buNone/>
            </a:pPr>
            <a:r>
              <a:rPr lang="en-GB" dirty="0">
                <a:latin typeface="Helvetica Neue Light" panose="02000403000000020004" pitchFamily="2" charset="0"/>
                <a:ea typeface="Helvetica Neue Light" panose="02000403000000020004" pitchFamily="2" charset="0"/>
              </a:rPr>
              <a:t>It provides higher customizability and hence is </a:t>
            </a:r>
            <a:r>
              <a:rPr lang="en-GB" i="1" dirty="0">
                <a:solidFill>
                  <a:srgbClr val="D3473F"/>
                </a:solidFill>
                <a:latin typeface="Helvetica Neue Light" panose="02000403000000020004" pitchFamily="2" charset="0"/>
                <a:ea typeface="Helvetica Neue Light" panose="02000403000000020004" pitchFamily="2" charset="0"/>
              </a:rPr>
              <a:t>”easier to learn” </a:t>
            </a:r>
            <a:r>
              <a:rPr lang="en-GB" dirty="0">
                <a:latin typeface="Helvetica Neue Light" panose="02000403000000020004" pitchFamily="2" charset="0"/>
                <a:ea typeface="Helvetica Neue Light" panose="02000403000000020004" pitchFamily="2" charset="0"/>
              </a:rPr>
              <a:t>than Angular or React.</a:t>
            </a:r>
            <a:endParaRPr lang="en-US" dirty="0">
              <a:latin typeface="Helvetica Neue Light" panose="02000403000000020004" pitchFamily="2" charset="0"/>
              <a:ea typeface="Helvetica Neue Light" panose="02000403000000020004" pitchFamily="2" charset="0"/>
            </a:endParaRPr>
          </a:p>
        </p:txBody>
      </p:sp>
      <p:pic>
        <p:nvPicPr>
          <p:cNvPr id="3074" name="Picture 2" descr="vue logo">
            <a:extLst>
              <a:ext uri="{FF2B5EF4-FFF2-40B4-BE49-F238E27FC236}">
                <a16:creationId xmlns:a16="http://schemas.microsoft.com/office/drawing/2014/main" id="{D04D8699-4738-BD49-967C-FB166CC46A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9282" y="365124"/>
            <a:ext cx="1532004" cy="13255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757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199" y="107950"/>
            <a:ext cx="10515600" cy="1325563"/>
          </a:xfrm>
        </p:spPr>
        <p:txBody>
          <a:bodyPr>
            <a:normAutofit/>
          </a:bodyPr>
          <a:lstStyle/>
          <a:p>
            <a:pPr algn="ct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FFS </a:t>
            </a: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sym typeface="Wingdings" pitchFamily="2" charset="2"/>
              </a:rPr>
              <a:t></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pic>
        <p:nvPicPr>
          <p:cNvPr id="6" name="Picture 5">
            <a:extLst>
              <a:ext uri="{FF2B5EF4-FFF2-40B4-BE49-F238E27FC236}">
                <a16:creationId xmlns:a16="http://schemas.microsoft.com/office/drawing/2014/main" id="{1310EE76-DE09-8E33-90F0-3A03F138595B}"/>
              </a:ext>
            </a:extLst>
          </p:cNvPr>
          <p:cNvPicPr>
            <a:picLocks noChangeAspect="1"/>
          </p:cNvPicPr>
          <p:nvPr/>
        </p:nvPicPr>
        <p:blipFill>
          <a:blip r:embed="rId2"/>
          <a:stretch>
            <a:fillRect/>
          </a:stretch>
        </p:blipFill>
        <p:spPr>
          <a:xfrm>
            <a:off x="2140025" y="1241918"/>
            <a:ext cx="7911949" cy="4374163"/>
          </a:xfrm>
          <a:prstGeom prst="rect">
            <a:avLst/>
          </a:prstGeom>
          <a:ln>
            <a:solidFill>
              <a:schemeClr val="bg1">
                <a:lumMod val="50000"/>
              </a:schemeClr>
            </a:solidFill>
          </a:ln>
        </p:spPr>
      </p:pic>
      <p:pic>
        <p:nvPicPr>
          <p:cNvPr id="2" name="Picture 1">
            <a:extLst>
              <a:ext uri="{FF2B5EF4-FFF2-40B4-BE49-F238E27FC236}">
                <a16:creationId xmlns:a16="http://schemas.microsoft.com/office/drawing/2014/main" id="{E72DF29F-F812-976E-C185-683ED16C5049}"/>
              </a:ext>
            </a:extLst>
          </p:cNvPr>
          <p:cNvPicPr>
            <a:picLocks noChangeAspect="1"/>
          </p:cNvPicPr>
          <p:nvPr/>
        </p:nvPicPr>
        <p:blipFill>
          <a:blip r:embed="rId3"/>
          <a:stretch>
            <a:fillRect/>
          </a:stretch>
        </p:blipFill>
        <p:spPr>
          <a:xfrm>
            <a:off x="3060699" y="5717860"/>
            <a:ext cx="6070600" cy="927100"/>
          </a:xfrm>
          <a:prstGeom prst="rect">
            <a:avLst/>
          </a:prstGeom>
        </p:spPr>
      </p:pic>
    </p:spTree>
    <p:extLst>
      <p:ext uri="{BB962C8B-B14F-4D97-AF65-F5344CB8AC3E}">
        <p14:creationId xmlns:p14="http://schemas.microsoft.com/office/powerpoint/2010/main" val="281843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5FE3EE7-5E51-4745-8EDC-6E4733203B76}"/>
              </a:ext>
            </a:extLst>
          </p:cNvPr>
          <p:cNvSpPr/>
          <p:nvPr/>
        </p:nvSpPr>
        <p:spPr>
          <a:xfrm>
            <a:off x="977684" y="5898378"/>
            <a:ext cx="2233304" cy="497957"/>
          </a:xfrm>
          <a:prstGeom prst="rect">
            <a:avLst/>
          </a:prstGeom>
        </p:spPr>
        <p:txBody>
          <a:bodyPr wrap="none">
            <a:spAutoFit/>
          </a:bodyPr>
          <a:lstStyle/>
          <a:p>
            <a:pPr>
              <a:lnSpc>
                <a:spcPct val="150000"/>
              </a:lnSpc>
            </a:pPr>
            <a:r>
              <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hlinkClick r:id="rId2"/>
              </a:rPr>
              <a:t>https://vuejs.org/</a:t>
            </a:r>
            <a:endParaRPr lang="en-GB" sz="20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endParaRPr>
          </a:p>
        </p:txBody>
      </p:sp>
      <p:pic>
        <p:nvPicPr>
          <p:cNvPr id="8" name="Content Placeholder 7">
            <a:hlinkClick r:id="rId3"/>
            <a:extLst>
              <a:ext uri="{FF2B5EF4-FFF2-40B4-BE49-F238E27FC236}">
                <a16:creationId xmlns:a16="http://schemas.microsoft.com/office/drawing/2014/main" id="{0000AA1B-8168-4F45-90C0-E61534ADA5C2}"/>
              </a:ext>
            </a:extLst>
          </p:cNvPr>
          <p:cNvPicPr>
            <a:picLocks noGrp="1" noChangeAspect="1"/>
          </p:cNvPicPr>
          <p:nvPr>
            <p:ph idx="1"/>
          </p:nvPr>
        </p:nvPicPr>
        <p:blipFill>
          <a:blip r:embed="rId4"/>
          <a:stretch>
            <a:fillRect/>
          </a:stretch>
        </p:blipFill>
        <p:spPr>
          <a:xfrm>
            <a:off x="662139" y="695501"/>
            <a:ext cx="10515600" cy="3444973"/>
          </a:xfrm>
        </p:spPr>
      </p:pic>
    </p:spTree>
    <p:extLst>
      <p:ext uri="{BB962C8B-B14F-4D97-AF65-F5344CB8AC3E}">
        <p14:creationId xmlns:p14="http://schemas.microsoft.com/office/powerpoint/2010/main" val="36384456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DE1466A-4DAD-944A-80B6-5A9374DA042B}"/>
              </a:ext>
            </a:extLst>
          </p:cNvPr>
          <p:cNvPicPr>
            <a:picLocks noChangeAspect="1"/>
          </p:cNvPicPr>
          <p:nvPr/>
        </p:nvPicPr>
        <p:blipFill>
          <a:blip r:embed="rId2"/>
          <a:stretch>
            <a:fillRect/>
          </a:stretch>
        </p:blipFill>
        <p:spPr>
          <a:xfrm>
            <a:off x="326754" y="726806"/>
            <a:ext cx="10906453" cy="2934668"/>
          </a:xfrm>
          <a:prstGeom prst="rect">
            <a:avLst/>
          </a:prstGeom>
        </p:spPr>
      </p:pic>
      <p:sp>
        <p:nvSpPr>
          <p:cNvPr id="10" name="Content Placeholder 4">
            <a:extLst>
              <a:ext uri="{FF2B5EF4-FFF2-40B4-BE49-F238E27FC236}">
                <a16:creationId xmlns:a16="http://schemas.microsoft.com/office/drawing/2014/main" id="{431A7486-A598-7348-BDFA-E0DF7893F54B}"/>
              </a:ext>
            </a:extLst>
          </p:cNvPr>
          <p:cNvSpPr>
            <a:spLocks noGrp="1"/>
          </p:cNvSpPr>
          <p:nvPr>
            <p:ph idx="1"/>
          </p:nvPr>
        </p:nvSpPr>
        <p:spPr>
          <a:xfrm>
            <a:off x="522180" y="4097740"/>
            <a:ext cx="10711027" cy="2265928"/>
          </a:xfrm>
        </p:spPr>
        <p:txBody>
          <a:bodyPr>
            <a:normAutofit lnSpcReduction="10000"/>
          </a:bodyPr>
          <a:lstStyle/>
          <a:p>
            <a:pPr marL="0" indent="0">
              <a:lnSpc>
                <a:spcPct val="150000"/>
              </a:lnSpc>
              <a:buNone/>
            </a:pPr>
            <a:r>
              <a:rPr lang="en-GB" sz="3200" spc="80" dirty="0">
                <a:solidFill>
                  <a:schemeClr val="tx1">
                    <a:lumMod val="85000"/>
                    <a:lumOff val="15000"/>
                  </a:schemeClr>
                </a:solidFill>
                <a:latin typeface="Helvetica Neue Light" panose="02000403000000020004" pitchFamily="2" charset="0"/>
                <a:ea typeface="Helvetica Neue Light" panose="02000403000000020004" pitchFamily="2" charset="0"/>
              </a:rPr>
              <a:t>I will attempt to fill in gaps as we go, this module is broad introduction not a deep dive, don’t let the above “tip” put you off !!</a:t>
            </a:r>
            <a:endParaRPr lang="en-GB" sz="3200"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500530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Installation </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p:txBody>
          <a:bodyPr>
            <a:normAutofit lnSpcReduction="10000"/>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There are four primary ways of adding </a:t>
            </a:r>
            <a:r>
              <a:rPr lang="en-GB" dirty="0" err="1">
                <a:latin typeface="Helvetica Neue Light" panose="02000403000000020004" pitchFamily="2" charset="0"/>
                <a:ea typeface="Helvetica Neue Light" panose="02000403000000020004" pitchFamily="2" charset="0"/>
              </a:rPr>
              <a:t>Vue.js</a:t>
            </a:r>
            <a:r>
              <a:rPr lang="en-GB" dirty="0">
                <a:latin typeface="Helvetica Neue Light" panose="02000403000000020004" pitchFamily="2" charset="0"/>
                <a:ea typeface="Helvetica Neue Light" panose="02000403000000020004" pitchFamily="2" charset="0"/>
              </a:rPr>
              <a:t> to a project:</a:t>
            </a:r>
          </a:p>
          <a:p>
            <a:pPr marL="514350" indent="-514350">
              <a:lnSpc>
                <a:spcPct val="150000"/>
              </a:lnSpc>
              <a:buFont typeface="+mj-lt"/>
              <a:buAutoNum type="arabicPeriod"/>
            </a:pPr>
            <a:r>
              <a:rPr lang="en-GB" dirty="0">
                <a:latin typeface="Helvetica Neue Light" panose="02000403000000020004" pitchFamily="2" charset="0"/>
                <a:ea typeface="Helvetica Neue Light" panose="02000403000000020004" pitchFamily="2" charset="0"/>
              </a:rPr>
              <a:t>Import it as a CDN package on the page</a:t>
            </a:r>
          </a:p>
          <a:p>
            <a:pPr marL="514350" indent="-514350">
              <a:lnSpc>
                <a:spcPct val="150000"/>
              </a:lnSpc>
              <a:buFont typeface="+mj-lt"/>
              <a:buAutoNum type="arabicPeriod"/>
            </a:pPr>
            <a:r>
              <a:rPr lang="en-GB" dirty="0">
                <a:latin typeface="Helvetica Neue Light" panose="02000403000000020004" pitchFamily="2" charset="0"/>
                <a:ea typeface="Helvetica Neue Light" panose="02000403000000020004" pitchFamily="2" charset="0"/>
              </a:rPr>
              <a:t>Download the JavaScript files and host them yourself</a:t>
            </a:r>
          </a:p>
          <a:p>
            <a:pPr marL="514350" indent="-514350">
              <a:lnSpc>
                <a:spcPct val="150000"/>
              </a:lnSpc>
              <a:buFont typeface="+mj-lt"/>
              <a:buAutoNum type="arabicPeriod"/>
            </a:pPr>
            <a:r>
              <a:rPr lang="en-GB" dirty="0">
                <a:latin typeface="Helvetica Neue Light" panose="02000403000000020004" pitchFamily="2" charset="0"/>
                <a:ea typeface="Helvetica Neue Light" panose="02000403000000020004" pitchFamily="2" charset="0"/>
              </a:rPr>
              <a:t>Install it using npm</a:t>
            </a:r>
          </a:p>
          <a:p>
            <a:pPr marL="514350" indent="-514350">
              <a:lnSpc>
                <a:spcPct val="150000"/>
              </a:lnSpc>
              <a:buFont typeface="+mj-lt"/>
              <a:buAutoNum type="arabicPeriod"/>
            </a:pPr>
            <a:r>
              <a:rPr lang="en-GB" dirty="0">
                <a:latin typeface="Helvetica Neue Light" panose="02000403000000020004" pitchFamily="2" charset="0"/>
                <a:ea typeface="Helvetica Neue Light" panose="02000403000000020004" pitchFamily="2" charset="0"/>
              </a:rPr>
              <a:t>Use the official CLI to scaffold a project, which provides batteries-included build setups for a modern frontend workflow.</a:t>
            </a:r>
          </a:p>
          <a:p>
            <a:pPr marL="0" indent="0">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1113642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Using CDN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1429432"/>
            <a:ext cx="10515600" cy="1325564"/>
          </a:xfrm>
        </p:spPr>
        <p:txBody>
          <a:bodyPr>
            <a:normAutofit/>
          </a:bodyPr>
          <a:lstStyle/>
          <a:p>
            <a:pPr marL="0" indent="0">
              <a:lnSpc>
                <a:spcPct val="150000"/>
              </a:lnSpc>
              <a:buNone/>
            </a:pP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The following exercise can be caried out on your G Drive, we do not need to run our own server (yet).</a:t>
            </a:r>
            <a:endParaRPr lang="en-GB" sz="2400"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4FF25A1F-D132-2F6E-81DD-153ADDD8E747}"/>
              </a:ext>
            </a:extLst>
          </p:cNvPr>
          <p:cNvPicPr>
            <a:picLocks noChangeAspect="1"/>
          </p:cNvPicPr>
          <p:nvPr/>
        </p:nvPicPr>
        <p:blipFill>
          <a:blip r:embed="rId2"/>
          <a:stretch>
            <a:fillRect/>
          </a:stretch>
        </p:blipFill>
        <p:spPr>
          <a:xfrm>
            <a:off x="967409" y="2754995"/>
            <a:ext cx="9680405" cy="3049457"/>
          </a:xfrm>
          <a:prstGeom prst="rect">
            <a:avLst/>
          </a:prstGeom>
          <a:ln>
            <a:solidFill>
              <a:schemeClr val="bg1">
                <a:lumMod val="65000"/>
              </a:schemeClr>
            </a:solidFill>
          </a:ln>
        </p:spPr>
      </p:pic>
      <p:sp>
        <p:nvSpPr>
          <p:cNvPr id="6" name="TextBox 5">
            <a:extLst>
              <a:ext uri="{FF2B5EF4-FFF2-40B4-BE49-F238E27FC236}">
                <a16:creationId xmlns:a16="http://schemas.microsoft.com/office/drawing/2014/main" id="{1D47E9AF-24B8-A0FE-B248-F74FF2AA446B}"/>
              </a:ext>
            </a:extLst>
          </p:cNvPr>
          <p:cNvSpPr txBox="1"/>
          <p:nvPr/>
        </p:nvSpPr>
        <p:spPr>
          <a:xfrm>
            <a:off x="967409" y="6123543"/>
            <a:ext cx="7394713" cy="369332"/>
          </a:xfrm>
          <a:prstGeom prst="rect">
            <a:avLst/>
          </a:prstGeom>
          <a:noFill/>
        </p:spPr>
        <p:txBody>
          <a:bodyPr wrap="square" rtlCol="0">
            <a:spAutoFit/>
          </a:bodyPr>
          <a:lstStyle/>
          <a:p>
            <a:r>
              <a:rPr lang="en-US" dirty="0">
                <a:hlinkClick r:id="rId3"/>
              </a:rPr>
              <a:t>https://vuejs.org/guide/quick-start.html</a:t>
            </a:r>
            <a:endParaRPr lang="en-US" dirty="0"/>
          </a:p>
        </p:txBody>
      </p:sp>
    </p:spTree>
    <p:extLst>
      <p:ext uri="{BB962C8B-B14F-4D97-AF65-F5344CB8AC3E}">
        <p14:creationId xmlns:p14="http://schemas.microsoft.com/office/powerpoint/2010/main" val="2152908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Hello Vue !!</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4613298"/>
            <a:ext cx="10515600" cy="1603375"/>
          </a:xfrm>
        </p:spPr>
        <p:txBody>
          <a:bodyPr>
            <a:normAutofit fontScale="77500" lnSpcReduction="20000"/>
          </a:bodyPr>
          <a:lstStyle/>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Our basic Vue app needs an </a:t>
            </a:r>
            <a:r>
              <a:rPr lang="en-GB" spc="80" dirty="0" err="1">
                <a:solidFill>
                  <a:schemeClr val="tx1">
                    <a:lumMod val="85000"/>
                    <a:lumOff val="15000"/>
                  </a:schemeClr>
                </a:solidFill>
                <a:latin typeface="Helvetica Neue Light" panose="02000403000000020004" pitchFamily="2" charset="0"/>
                <a:ea typeface="Helvetica Neue Light" panose="02000403000000020004" pitchFamily="2" charset="0"/>
              </a:rPr>
              <a:t>index.html</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a:t>
            </a:r>
            <a:r>
              <a:rPr lang="en-GB" spc="80" dirty="0" err="1">
                <a:solidFill>
                  <a:schemeClr val="tx1">
                    <a:lumMod val="85000"/>
                    <a:lumOff val="15000"/>
                  </a:schemeClr>
                </a:solidFill>
                <a:latin typeface="Helvetica Neue Light" panose="02000403000000020004" pitchFamily="2" charset="0"/>
                <a:ea typeface="Helvetica Neue Light" panose="02000403000000020004" pitchFamily="2" charset="0"/>
              </a:rPr>
              <a:t>style.css</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and </a:t>
            </a:r>
            <a:r>
              <a:rPr lang="en-GB" spc="80" dirty="0" err="1">
                <a:solidFill>
                  <a:schemeClr val="tx1">
                    <a:lumMod val="85000"/>
                    <a:lumOff val="15000"/>
                  </a:schemeClr>
                </a:solidFill>
                <a:latin typeface="Helvetica Neue Light" panose="02000403000000020004" pitchFamily="2" charset="0"/>
                <a:ea typeface="Helvetica Neue Light" panose="02000403000000020004" pitchFamily="2" charset="0"/>
              </a:rPr>
              <a:t>script.js</a:t>
            </a:r>
            <a:endPar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Create all these files in VS code in a folder “</a:t>
            </a:r>
            <a:r>
              <a:rPr lang="en-GB" spc="80" dirty="0" err="1">
                <a:solidFill>
                  <a:schemeClr val="tx1">
                    <a:lumMod val="85000"/>
                    <a:lumOff val="15000"/>
                  </a:schemeClr>
                </a:solidFill>
                <a:latin typeface="Helvetica Neue Light" panose="02000403000000020004" pitchFamily="2" charset="0"/>
                <a:ea typeface="Helvetica Neue Light" panose="02000403000000020004" pitchFamily="2" charset="0"/>
              </a:rPr>
              <a:t>helloVue</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on your </a:t>
            </a:r>
            <a:r>
              <a:rPr lang="en-GB" b="1" spc="80" dirty="0">
                <a:solidFill>
                  <a:srgbClr val="D3473F"/>
                </a:solidFill>
                <a:latin typeface="Helvetica Neue Light" panose="02000403000000020004" pitchFamily="2" charset="0"/>
                <a:ea typeface="Helvetica Neue Light" panose="02000403000000020004" pitchFamily="2" charset="0"/>
              </a:rPr>
              <a:t>G Drive </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perhaps in a COMP1842 folder</a:t>
            </a: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AAFA4252-EC29-1FF4-DF43-0C462EA6B585}"/>
              </a:ext>
            </a:extLst>
          </p:cNvPr>
          <p:cNvPicPr>
            <a:picLocks noChangeAspect="1"/>
          </p:cNvPicPr>
          <p:nvPr/>
        </p:nvPicPr>
        <p:blipFill>
          <a:blip r:embed="rId2"/>
          <a:stretch>
            <a:fillRect/>
          </a:stretch>
        </p:blipFill>
        <p:spPr>
          <a:xfrm>
            <a:off x="838200" y="1751358"/>
            <a:ext cx="10515600" cy="2390915"/>
          </a:xfrm>
          <a:prstGeom prst="rect">
            <a:avLst/>
          </a:prstGeom>
          <a:ln>
            <a:solidFill>
              <a:schemeClr val="bg1">
                <a:lumMod val="65000"/>
              </a:schemeClr>
            </a:solidFill>
          </a:ln>
        </p:spPr>
      </p:pic>
    </p:spTree>
    <p:extLst>
      <p:ext uri="{BB962C8B-B14F-4D97-AF65-F5344CB8AC3E}">
        <p14:creationId xmlns:p14="http://schemas.microsoft.com/office/powerpoint/2010/main" val="329405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44157"/>
            <a:ext cx="10515600" cy="626767"/>
          </a:xfrm>
        </p:spPr>
        <p:txBody>
          <a:bodyPr>
            <a:normAutofit fontScale="90000"/>
          </a:bodyPr>
          <a:lstStyle/>
          <a:p>
            <a:r>
              <a:rPr lang="en-US" sz="4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Index.html</a:t>
            </a:r>
            <a:endPar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5118949"/>
            <a:ext cx="10515600" cy="1594894"/>
          </a:xfrm>
        </p:spPr>
        <p:txBody>
          <a:bodyPr>
            <a:normAutofit fontScale="85000" lnSpcReduction="10000"/>
          </a:bodyPr>
          <a:lstStyle/>
          <a:p>
            <a:pPr marL="0" indent="0">
              <a:lnSpc>
                <a:spcPct val="150000"/>
              </a:lnSpc>
              <a:buNone/>
            </a:pPr>
            <a:r>
              <a:rPr lang="en-GB" sz="2200" spc="80" dirty="0">
                <a:solidFill>
                  <a:schemeClr val="tx1">
                    <a:lumMod val="85000"/>
                    <a:lumOff val="15000"/>
                  </a:schemeClr>
                </a:solidFill>
                <a:latin typeface="Helvetica Neue Light" panose="02000403000000020004" pitchFamily="2" charset="0"/>
                <a:ea typeface="Helvetica Neue Light" panose="02000403000000020004" pitchFamily="2" charset="0"/>
              </a:rPr>
              <a:t>Line 8: Connect to the Vue library using CDN</a:t>
            </a:r>
          </a:p>
          <a:p>
            <a:pPr marL="0" indent="0">
              <a:lnSpc>
                <a:spcPct val="150000"/>
              </a:lnSpc>
              <a:buNone/>
            </a:pPr>
            <a:r>
              <a:rPr lang="en-GB" sz="2400" b="0" dirty="0">
                <a:solidFill>
                  <a:srgbClr val="F8F8F2"/>
                </a:solidFill>
                <a:effectLst/>
                <a:highlight>
                  <a:srgbClr val="000000"/>
                </a:highlight>
                <a:latin typeface="Menlo" panose="020B0609030804020204" pitchFamily="49" charset="0"/>
              </a:rPr>
              <a:t>&lt;</a:t>
            </a:r>
            <a:r>
              <a:rPr lang="en-GB" sz="2400" b="0" dirty="0">
                <a:solidFill>
                  <a:srgbClr val="F92672"/>
                </a:solidFill>
                <a:effectLst/>
                <a:highlight>
                  <a:srgbClr val="000000"/>
                </a:highlight>
                <a:latin typeface="Menlo" panose="020B0609030804020204" pitchFamily="49" charset="0"/>
              </a:rPr>
              <a:t>script</a:t>
            </a:r>
            <a:r>
              <a:rPr lang="en-GB" sz="2400" b="0" dirty="0">
                <a:solidFill>
                  <a:srgbClr val="F8F8F2"/>
                </a:solidFill>
                <a:effectLst/>
                <a:highlight>
                  <a:srgbClr val="000000"/>
                </a:highlight>
                <a:latin typeface="Menlo" panose="020B0609030804020204" pitchFamily="49" charset="0"/>
              </a:rPr>
              <a:t> </a:t>
            </a:r>
            <a:r>
              <a:rPr lang="en-GB" sz="2400" b="0" dirty="0" err="1">
                <a:solidFill>
                  <a:srgbClr val="A6E22E"/>
                </a:solidFill>
                <a:effectLst/>
                <a:highlight>
                  <a:srgbClr val="000000"/>
                </a:highlight>
                <a:latin typeface="Menlo" panose="020B0609030804020204" pitchFamily="49" charset="0"/>
              </a:rPr>
              <a:t>src</a:t>
            </a:r>
            <a:r>
              <a:rPr lang="en-GB" sz="2400" b="0" dirty="0">
                <a:solidFill>
                  <a:srgbClr val="F8F8F2"/>
                </a:solidFill>
                <a:effectLst/>
                <a:highlight>
                  <a:srgbClr val="000000"/>
                </a:highlight>
                <a:latin typeface="Menlo" panose="020B0609030804020204" pitchFamily="49" charset="0"/>
              </a:rPr>
              <a:t>=</a:t>
            </a:r>
            <a:r>
              <a:rPr lang="en-GB" sz="2400" b="0" dirty="0">
                <a:solidFill>
                  <a:srgbClr val="E6DB74"/>
                </a:solidFill>
                <a:effectLst/>
                <a:highlight>
                  <a:srgbClr val="000000"/>
                </a:highlight>
                <a:latin typeface="Menlo" panose="020B0609030804020204" pitchFamily="49" charset="0"/>
              </a:rPr>
              <a:t>"https://</a:t>
            </a:r>
            <a:r>
              <a:rPr lang="en-GB" sz="2400" b="0" dirty="0" err="1">
                <a:solidFill>
                  <a:srgbClr val="E6DB74"/>
                </a:solidFill>
                <a:effectLst/>
                <a:highlight>
                  <a:srgbClr val="000000"/>
                </a:highlight>
                <a:latin typeface="Menlo" panose="020B0609030804020204" pitchFamily="49" charset="0"/>
              </a:rPr>
              <a:t>unpkg.com</a:t>
            </a:r>
            <a:r>
              <a:rPr lang="en-GB" sz="2400" b="0" dirty="0">
                <a:solidFill>
                  <a:srgbClr val="E6DB74"/>
                </a:solidFill>
                <a:effectLst/>
                <a:highlight>
                  <a:srgbClr val="000000"/>
                </a:highlight>
                <a:latin typeface="Menlo" panose="020B0609030804020204" pitchFamily="49" charset="0"/>
              </a:rPr>
              <a:t>/vue@3/</a:t>
            </a:r>
            <a:r>
              <a:rPr lang="en-GB" sz="2400" b="0" dirty="0" err="1">
                <a:solidFill>
                  <a:srgbClr val="E6DB74"/>
                </a:solidFill>
                <a:effectLst/>
                <a:highlight>
                  <a:srgbClr val="000000"/>
                </a:highlight>
                <a:latin typeface="Menlo" panose="020B0609030804020204" pitchFamily="49" charset="0"/>
              </a:rPr>
              <a:t>dist</a:t>
            </a:r>
            <a:r>
              <a:rPr lang="en-GB" sz="2400" b="0" dirty="0">
                <a:solidFill>
                  <a:srgbClr val="E6DB74"/>
                </a:solidFill>
                <a:effectLst/>
                <a:highlight>
                  <a:srgbClr val="000000"/>
                </a:highlight>
                <a:latin typeface="Menlo" panose="020B0609030804020204" pitchFamily="49" charset="0"/>
              </a:rPr>
              <a:t>/</a:t>
            </a:r>
            <a:r>
              <a:rPr lang="en-GB" sz="2400" b="0" dirty="0" err="1">
                <a:solidFill>
                  <a:srgbClr val="E6DB74"/>
                </a:solidFill>
                <a:effectLst/>
                <a:highlight>
                  <a:srgbClr val="000000"/>
                </a:highlight>
                <a:latin typeface="Menlo" panose="020B0609030804020204" pitchFamily="49" charset="0"/>
              </a:rPr>
              <a:t>vue.global.js</a:t>
            </a:r>
            <a:r>
              <a:rPr lang="en-GB" sz="2400" b="0" dirty="0">
                <a:solidFill>
                  <a:srgbClr val="E6DB74"/>
                </a:solidFill>
                <a:effectLst/>
                <a:highlight>
                  <a:srgbClr val="000000"/>
                </a:highlight>
                <a:latin typeface="Menlo" panose="020B0609030804020204" pitchFamily="49" charset="0"/>
              </a:rPr>
              <a:t>"</a:t>
            </a:r>
            <a:r>
              <a:rPr lang="en-GB" sz="2400" b="0" dirty="0">
                <a:solidFill>
                  <a:srgbClr val="F8F8F2"/>
                </a:solidFill>
                <a:effectLst/>
                <a:highlight>
                  <a:srgbClr val="000000"/>
                </a:highlight>
                <a:latin typeface="Menlo" panose="020B0609030804020204" pitchFamily="49" charset="0"/>
              </a:rPr>
              <a:t>&gt;&lt;/</a:t>
            </a:r>
            <a:r>
              <a:rPr lang="en-GB" sz="2400" b="0" dirty="0">
                <a:solidFill>
                  <a:srgbClr val="D3473F"/>
                </a:solidFill>
                <a:effectLst/>
                <a:highlight>
                  <a:srgbClr val="000000"/>
                </a:highlight>
                <a:latin typeface="Menlo" panose="020B0609030804020204" pitchFamily="49" charset="0"/>
              </a:rPr>
              <a:t>script</a:t>
            </a:r>
            <a:r>
              <a:rPr lang="en-GB" sz="2400" b="0" dirty="0">
                <a:solidFill>
                  <a:srgbClr val="F8F8F2"/>
                </a:solidFill>
                <a:effectLst/>
                <a:highlight>
                  <a:srgbClr val="000000"/>
                </a:highlight>
                <a:latin typeface="Menlo" panose="020B0609030804020204" pitchFamily="49" charset="0"/>
              </a:rPr>
              <a:t>&gt;</a:t>
            </a:r>
            <a:endParaRPr lang="en-GB" sz="2200"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r>
              <a:rPr lang="en-GB" sz="2200" spc="80" dirty="0">
                <a:solidFill>
                  <a:schemeClr val="tx1">
                    <a:lumMod val="85000"/>
                    <a:lumOff val="15000"/>
                  </a:schemeClr>
                </a:solidFill>
                <a:latin typeface="Helvetica Neue Light" panose="02000403000000020004" pitchFamily="2" charset="0"/>
                <a:ea typeface="Helvetica Neue Light" panose="02000403000000020004" pitchFamily="2" charset="0"/>
              </a:rPr>
              <a:t>Line15: import our script file</a:t>
            </a:r>
            <a:endParaRPr lang="en-GB" sz="2200" spc="8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A82DDF2B-F3E4-5562-425E-FC224ADAD085}"/>
              </a:ext>
            </a:extLst>
          </p:cNvPr>
          <p:cNvPicPr>
            <a:picLocks noChangeAspect="1"/>
          </p:cNvPicPr>
          <p:nvPr/>
        </p:nvPicPr>
        <p:blipFill>
          <a:blip r:embed="rId2"/>
          <a:stretch>
            <a:fillRect/>
          </a:stretch>
        </p:blipFill>
        <p:spPr>
          <a:xfrm>
            <a:off x="838200" y="770924"/>
            <a:ext cx="7772400" cy="4190696"/>
          </a:xfrm>
          <a:prstGeom prst="rect">
            <a:avLst/>
          </a:prstGeom>
        </p:spPr>
      </p:pic>
    </p:spTree>
    <p:extLst>
      <p:ext uri="{BB962C8B-B14F-4D97-AF65-F5344CB8AC3E}">
        <p14:creationId xmlns:p14="http://schemas.microsoft.com/office/powerpoint/2010/main" val="3131649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5"/>
            <a:ext cx="10515600" cy="626767"/>
          </a:xfrm>
        </p:spPr>
        <p:txBody>
          <a:bodyPr>
            <a:normAutofit fontScale="90000"/>
          </a:bodyPr>
          <a:lstStyle/>
          <a:p>
            <a:r>
              <a:rPr lang="en-US" sz="4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Index.html</a:t>
            </a:r>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…detail</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3496693"/>
            <a:ext cx="10227429" cy="2570892"/>
          </a:xfrm>
        </p:spPr>
        <p:txBody>
          <a:bodyPr>
            <a:normAutofit fontScale="92500" lnSpcReduction="10000"/>
          </a:bodyPr>
          <a:lstStyle/>
          <a:p>
            <a:pPr marL="0" indent="0">
              <a:lnSpc>
                <a:spcPct val="150000"/>
              </a:lnSpc>
              <a:buNone/>
            </a:pPr>
            <a:r>
              <a:rPr lang="en-GB" b="1" dirty="0">
                <a:latin typeface="HELVETICA NEUE LIGHT" panose="02000403000000020004" pitchFamily="2" charset="0"/>
                <a:ea typeface="HELVETICA NEUE LIGHT" panose="02000403000000020004" pitchFamily="2" charset="0"/>
              </a:rPr>
              <a:t>Declarative Rendering</a:t>
            </a:r>
          </a:p>
          <a:p>
            <a:pPr marL="0" indent="0">
              <a:lnSpc>
                <a:spcPct val="150000"/>
              </a:lnSpc>
              <a:buNone/>
            </a:pPr>
            <a:r>
              <a:rPr lang="en-GB" dirty="0">
                <a:latin typeface="Helvetica Neue Light" panose="02000403000000020004" pitchFamily="2" charset="0"/>
                <a:ea typeface="Helvetica Neue Light" panose="02000403000000020004" pitchFamily="2" charset="0"/>
              </a:rPr>
              <a:t>At the core of </a:t>
            </a:r>
            <a:r>
              <a:rPr lang="en-GB" dirty="0" err="1">
                <a:latin typeface="Helvetica Neue Light" panose="02000403000000020004" pitchFamily="2" charset="0"/>
                <a:ea typeface="Helvetica Neue Light" panose="02000403000000020004" pitchFamily="2" charset="0"/>
              </a:rPr>
              <a:t>Vue.js</a:t>
            </a:r>
            <a:r>
              <a:rPr lang="en-GB" dirty="0">
                <a:latin typeface="Helvetica Neue Light" panose="02000403000000020004" pitchFamily="2" charset="0"/>
                <a:ea typeface="Helvetica Neue Light" panose="02000403000000020004" pitchFamily="2" charset="0"/>
              </a:rPr>
              <a:t> is a system that enables us to declaratively render data to the DOM using straightforward template syntax:</a:t>
            </a:r>
          </a:p>
          <a:p>
            <a:pPr marL="0" indent="0">
              <a:lnSpc>
                <a:spcPct val="150000"/>
              </a:lnSpc>
              <a:buNone/>
            </a:pPr>
            <a:r>
              <a:rPr lang="en-GB" dirty="0">
                <a:latin typeface="Helvetica Neue Light" panose="02000403000000020004" pitchFamily="2" charset="0"/>
                <a:ea typeface="Helvetica Neue Light" panose="02000403000000020004" pitchFamily="2" charset="0"/>
              </a:rPr>
              <a:t>See line 12 – this is also called moustache syntax </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E475E2BC-D930-8439-23C7-E71AEADFC20C}"/>
              </a:ext>
            </a:extLst>
          </p:cNvPr>
          <p:cNvPicPr>
            <a:picLocks noChangeAspect="1"/>
          </p:cNvPicPr>
          <p:nvPr/>
        </p:nvPicPr>
        <p:blipFill>
          <a:blip r:embed="rId2"/>
          <a:stretch>
            <a:fillRect/>
          </a:stretch>
        </p:blipFill>
        <p:spPr>
          <a:xfrm>
            <a:off x="838199" y="1194610"/>
            <a:ext cx="9589646" cy="2038920"/>
          </a:xfrm>
          <a:prstGeom prst="rect">
            <a:avLst/>
          </a:prstGeom>
        </p:spPr>
      </p:pic>
    </p:spTree>
    <p:extLst>
      <p:ext uri="{BB962C8B-B14F-4D97-AF65-F5344CB8AC3E}">
        <p14:creationId xmlns:p14="http://schemas.microsoft.com/office/powerpoint/2010/main" val="3574375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515052"/>
            <a:ext cx="10515600" cy="626767"/>
          </a:xfrm>
        </p:spPr>
        <p:txBody>
          <a:bodyPr>
            <a:no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Remember</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4803854"/>
            <a:ext cx="10227429" cy="1068471"/>
          </a:xfrm>
        </p:spPr>
        <p:txBody>
          <a:bodyPr>
            <a:normAutofit fontScale="85000" lnSpcReduction="20000"/>
          </a:bodyPr>
          <a:lstStyle/>
          <a:p>
            <a:pPr marL="0" indent="0">
              <a:lnSpc>
                <a:spcPct val="150000"/>
              </a:lnSpc>
              <a:buNone/>
            </a:pPr>
            <a:r>
              <a:rPr lang="en-GB" dirty="0">
                <a:latin typeface="Helvetica Neue Light" panose="02000403000000020004" pitchFamily="2" charset="0"/>
                <a:ea typeface="Helvetica Neue Light" panose="02000403000000020004" pitchFamily="2" charset="0"/>
                <a:cs typeface="Helvetica Neue" panose="02000503000000020004" pitchFamily="2" charset="0"/>
              </a:rPr>
              <a:t>Use the html:5 boilerplate when creating a new html doc to save a lot of typing !</a:t>
            </a: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C46D4731-ACF7-594A-BE2E-61D14418596F}"/>
              </a:ext>
            </a:extLst>
          </p:cNvPr>
          <p:cNvPicPr>
            <a:picLocks noChangeAspect="1"/>
          </p:cNvPicPr>
          <p:nvPr/>
        </p:nvPicPr>
        <p:blipFill>
          <a:blip r:embed="rId2"/>
          <a:stretch>
            <a:fillRect/>
          </a:stretch>
        </p:blipFill>
        <p:spPr>
          <a:xfrm>
            <a:off x="838200" y="1519910"/>
            <a:ext cx="10867372" cy="2680129"/>
          </a:xfrm>
          <a:prstGeom prst="rect">
            <a:avLst/>
          </a:prstGeom>
        </p:spPr>
      </p:pic>
    </p:spTree>
    <p:extLst>
      <p:ext uri="{BB962C8B-B14F-4D97-AF65-F5344CB8AC3E}">
        <p14:creationId xmlns:p14="http://schemas.microsoft.com/office/powerpoint/2010/main" val="399782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90697"/>
            <a:ext cx="10515600" cy="1325563"/>
          </a:xfrm>
        </p:spPr>
        <p:txBody>
          <a:bodyPr>
            <a:normAutofit/>
          </a:bodyPr>
          <a:lstStyle/>
          <a:p>
            <a:r>
              <a:rPr lang="en-US" sz="6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style.css</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5773649"/>
            <a:ext cx="10515600" cy="893654"/>
          </a:xfrm>
        </p:spPr>
        <p:txBody>
          <a:bodyPr>
            <a:normAutofit/>
          </a:bodyPr>
          <a:lstStyle/>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Some basic styling to the class ‘demo’</a:t>
            </a: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3925D4A2-29B6-228B-ECA9-5B761CB4B29A}"/>
              </a:ext>
            </a:extLst>
          </p:cNvPr>
          <p:cNvPicPr>
            <a:picLocks noChangeAspect="1"/>
          </p:cNvPicPr>
          <p:nvPr/>
        </p:nvPicPr>
        <p:blipFill>
          <a:blip r:embed="rId2"/>
          <a:stretch>
            <a:fillRect/>
          </a:stretch>
        </p:blipFill>
        <p:spPr>
          <a:xfrm>
            <a:off x="838199" y="1465227"/>
            <a:ext cx="6635334" cy="4308422"/>
          </a:xfrm>
          <a:prstGeom prst="rect">
            <a:avLst/>
          </a:prstGeom>
        </p:spPr>
      </p:pic>
    </p:spTree>
    <p:extLst>
      <p:ext uri="{BB962C8B-B14F-4D97-AF65-F5344CB8AC3E}">
        <p14:creationId xmlns:p14="http://schemas.microsoft.com/office/powerpoint/2010/main" val="3240382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198" y="159543"/>
            <a:ext cx="10515600" cy="1325563"/>
          </a:xfrm>
        </p:spPr>
        <p:txBody>
          <a:bodyPr>
            <a:normAutofit/>
          </a:bodyPr>
          <a:lstStyle/>
          <a:p>
            <a:r>
              <a:rPr lang="en-US" sz="6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script.js</a:t>
            </a:r>
            <a:endPar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5441107"/>
            <a:ext cx="10515599" cy="1325563"/>
          </a:xfrm>
        </p:spPr>
        <p:txBody>
          <a:bodyPr>
            <a:normAutofit/>
          </a:bodyPr>
          <a:lstStyle/>
          <a:p>
            <a:pPr marL="0" indent="0">
              <a:lnSpc>
                <a:spcPct val="150000"/>
              </a:lnSpc>
              <a:buNone/>
            </a:pP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We can get a basic idea of what is happening here. Line 1 is the line that is using the Vue library’s </a:t>
            </a:r>
            <a:r>
              <a:rPr lang="en-GB" sz="2400" spc="80" dirty="0" err="1">
                <a:solidFill>
                  <a:schemeClr val="tx1">
                    <a:lumMod val="85000"/>
                    <a:lumOff val="15000"/>
                  </a:schemeClr>
                </a:solidFill>
                <a:latin typeface="Helvetica Neue Light" panose="02000403000000020004" pitchFamily="2" charset="0"/>
                <a:ea typeface="Helvetica Neue Light" panose="02000403000000020004" pitchFamily="2" charset="0"/>
              </a:rPr>
              <a:t>createApp</a:t>
            </a: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 method</a:t>
            </a:r>
            <a:endParaRPr lang="en-GB" sz="2400"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6" name="Picture 5">
            <a:extLst>
              <a:ext uri="{FF2B5EF4-FFF2-40B4-BE49-F238E27FC236}">
                <a16:creationId xmlns:a16="http://schemas.microsoft.com/office/drawing/2014/main" id="{53B68443-7591-063F-2D94-D116BE49809C}"/>
              </a:ext>
            </a:extLst>
          </p:cNvPr>
          <p:cNvPicPr>
            <a:picLocks noChangeAspect="1"/>
          </p:cNvPicPr>
          <p:nvPr/>
        </p:nvPicPr>
        <p:blipFill>
          <a:blip r:embed="rId2"/>
          <a:stretch>
            <a:fillRect/>
          </a:stretch>
        </p:blipFill>
        <p:spPr>
          <a:xfrm>
            <a:off x="838199" y="1485106"/>
            <a:ext cx="4860236" cy="3914382"/>
          </a:xfrm>
          <a:prstGeom prst="rect">
            <a:avLst/>
          </a:prstGeom>
        </p:spPr>
      </p:pic>
    </p:spTree>
    <p:extLst>
      <p:ext uri="{BB962C8B-B14F-4D97-AF65-F5344CB8AC3E}">
        <p14:creationId xmlns:p14="http://schemas.microsoft.com/office/powerpoint/2010/main" val="161898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Our first Vue app </a:t>
            </a:r>
          </a:p>
        </p:txBody>
      </p:sp>
      <p:sp>
        <p:nvSpPr>
          <p:cNvPr id="5" name="Title 3">
            <a:extLst>
              <a:ext uri="{FF2B5EF4-FFF2-40B4-BE49-F238E27FC236}">
                <a16:creationId xmlns:a16="http://schemas.microsoft.com/office/drawing/2014/main" id="{83FFAEDA-732C-9443-8084-1EB67C9FCA83}"/>
              </a:ext>
            </a:extLst>
          </p:cNvPr>
          <p:cNvSpPr txBox="1">
            <a:spLocks/>
          </p:cNvSpPr>
          <p:nvPr/>
        </p:nvSpPr>
        <p:spPr>
          <a:xfrm>
            <a:off x="838200" y="5167312"/>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Thrilling…I know !</a:t>
            </a:r>
          </a:p>
        </p:txBody>
      </p:sp>
      <p:pic>
        <p:nvPicPr>
          <p:cNvPr id="2" name="Picture 1">
            <a:extLst>
              <a:ext uri="{FF2B5EF4-FFF2-40B4-BE49-F238E27FC236}">
                <a16:creationId xmlns:a16="http://schemas.microsoft.com/office/drawing/2014/main" id="{F2FED47A-95AD-C203-34BE-9F22C25B54B4}"/>
              </a:ext>
            </a:extLst>
          </p:cNvPr>
          <p:cNvPicPr>
            <a:picLocks noChangeAspect="1"/>
          </p:cNvPicPr>
          <p:nvPr/>
        </p:nvPicPr>
        <p:blipFill>
          <a:blip r:embed="rId2"/>
          <a:stretch>
            <a:fillRect/>
          </a:stretch>
        </p:blipFill>
        <p:spPr>
          <a:xfrm>
            <a:off x="952500" y="1796706"/>
            <a:ext cx="10572831" cy="2959782"/>
          </a:xfrm>
          <a:prstGeom prst="rect">
            <a:avLst/>
          </a:prstGeom>
          <a:ln>
            <a:solidFill>
              <a:schemeClr val="bg1">
                <a:lumMod val="50000"/>
              </a:schemeClr>
            </a:solidFill>
          </a:ln>
        </p:spPr>
      </p:pic>
    </p:spTree>
    <p:extLst>
      <p:ext uri="{BB962C8B-B14F-4D97-AF65-F5344CB8AC3E}">
        <p14:creationId xmlns:p14="http://schemas.microsoft.com/office/powerpoint/2010/main" val="130398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766218"/>
            <a:ext cx="10515600" cy="1325563"/>
          </a:xfrm>
        </p:spPr>
        <p:txBody>
          <a:bodyPr>
            <a:normAutofit/>
          </a:bodyPr>
          <a:lstStyle/>
          <a:p>
            <a:pPr algn="ctr"/>
            <a:r>
              <a:rPr lang="en-US" sz="8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Pause for breath</a:t>
            </a:r>
          </a:p>
        </p:txBody>
      </p:sp>
    </p:spTree>
    <p:extLst>
      <p:ext uri="{BB962C8B-B14F-4D97-AF65-F5344CB8AC3E}">
        <p14:creationId xmlns:p14="http://schemas.microsoft.com/office/powerpoint/2010/main" val="612114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Lesson walk through</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2495995"/>
            <a:ext cx="10515600" cy="2919153"/>
          </a:xfrm>
        </p:spPr>
        <p:txBody>
          <a:bodyPr>
            <a:normAutofit/>
          </a:bodyPr>
          <a:lstStyle/>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I will be using the free intro videos at the Vue site for the first few sessions. Link above, no need to re-invent the wheel,</a:t>
            </a:r>
          </a:p>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I will walk through the first one now, you can do the rest in the labs and your own time.</a:t>
            </a:r>
            <a:endParaRPr lang="en-GB" spc="80" dirty="0">
              <a:latin typeface="Helvetica Neue Light" panose="02000403000000020004" pitchFamily="2" charset="0"/>
              <a:ea typeface="Helvetica Neue Light" panose="02000403000000020004" pitchFamily="2" charset="0"/>
            </a:endParaRPr>
          </a:p>
        </p:txBody>
      </p:sp>
      <p:sp>
        <p:nvSpPr>
          <p:cNvPr id="6" name="TextBox 5">
            <a:extLst>
              <a:ext uri="{FF2B5EF4-FFF2-40B4-BE49-F238E27FC236}">
                <a16:creationId xmlns:a16="http://schemas.microsoft.com/office/drawing/2014/main" id="{A7AF57EA-D133-AA7B-D08E-381D04C4B0A3}"/>
              </a:ext>
            </a:extLst>
          </p:cNvPr>
          <p:cNvSpPr txBox="1"/>
          <p:nvPr/>
        </p:nvSpPr>
        <p:spPr>
          <a:xfrm>
            <a:off x="838200" y="1690688"/>
            <a:ext cx="9843052" cy="579069"/>
          </a:xfrm>
          <a:prstGeom prst="rect">
            <a:avLst/>
          </a:prstGeom>
          <a:noFill/>
        </p:spPr>
        <p:txBody>
          <a:bodyPr wrap="square">
            <a:spAutoFit/>
          </a:bodyPr>
          <a:lstStyle/>
          <a:p>
            <a:pPr>
              <a:lnSpc>
                <a:spcPct val="150000"/>
              </a:lnSpc>
            </a:pPr>
            <a:r>
              <a:rPr lang="en-GB" sz="24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hlinkClick r:id="rId2"/>
              </a:rPr>
              <a:t>https://</a:t>
            </a:r>
            <a:r>
              <a:rPr lang="en-GB" sz="2400" u="sng" dirty="0" err="1">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hlinkClick r:id="rId2"/>
              </a:rPr>
              <a:t>www.vuemastery.com</a:t>
            </a:r>
            <a:r>
              <a:rPr lang="en-GB" sz="24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hlinkClick r:id="rId2"/>
              </a:rPr>
              <a:t>/courses/intro-to-vue-3/intro-to-vue3/</a:t>
            </a:r>
            <a:endParaRPr lang="en-GB" sz="2400" u="sng" dirty="0">
              <a:solidFill>
                <a:schemeClr val="accent5">
                  <a:lumMod val="75000"/>
                </a:schemeClr>
              </a:solidFill>
              <a:latin typeface="Georgia" panose="02040502050405020303" pitchFamily="18" charset="0"/>
              <a:ea typeface="Helvetica Neue Light" panose="02000403000000020004" pitchFamily="2" charset="0"/>
              <a:cs typeface="Angsana New" panose="02020603050405020304" pitchFamily="18" charset="-34"/>
            </a:endParaRPr>
          </a:p>
        </p:txBody>
      </p:sp>
    </p:spTree>
    <p:extLst>
      <p:ext uri="{BB962C8B-B14F-4D97-AF65-F5344CB8AC3E}">
        <p14:creationId xmlns:p14="http://schemas.microsoft.com/office/powerpoint/2010/main" val="406000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199" y="225026"/>
            <a:ext cx="10515600" cy="1325563"/>
          </a:xfrm>
        </p:spPr>
        <p:txBody>
          <a:bodyPr>
            <a:normAutofit/>
          </a:bodyPr>
          <a:lstStyle/>
          <a:p>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Lab task - code from Moodle</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199" y="1266672"/>
            <a:ext cx="10515600" cy="933005"/>
          </a:xfrm>
        </p:spPr>
        <p:txBody>
          <a:bodyPr>
            <a:normAutofit fontScale="85000" lnSpcReduction="10000"/>
          </a:bodyPr>
          <a:lstStyle/>
          <a:p>
            <a:pPr marL="0" indent="0">
              <a:lnSpc>
                <a:spcPct val="150000"/>
              </a:lnSpc>
              <a:buNone/>
            </a:pPr>
            <a:r>
              <a:rPr lang="en-GB" dirty="0">
                <a:latin typeface="Helvetica Neue Light" panose="02000403000000020004" pitchFamily="2" charset="0"/>
                <a:ea typeface="Helvetica Neue Light" panose="02000403000000020004" pitchFamily="2" charset="0"/>
              </a:rPr>
              <a:t>Starter code is on Moodle, when you extract it to your G Drive you will have</a:t>
            </a:r>
          </a:p>
        </p:txBody>
      </p:sp>
      <p:sp>
        <p:nvSpPr>
          <p:cNvPr id="6" name="Content Placeholder 4">
            <a:extLst>
              <a:ext uri="{FF2B5EF4-FFF2-40B4-BE49-F238E27FC236}">
                <a16:creationId xmlns:a16="http://schemas.microsoft.com/office/drawing/2014/main" id="{4120940E-3F0B-A344-8E33-34D3F09EE82B}"/>
              </a:ext>
            </a:extLst>
          </p:cNvPr>
          <p:cNvSpPr txBox="1">
            <a:spLocks/>
          </p:cNvSpPr>
          <p:nvPr/>
        </p:nvSpPr>
        <p:spPr>
          <a:xfrm>
            <a:off x="815547" y="3856737"/>
            <a:ext cx="5522844" cy="29073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400" dirty="0">
                <a:latin typeface="Helvetica Neue Light" panose="02000403000000020004" pitchFamily="2" charset="0"/>
                <a:ea typeface="Helvetica Neue Light" panose="02000403000000020004" pitchFamily="2" charset="0"/>
              </a:rPr>
              <a:t>The 2 files we are concerned with are</a:t>
            </a:r>
          </a:p>
          <a:p>
            <a:pPr marL="0" indent="0">
              <a:lnSpc>
                <a:spcPct val="150000"/>
              </a:lnSpc>
              <a:buFont typeface="Arial" panose="020B0604020202020204" pitchFamily="34" charset="0"/>
              <a:buNone/>
            </a:pPr>
            <a:r>
              <a:rPr lang="en-GB" sz="2400" dirty="0" err="1">
                <a:latin typeface="Helvetica Neue Light" panose="02000403000000020004" pitchFamily="2" charset="0"/>
                <a:ea typeface="Helvetica Neue Light" panose="02000403000000020004" pitchFamily="2" charset="0"/>
              </a:rPr>
              <a:t>index.html</a:t>
            </a:r>
            <a:r>
              <a:rPr lang="en-GB" sz="2400" dirty="0">
                <a:latin typeface="Helvetica Neue Light" panose="02000403000000020004" pitchFamily="2" charset="0"/>
                <a:ea typeface="Helvetica Neue Light" panose="02000403000000020004" pitchFamily="2" charset="0"/>
              </a:rPr>
              <a:t> and </a:t>
            </a:r>
            <a:r>
              <a:rPr lang="en-GB" sz="2400" dirty="0" err="1">
                <a:latin typeface="Helvetica Neue Light" panose="02000403000000020004" pitchFamily="2" charset="0"/>
                <a:ea typeface="Helvetica Neue Light" panose="02000403000000020004" pitchFamily="2" charset="0"/>
              </a:rPr>
              <a:t>main.js</a:t>
            </a:r>
            <a:r>
              <a:rPr lang="en-GB" sz="2400" dirty="0">
                <a:latin typeface="Helvetica Neue Light" panose="02000403000000020004" pitchFamily="2" charset="0"/>
                <a:ea typeface="Helvetica Neue Light" panose="02000403000000020004" pitchFamily="2" charset="0"/>
              </a:rPr>
              <a:t>. Open the folder</a:t>
            </a:r>
          </a:p>
          <a:p>
            <a:pPr marL="0" indent="0">
              <a:lnSpc>
                <a:spcPct val="150000"/>
              </a:lnSpc>
              <a:buFont typeface="Arial" panose="020B0604020202020204" pitchFamily="34" charset="0"/>
              <a:buNone/>
            </a:pPr>
            <a:r>
              <a:rPr lang="en-GB" sz="2400" dirty="0">
                <a:latin typeface="Helvetica Neue Light" panose="02000403000000020004" pitchFamily="2" charset="0"/>
                <a:ea typeface="Helvetica Neue Light" panose="02000403000000020004" pitchFamily="2" charset="0"/>
              </a:rPr>
              <a:t>from </a:t>
            </a:r>
            <a:r>
              <a:rPr lang="en-GB" sz="2400" dirty="0" err="1">
                <a:latin typeface="Helvetica Neue Light" panose="02000403000000020004" pitchFamily="2" charset="0"/>
                <a:ea typeface="Helvetica Neue Light" panose="02000403000000020004" pitchFamily="2" charset="0"/>
              </a:rPr>
              <a:t>VSCode</a:t>
            </a:r>
            <a:r>
              <a:rPr lang="en-GB" sz="2400" dirty="0">
                <a:latin typeface="Helvetica Neue Light" panose="02000403000000020004" pitchFamily="2" charset="0"/>
                <a:ea typeface="Helvetica Neue Light" panose="02000403000000020004" pitchFamily="2" charset="0"/>
              </a:rPr>
              <a:t> like we were last term to</a:t>
            </a:r>
          </a:p>
          <a:p>
            <a:pPr marL="0" indent="0">
              <a:lnSpc>
                <a:spcPct val="150000"/>
              </a:lnSpc>
              <a:buFont typeface="Arial" panose="020B0604020202020204" pitchFamily="34" charset="0"/>
              <a:buNone/>
            </a:pPr>
            <a:r>
              <a:rPr lang="en-GB" sz="2400" dirty="0">
                <a:latin typeface="Helvetica Neue Light" panose="02000403000000020004" pitchFamily="2" charset="0"/>
                <a:ea typeface="Helvetica Neue Light" panose="02000403000000020004" pitchFamily="2" charset="0"/>
              </a:rPr>
              <a:t>maintain the file structure</a:t>
            </a:r>
          </a:p>
        </p:txBody>
      </p:sp>
      <p:pic>
        <p:nvPicPr>
          <p:cNvPr id="3" name="Picture 2">
            <a:extLst>
              <a:ext uri="{FF2B5EF4-FFF2-40B4-BE49-F238E27FC236}">
                <a16:creationId xmlns:a16="http://schemas.microsoft.com/office/drawing/2014/main" id="{D8B4BD18-D710-71C5-E5AE-799A48E144AF}"/>
              </a:ext>
            </a:extLst>
          </p:cNvPr>
          <p:cNvPicPr>
            <a:picLocks noChangeAspect="1"/>
          </p:cNvPicPr>
          <p:nvPr/>
        </p:nvPicPr>
        <p:blipFill>
          <a:blip r:embed="rId2"/>
          <a:stretch>
            <a:fillRect/>
          </a:stretch>
        </p:blipFill>
        <p:spPr>
          <a:xfrm>
            <a:off x="920486" y="2054599"/>
            <a:ext cx="10835811" cy="1642794"/>
          </a:xfrm>
          <a:prstGeom prst="rect">
            <a:avLst/>
          </a:prstGeom>
          <a:ln>
            <a:solidFill>
              <a:schemeClr val="bg1">
                <a:lumMod val="50000"/>
              </a:schemeClr>
            </a:solidFill>
          </a:ln>
        </p:spPr>
      </p:pic>
      <p:pic>
        <p:nvPicPr>
          <p:cNvPr id="7" name="Picture 6">
            <a:extLst>
              <a:ext uri="{FF2B5EF4-FFF2-40B4-BE49-F238E27FC236}">
                <a16:creationId xmlns:a16="http://schemas.microsoft.com/office/drawing/2014/main" id="{2471344F-18CA-277A-93C5-F77BBBF31D07}"/>
              </a:ext>
            </a:extLst>
          </p:cNvPr>
          <p:cNvPicPr>
            <a:picLocks noChangeAspect="1"/>
          </p:cNvPicPr>
          <p:nvPr/>
        </p:nvPicPr>
        <p:blipFill rotWithShape="1">
          <a:blip r:embed="rId3"/>
          <a:srcRect r="35050"/>
          <a:stretch/>
        </p:blipFill>
        <p:spPr>
          <a:xfrm>
            <a:off x="6361043" y="3987805"/>
            <a:ext cx="5395254" cy="2645169"/>
          </a:xfrm>
          <a:prstGeom prst="rect">
            <a:avLst/>
          </a:prstGeom>
        </p:spPr>
      </p:pic>
    </p:spTree>
    <p:extLst>
      <p:ext uri="{BB962C8B-B14F-4D97-AF65-F5344CB8AC3E}">
        <p14:creationId xmlns:p14="http://schemas.microsoft.com/office/powerpoint/2010/main" val="633128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17BFA8-3047-B846-3BBD-61C21C284A79}"/>
              </a:ext>
            </a:extLst>
          </p:cNvPr>
          <p:cNvPicPr>
            <a:picLocks noChangeAspect="1"/>
          </p:cNvPicPr>
          <p:nvPr/>
        </p:nvPicPr>
        <p:blipFill>
          <a:blip r:embed="rId2"/>
          <a:stretch>
            <a:fillRect/>
          </a:stretch>
        </p:blipFill>
        <p:spPr>
          <a:xfrm>
            <a:off x="341244" y="280025"/>
            <a:ext cx="7772400" cy="4601672"/>
          </a:xfrm>
          <a:prstGeom prst="rect">
            <a:avLst/>
          </a:prstGeom>
        </p:spPr>
      </p:pic>
      <p:pic>
        <p:nvPicPr>
          <p:cNvPr id="5" name="Picture 4">
            <a:extLst>
              <a:ext uri="{FF2B5EF4-FFF2-40B4-BE49-F238E27FC236}">
                <a16:creationId xmlns:a16="http://schemas.microsoft.com/office/drawing/2014/main" id="{D38AD904-E746-05C2-4054-F3844A97ACCE}"/>
              </a:ext>
            </a:extLst>
          </p:cNvPr>
          <p:cNvPicPr>
            <a:picLocks noChangeAspect="1"/>
          </p:cNvPicPr>
          <p:nvPr/>
        </p:nvPicPr>
        <p:blipFill>
          <a:blip r:embed="rId3"/>
          <a:stretch>
            <a:fillRect/>
          </a:stretch>
        </p:blipFill>
        <p:spPr>
          <a:xfrm>
            <a:off x="341244" y="5114162"/>
            <a:ext cx="5803900" cy="1460500"/>
          </a:xfrm>
          <a:prstGeom prst="rect">
            <a:avLst/>
          </a:prstGeom>
        </p:spPr>
      </p:pic>
    </p:spTree>
    <p:extLst>
      <p:ext uri="{BB962C8B-B14F-4D97-AF65-F5344CB8AC3E}">
        <p14:creationId xmlns:p14="http://schemas.microsoft.com/office/powerpoint/2010/main" val="3031535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710184" y="365125"/>
            <a:ext cx="10957560" cy="2389378"/>
          </a:xfrm>
        </p:spPr>
        <p:txBody>
          <a:bodyPr>
            <a:normAutofit fontScale="85000" lnSpcReduction="10000"/>
          </a:bodyPr>
          <a:lstStyle/>
          <a:p>
            <a:pPr marL="0" indent="0">
              <a:lnSpc>
                <a:spcPct val="150000"/>
              </a:lnSpc>
              <a:buNone/>
            </a:pPr>
            <a:r>
              <a:rPr lang="en-GB" dirty="0">
                <a:latin typeface="Helvetica Neue Light" panose="02000403000000020004" pitchFamily="2" charset="0"/>
                <a:ea typeface="Helvetica Neue Light" panose="02000403000000020004" pitchFamily="2" charset="0"/>
                <a:sym typeface="Wingdings" pitchFamily="2" charset="2"/>
              </a:rPr>
              <a:t>Open and edit </a:t>
            </a:r>
            <a:r>
              <a:rPr lang="en-GB" dirty="0" err="1">
                <a:latin typeface="Helvetica Neue Light" panose="02000403000000020004" pitchFamily="2" charset="0"/>
                <a:ea typeface="Helvetica Neue Light" panose="02000403000000020004" pitchFamily="2" charset="0"/>
                <a:sym typeface="Wingdings" pitchFamily="2" charset="2"/>
              </a:rPr>
              <a:t>main.js</a:t>
            </a:r>
            <a:endParaRPr lang="en-GB" dirty="0">
              <a:latin typeface="Helvetica Neue Light" panose="02000403000000020004" pitchFamily="2" charset="0"/>
              <a:ea typeface="Helvetica Neue Light" panose="02000403000000020004" pitchFamily="2" charset="0"/>
              <a:sym typeface="Wingdings" pitchFamily="2" charset="2"/>
            </a:endParaRPr>
          </a:p>
          <a:p>
            <a:pPr marL="0" indent="0">
              <a:lnSpc>
                <a:spcPct val="150000"/>
              </a:lnSpc>
              <a:buNone/>
            </a:pPr>
            <a:r>
              <a:rPr lang="en-GB" dirty="0">
                <a:latin typeface="Helvetica Neue Light" panose="02000403000000020004" pitchFamily="2" charset="0"/>
                <a:ea typeface="Helvetica Neue Light" panose="02000403000000020004" pitchFamily="2" charset="0"/>
              </a:rPr>
              <a:t>Line 1 we create a constant called app ( remember ’</a:t>
            </a:r>
            <a:r>
              <a:rPr lang="en-GB" dirty="0" err="1">
                <a:latin typeface="Helvetica Neue Light" panose="02000403000000020004" pitchFamily="2" charset="0"/>
                <a:ea typeface="Helvetica Neue Light" panose="02000403000000020004" pitchFamily="2" charset="0"/>
              </a:rPr>
              <a:t>const</a:t>
            </a:r>
            <a:r>
              <a:rPr lang="en-GB" dirty="0">
                <a:latin typeface="Helvetica Neue Light" panose="02000403000000020004" pitchFamily="2" charset="0"/>
                <a:ea typeface="Helvetica Neue Light" panose="02000403000000020004" pitchFamily="2" charset="0"/>
              </a:rPr>
              <a:t>’ is one of the new JS variable types). Then we say ‘Vue’ as we have access to is through the script in the index line 9 and then we use the </a:t>
            </a:r>
            <a:r>
              <a:rPr lang="en-GB" dirty="0" err="1">
                <a:latin typeface="Helvetica Neue Light" panose="02000403000000020004" pitchFamily="2" charset="0"/>
                <a:ea typeface="Helvetica Neue Light" panose="02000403000000020004" pitchFamily="2" charset="0"/>
              </a:rPr>
              <a:t>createApp</a:t>
            </a:r>
            <a:r>
              <a:rPr lang="en-GB" dirty="0">
                <a:latin typeface="Helvetica Neue Light" panose="02000403000000020004" pitchFamily="2" charset="0"/>
                <a:ea typeface="Helvetica Neue Light" panose="02000403000000020004" pitchFamily="2" charset="0"/>
              </a:rPr>
              <a:t> function to create our Vue app.</a:t>
            </a:r>
          </a:p>
        </p:txBody>
      </p:sp>
      <p:pic>
        <p:nvPicPr>
          <p:cNvPr id="3" name="Picture 2">
            <a:extLst>
              <a:ext uri="{FF2B5EF4-FFF2-40B4-BE49-F238E27FC236}">
                <a16:creationId xmlns:a16="http://schemas.microsoft.com/office/drawing/2014/main" id="{9A9234B0-27FD-92D3-6274-94F8E8B7434A}"/>
              </a:ext>
            </a:extLst>
          </p:cNvPr>
          <p:cNvPicPr>
            <a:picLocks noChangeAspect="1"/>
          </p:cNvPicPr>
          <p:nvPr/>
        </p:nvPicPr>
        <p:blipFill>
          <a:blip r:embed="rId2"/>
          <a:stretch>
            <a:fillRect/>
          </a:stretch>
        </p:blipFill>
        <p:spPr>
          <a:xfrm>
            <a:off x="710183" y="2712847"/>
            <a:ext cx="6816031" cy="3877171"/>
          </a:xfrm>
          <a:prstGeom prst="rect">
            <a:avLst/>
          </a:prstGeom>
        </p:spPr>
      </p:pic>
    </p:spTree>
    <p:extLst>
      <p:ext uri="{BB962C8B-B14F-4D97-AF65-F5344CB8AC3E}">
        <p14:creationId xmlns:p14="http://schemas.microsoft.com/office/powerpoint/2010/main" val="3080075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710184" y="365125"/>
            <a:ext cx="10957560" cy="2389378"/>
          </a:xfrm>
        </p:spPr>
        <p:txBody>
          <a:bodyPr>
            <a:normAutofit fontScale="92500" lnSpcReduction="10000"/>
          </a:bodyPr>
          <a:lstStyle/>
          <a:p>
            <a:pPr marL="0" indent="0">
              <a:lnSpc>
                <a:spcPct val="150000"/>
              </a:lnSpc>
              <a:buNone/>
            </a:pPr>
            <a:r>
              <a:rPr lang="en-GB" dirty="0">
                <a:latin typeface="Helvetica Neue Light" panose="02000403000000020004" pitchFamily="2" charset="0"/>
                <a:ea typeface="Helvetica Neue Light" panose="02000403000000020004" pitchFamily="2" charset="0"/>
                <a:sym typeface="Wingdings" pitchFamily="2" charset="2"/>
              </a:rPr>
              <a:t>Line 2: </a:t>
            </a:r>
            <a:r>
              <a:rPr lang="en-GB" dirty="0">
                <a:latin typeface="Helvetica Neue Light" panose="02000403000000020004" pitchFamily="2" charset="0"/>
                <a:ea typeface="Helvetica Neue Light" panose="02000403000000020004" pitchFamily="2" charset="0"/>
              </a:rPr>
              <a:t>As an argument to the </a:t>
            </a:r>
            <a:r>
              <a:rPr lang="en-GB" dirty="0" err="1">
                <a:latin typeface="Helvetica Neue Light" panose="02000403000000020004" pitchFamily="2" charset="0"/>
                <a:ea typeface="Helvetica Neue Light" panose="02000403000000020004" pitchFamily="2" charset="0"/>
              </a:rPr>
              <a:t>createApp</a:t>
            </a:r>
            <a:r>
              <a:rPr lang="en-GB" dirty="0">
                <a:latin typeface="Helvetica Neue Light" panose="02000403000000020004" pitchFamily="2" charset="0"/>
                <a:ea typeface="Helvetica Neue Light" panose="02000403000000020004" pitchFamily="2" charset="0"/>
              </a:rPr>
              <a:t>, we’re going to pass in an object and add a data property. This is going to be a function that returns another object, where we’ll store our data. In here, we’ll add product as a data item. Use your name or username to identify this as your work.</a:t>
            </a:r>
          </a:p>
        </p:txBody>
      </p:sp>
      <p:pic>
        <p:nvPicPr>
          <p:cNvPr id="2" name="Picture 1">
            <a:extLst>
              <a:ext uri="{FF2B5EF4-FFF2-40B4-BE49-F238E27FC236}">
                <a16:creationId xmlns:a16="http://schemas.microsoft.com/office/drawing/2014/main" id="{25BE8E88-7F50-3A27-4F3A-A39CB2A7F315}"/>
              </a:ext>
            </a:extLst>
          </p:cNvPr>
          <p:cNvPicPr>
            <a:picLocks noChangeAspect="1"/>
          </p:cNvPicPr>
          <p:nvPr/>
        </p:nvPicPr>
        <p:blipFill>
          <a:blip r:embed="rId2"/>
          <a:stretch>
            <a:fillRect/>
          </a:stretch>
        </p:blipFill>
        <p:spPr>
          <a:xfrm>
            <a:off x="710184" y="2757621"/>
            <a:ext cx="10873741" cy="3735254"/>
          </a:xfrm>
          <a:prstGeom prst="rect">
            <a:avLst/>
          </a:prstGeom>
        </p:spPr>
      </p:pic>
    </p:spTree>
    <p:extLst>
      <p:ext uri="{BB962C8B-B14F-4D97-AF65-F5344CB8AC3E}">
        <p14:creationId xmlns:p14="http://schemas.microsoft.com/office/powerpoint/2010/main" val="397979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710184" y="365125"/>
            <a:ext cx="10957560" cy="1313307"/>
          </a:xfrm>
        </p:spPr>
        <p:txBody>
          <a:bodyPr>
            <a:normAutofit fontScale="92500"/>
          </a:bodyPr>
          <a:lstStyle/>
          <a:p>
            <a:pPr marL="0" indent="0">
              <a:lnSpc>
                <a:spcPct val="150000"/>
              </a:lnSpc>
              <a:buNone/>
            </a:pPr>
            <a:r>
              <a:rPr lang="en-GB" dirty="0">
                <a:latin typeface="Helvetica Neue Light" panose="02000403000000020004" pitchFamily="2" charset="0"/>
                <a:ea typeface="Helvetica Neue Light" panose="02000403000000020004" pitchFamily="2" charset="0"/>
                <a:sym typeface="Wingdings" pitchFamily="2" charset="2"/>
              </a:rPr>
              <a:t>Back to </a:t>
            </a:r>
            <a:r>
              <a:rPr lang="en-GB" dirty="0" err="1">
                <a:latin typeface="Helvetica Neue Light" panose="02000403000000020004" pitchFamily="2" charset="0"/>
                <a:ea typeface="Helvetica Neue Light" panose="02000403000000020004" pitchFamily="2" charset="0"/>
                <a:sym typeface="Wingdings" pitchFamily="2" charset="2"/>
              </a:rPr>
              <a:t>index.html</a:t>
            </a:r>
            <a:r>
              <a:rPr lang="en-GB" dirty="0">
                <a:latin typeface="Helvetica Neue Light" panose="02000403000000020004" pitchFamily="2" charset="0"/>
                <a:ea typeface="Helvetica Neue Light" panose="02000403000000020004" pitchFamily="2" charset="0"/>
                <a:sym typeface="Wingdings" pitchFamily="2" charset="2"/>
              </a:rPr>
              <a:t>, change comment on line 15 to say Import App, as that is what we are doing. Create a new comment on line17 Mount App</a:t>
            </a:r>
            <a:endParaRPr lang="en-GB" dirty="0">
              <a:latin typeface="Helvetica Neue Light" panose="02000403000000020004" pitchFamily="2" charset="0"/>
              <a:ea typeface="Helvetica Neue Light" panose="02000403000000020004" pitchFamily="2" charset="0"/>
            </a:endParaRPr>
          </a:p>
        </p:txBody>
      </p:sp>
      <p:sp>
        <p:nvSpPr>
          <p:cNvPr id="6" name="TextBox 5">
            <a:extLst>
              <a:ext uri="{FF2B5EF4-FFF2-40B4-BE49-F238E27FC236}">
                <a16:creationId xmlns:a16="http://schemas.microsoft.com/office/drawing/2014/main" id="{D9A1AD90-88A6-8448-A8FC-A21A4C9B85DE}"/>
              </a:ext>
            </a:extLst>
          </p:cNvPr>
          <p:cNvSpPr txBox="1"/>
          <p:nvPr/>
        </p:nvSpPr>
        <p:spPr>
          <a:xfrm>
            <a:off x="760174" y="4704699"/>
            <a:ext cx="10907570" cy="1682512"/>
          </a:xfrm>
          <a:prstGeom prst="rect">
            <a:avLst/>
          </a:prstGeom>
          <a:noFill/>
        </p:spPr>
        <p:txBody>
          <a:bodyPr wrap="square">
            <a:spAutoFit/>
          </a:bodyPr>
          <a:lstStyle/>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Line </a:t>
            </a:r>
            <a:r>
              <a:rPr lang="en-GB" sz="2400" dirty="0">
                <a:solidFill>
                  <a:srgbClr val="000000"/>
                </a:solidFill>
                <a:latin typeface="Helvetica Neue Light" panose="02000403000000020004" pitchFamily="2" charset="0"/>
                <a:ea typeface="Helvetica Neue Light" panose="02000403000000020004" pitchFamily="2" charset="0"/>
              </a:rPr>
              <a:t>19</a:t>
            </a:r>
            <a:r>
              <a:rPr lang="en-GB" sz="2400" dirty="0">
                <a:solidFill>
                  <a:srgbClr val="000000"/>
                </a:solidFill>
                <a:effectLst/>
                <a:latin typeface="Helvetica Neue Light" panose="02000403000000020004" pitchFamily="2" charset="0"/>
                <a:ea typeface="Helvetica Neue Light" panose="02000403000000020004" pitchFamily="2" charset="0"/>
              </a:rPr>
              <a:t>: We’ll say </a:t>
            </a:r>
            <a:r>
              <a:rPr lang="en-GB" sz="2400" dirty="0">
                <a:latin typeface="Helvetica Neue Light" panose="02000403000000020004" pitchFamily="2" charset="0"/>
                <a:ea typeface="Helvetica Neue Light" panose="02000403000000020004" pitchFamily="2" charset="0"/>
              </a:rPr>
              <a:t>app</a:t>
            </a:r>
            <a:r>
              <a:rPr lang="en-GB" sz="2400" dirty="0">
                <a:solidFill>
                  <a:srgbClr val="000000"/>
                </a:solidFill>
                <a:effectLst/>
                <a:latin typeface="Helvetica Neue Light" panose="02000403000000020004" pitchFamily="2" charset="0"/>
                <a:ea typeface="Helvetica Neue Light" panose="02000403000000020004" pitchFamily="2" charset="0"/>
              </a:rPr>
              <a:t>, which refers to the app that we just created, and then </a:t>
            </a:r>
            <a:r>
              <a:rPr lang="en-GB" sz="2400" dirty="0">
                <a:latin typeface="Helvetica Neue Light" panose="02000403000000020004" pitchFamily="2" charset="0"/>
                <a:ea typeface="Helvetica Neue Light" panose="02000403000000020004" pitchFamily="2" charset="0"/>
              </a:rPr>
              <a:t>.mount()</a:t>
            </a:r>
            <a:r>
              <a:rPr lang="en-GB" sz="2400" dirty="0">
                <a:solidFill>
                  <a:srgbClr val="000000"/>
                </a:solidFill>
                <a:effectLst/>
                <a:latin typeface="Helvetica Neue Light" panose="02000403000000020004" pitchFamily="2" charset="0"/>
                <a:ea typeface="Helvetica Neue Light" panose="02000403000000020004" pitchFamily="2" charset="0"/>
              </a:rPr>
              <a:t>, which is a method that requires a DOM selector as an argument. This lets us plug the Vue app into that piece of our DOM.</a:t>
            </a:r>
            <a:endParaRPr lang="en-US" sz="2400" dirty="0">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7ADA210C-4512-642A-90F1-BF605F320279}"/>
              </a:ext>
            </a:extLst>
          </p:cNvPr>
          <p:cNvPicPr>
            <a:picLocks noChangeAspect="1"/>
          </p:cNvPicPr>
          <p:nvPr/>
        </p:nvPicPr>
        <p:blipFill>
          <a:blip r:embed="rId2"/>
          <a:stretch>
            <a:fillRect/>
          </a:stretch>
        </p:blipFill>
        <p:spPr>
          <a:xfrm>
            <a:off x="843084" y="1744974"/>
            <a:ext cx="6319715" cy="2759701"/>
          </a:xfrm>
          <a:prstGeom prst="rect">
            <a:avLst/>
          </a:prstGeom>
        </p:spPr>
      </p:pic>
    </p:spTree>
    <p:extLst>
      <p:ext uri="{BB962C8B-B14F-4D97-AF65-F5344CB8AC3E}">
        <p14:creationId xmlns:p14="http://schemas.microsoft.com/office/powerpoint/2010/main" val="129399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710184" y="365125"/>
            <a:ext cx="10957560" cy="1841708"/>
          </a:xfrm>
        </p:spPr>
        <p:txBody>
          <a:bodyPr>
            <a:norm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Now that we’ve created, imported and mounted out Vue app, we can now start displaying the data that lives within it.</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To render the product data within the h1, we’ll write line 13</a:t>
            </a:r>
          </a:p>
        </p:txBody>
      </p:sp>
      <p:sp>
        <p:nvSpPr>
          <p:cNvPr id="6" name="TextBox 5">
            <a:extLst>
              <a:ext uri="{FF2B5EF4-FFF2-40B4-BE49-F238E27FC236}">
                <a16:creationId xmlns:a16="http://schemas.microsoft.com/office/drawing/2014/main" id="{D9A1AD90-88A6-8448-A8FC-A21A4C9B85DE}"/>
              </a:ext>
            </a:extLst>
          </p:cNvPr>
          <p:cNvSpPr txBox="1"/>
          <p:nvPr/>
        </p:nvSpPr>
        <p:spPr>
          <a:xfrm>
            <a:off x="710184" y="5253339"/>
            <a:ext cx="10907570" cy="1128514"/>
          </a:xfrm>
          <a:prstGeom prst="rect">
            <a:avLst/>
          </a:prstGeom>
          <a:noFill/>
        </p:spPr>
        <p:txBody>
          <a:bodyPr wrap="square">
            <a:spAutoFit/>
          </a:bodyPr>
          <a:lstStyle/>
          <a:p>
            <a:pPr>
              <a:lnSpc>
                <a:spcPct val="150000"/>
              </a:lnSpc>
            </a:pPr>
            <a:r>
              <a:rPr lang="en-GB" sz="2400" dirty="0">
                <a:solidFill>
                  <a:srgbClr val="000000"/>
                </a:solidFill>
                <a:effectLst/>
                <a:latin typeface="Helvetica Neue Light" panose="02000403000000020004" pitchFamily="2" charset="0"/>
                <a:ea typeface="Helvetica Neue Light" panose="02000403000000020004" pitchFamily="2" charset="0"/>
              </a:rPr>
              <a:t>The set of double curly braces is called </a:t>
            </a:r>
            <a:r>
              <a:rPr lang="en-GB" sz="2400" dirty="0">
                <a:latin typeface="Helvetica Neue Light" panose="02000403000000020004" pitchFamily="2" charset="0"/>
                <a:ea typeface="Helvetica Neue Light" panose="02000403000000020004" pitchFamily="2" charset="0"/>
              </a:rPr>
              <a:t>moustache syntax and it allows us to run valid JavaScript directly within our HTML.</a:t>
            </a:r>
            <a:endParaRPr lang="en-US" sz="24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715D420C-47FE-FDA4-D50A-D7AB2EE32961}"/>
              </a:ext>
            </a:extLst>
          </p:cNvPr>
          <p:cNvPicPr>
            <a:picLocks noChangeAspect="1"/>
          </p:cNvPicPr>
          <p:nvPr/>
        </p:nvPicPr>
        <p:blipFill>
          <a:blip r:embed="rId2"/>
          <a:stretch>
            <a:fillRect/>
          </a:stretch>
        </p:blipFill>
        <p:spPr>
          <a:xfrm>
            <a:off x="710183" y="2383203"/>
            <a:ext cx="8984501" cy="2657719"/>
          </a:xfrm>
          <a:prstGeom prst="rect">
            <a:avLst/>
          </a:prstGeom>
        </p:spPr>
      </p:pic>
    </p:spTree>
    <p:extLst>
      <p:ext uri="{BB962C8B-B14F-4D97-AF65-F5344CB8AC3E}">
        <p14:creationId xmlns:p14="http://schemas.microsoft.com/office/powerpoint/2010/main" val="162406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710184" y="365125"/>
            <a:ext cx="10957560" cy="1841708"/>
          </a:xfrm>
        </p:spPr>
        <p:txBody>
          <a:bodyPr>
            <a:normAutofit/>
          </a:bodyPr>
          <a:lstStyle/>
          <a:p>
            <a:pPr marL="0" indent="0">
              <a:lnSpc>
                <a:spcPct val="150000"/>
              </a:lnSpc>
              <a:buNone/>
            </a:pPr>
            <a:r>
              <a:rPr lang="en-GB" sz="6000" dirty="0">
                <a:solidFill>
                  <a:srgbClr val="D3473F"/>
                </a:solidFill>
                <a:latin typeface="American Typewriter" panose="02090604020004020304" pitchFamily="18" charset="77"/>
                <a:ea typeface="Helvetica Neue Light" panose="02000403000000020004" pitchFamily="2" charset="0"/>
              </a:rPr>
              <a:t>Our app in the Browser</a:t>
            </a:r>
          </a:p>
        </p:txBody>
      </p:sp>
      <p:pic>
        <p:nvPicPr>
          <p:cNvPr id="3" name="Picture 2">
            <a:extLst>
              <a:ext uri="{FF2B5EF4-FFF2-40B4-BE49-F238E27FC236}">
                <a16:creationId xmlns:a16="http://schemas.microsoft.com/office/drawing/2014/main" id="{D203AE34-5C9A-FBE7-D3B2-11772BBF25E9}"/>
              </a:ext>
            </a:extLst>
          </p:cNvPr>
          <p:cNvPicPr>
            <a:picLocks noChangeAspect="1"/>
          </p:cNvPicPr>
          <p:nvPr/>
        </p:nvPicPr>
        <p:blipFill>
          <a:blip r:embed="rId2"/>
          <a:stretch>
            <a:fillRect/>
          </a:stretch>
        </p:blipFill>
        <p:spPr>
          <a:xfrm>
            <a:off x="710184" y="1885043"/>
            <a:ext cx="7869181" cy="4417786"/>
          </a:xfrm>
          <a:prstGeom prst="rect">
            <a:avLst/>
          </a:prstGeom>
          <a:ln w="12700">
            <a:solidFill>
              <a:schemeClr val="tx1"/>
            </a:solidFill>
          </a:ln>
        </p:spPr>
      </p:pic>
    </p:spTree>
    <p:extLst>
      <p:ext uri="{BB962C8B-B14F-4D97-AF65-F5344CB8AC3E}">
        <p14:creationId xmlns:p14="http://schemas.microsoft.com/office/powerpoint/2010/main" val="1555984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710184" y="365125"/>
            <a:ext cx="10957560" cy="1300389"/>
          </a:xfrm>
        </p:spPr>
        <p:txBody>
          <a:bodyPr>
            <a:normAutofit/>
          </a:bodyPr>
          <a:lstStyle/>
          <a:p>
            <a:pPr marL="0" indent="0">
              <a:lnSpc>
                <a:spcPct val="150000"/>
              </a:lnSpc>
              <a:buNone/>
            </a:pPr>
            <a:r>
              <a:rPr lang="en-GB" sz="5400" dirty="0">
                <a:solidFill>
                  <a:srgbClr val="D3473F"/>
                </a:solidFill>
                <a:latin typeface="American Typewriter" panose="02090604020004020304" pitchFamily="18" charset="77"/>
                <a:ea typeface="Helvetica Neue Light" panose="02000403000000020004" pitchFamily="2" charset="0"/>
              </a:rPr>
              <a:t>Lesson 2 challenge</a:t>
            </a:r>
          </a:p>
        </p:txBody>
      </p:sp>
      <p:pic>
        <p:nvPicPr>
          <p:cNvPr id="2" name="Picture 1">
            <a:extLst>
              <a:ext uri="{FF2B5EF4-FFF2-40B4-BE49-F238E27FC236}">
                <a16:creationId xmlns:a16="http://schemas.microsoft.com/office/drawing/2014/main" id="{2507B7D4-F9BE-5B79-FDC8-7815EBE13FA2}"/>
              </a:ext>
            </a:extLst>
          </p:cNvPr>
          <p:cNvPicPr>
            <a:picLocks noChangeAspect="1"/>
          </p:cNvPicPr>
          <p:nvPr/>
        </p:nvPicPr>
        <p:blipFill>
          <a:blip r:embed="rId2"/>
          <a:stretch>
            <a:fillRect/>
          </a:stretch>
        </p:blipFill>
        <p:spPr>
          <a:xfrm>
            <a:off x="710184" y="1957161"/>
            <a:ext cx="6807200" cy="4356100"/>
          </a:xfrm>
          <a:prstGeom prst="rect">
            <a:avLst/>
          </a:prstGeom>
          <a:ln>
            <a:solidFill>
              <a:schemeClr val="bg1">
                <a:lumMod val="50000"/>
              </a:schemeClr>
            </a:solidFill>
          </a:ln>
        </p:spPr>
      </p:pic>
    </p:spTree>
    <p:extLst>
      <p:ext uri="{BB962C8B-B14F-4D97-AF65-F5344CB8AC3E}">
        <p14:creationId xmlns:p14="http://schemas.microsoft.com/office/powerpoint/2010/main" val="345634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1066799" y="1"/>
            <a:ext cx="11125201" cy="1219200"/>
          </a:xfrm>
        </p:spPr>
        <p:txBody>
          <a:bodyPr>
            <a:normAutofit/>
          </a:bodyPr>
          <a:lstStyle/>
          <a:p>
            <a:pPr marL="0" indent="0">
              <a:lnSpc>
                <a:spcPct val="150000"/>
              </a:lnSpc>
              <a:buNone/>
            </a:pPr>
            <a:r>
              <a:rPr lang="en-GB" sz="4800" dirty="0">
                <a:solidFill>
                  <a:srgbClr val="D3473F"/>
                </a:solidFill>
                <a:latin typeface="American Typewriter" panose="02090604020004020304" pitchFamily="18" charset="77"/>
                <a:ea typeface="Helvetica Neue Light" panose="02000403000000020004" pitchFamily="2" charset="0"/>
              </a:rPr>
              <a:t>Lesson 3 completed</a:t>
            </a:r>
          </a:p>
        </p:txBody>
      </p:sp>
      <p:pic>
        <p:nvPicPr>
          <p:cNvPr id="2" name="Picture 1">
            <a:extLst>
              <a:ext uri="{FF2B5EF4-FFF2-40B4-BE49-F238E27FC236}">
                <a16:creationId xmlns:a16="http://schemas.microsoft.com/office/drawing/2014/main" id="{FECE8C24-3C75-AB4B-8305-23AE0FB3F865}"/>
              </a:ext>
            </a:extLst>
          </p:cNvPr>
          <p:cNvPicPr>
            <a:picLocks noChangeAspect="1"/>
          </p:cNvPicPr>
          <p:nvPr/>
        </p:nvPicPr>
        <p:blipFill>
          <a:blip r:embed="rId2"/>
          <a:stretch>
            <a:fillRect/>
          </a:stretch>
        </p:blipFill>
        <p:spPr>
          <a:xfrm>
            <a:off x="1172306" y="1301910"/>
            <a:ext cx="6945924" cy="4912326"/>
          </a:xfrm>
          <a:prstGeom prst="rect">
            <a:avLst/>
          </a:prstGeom>
          <a:ln>
            <a:solidFill>
              <a:schemeClr val="bg1">
                <a:lumMod val="50000"/>
              </a:schemeClr>
            </a:solidFill>
          </a:ln>
        </p:spPr>
      </p:pic>
    </p:spTree>
    <p:extLst>
      <p:ext uri="{BB962C8B-B14F-4D97-AF65-F5344CB8AC3E}">
        <p14:creationId xmlns:p14="http://schemas.microsoft.com/office/powerpoint/2010/main" val="148429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1" y="150812"/>
            <a:ext cx="12192000" cy="1300389"/>
          </a:xfrm>
        </p:spPr>
        <p:txBody>
          <a:bodyPr>
            <a:normAutofit/>
          </a:bodyPr>
          <a:lstStyle/>
          <a:p>
            <a:pPr marL="0" indent="0" algn="ctr">
              <a:lnSpc>
                <a:spcPct val="150000"/>
              </a:lnSpc>
              <a:buNone/>
            </a:pPr>
            <a:r>
              <a:rPr lang="en-GB" sz="5400" dirty="0">
                <a:solidFill>
                  <a:srgbClr val="D3473F"/>
                </a:solidFill>
                <a:latin typeface="American Typewriter" panose="02090604020004020304" pitchFamily="18" charset="77"/>
                <a:ea typeface="Helvetica Neue Light" panose="02000403000000020004" pitchFamily="2" charset="0"/>
              </a:rPr>
              <a:t>End of task 4 something like this</a:t>
            </a:r>
          </a:p>
        </p:txBody>
      </p:sp>
      <p:sp>
        <p:nvSpPr>
          <p:cNvPr id="4" name="TextBox 3">
            <a:extLst>
              <a:ext uri="{FF2B5EF4-FFF2-40B4-BE49-F238E27FC236}">
                <a16:creationId xmlns:a16="http://schemas.microsoft.com/office/drawing/2014/main" id="{15E4DE79-AAB3-47D4-3B4E-66599017F417}"/>
              </a:ext>
            </a:extLst>
          </p:cNvPr>
          <p:cNvSpPr txBox="1"/>
          <p:nvPr/>
        </p:nvSpPr>
        <p:spPr>
          <a:xfrm>
            <a:off x="7891234" y="1451201"/>
            <a:ext cx="3539069" cy="4532779"/>
          </a:xfrm>
          <a:prstGeom prst="rect">
            <a:avLst/>
          </a:prstGeom>
          <a:noFill/>
        </p:spPr>
        <p:txBody>
          <a:bodyPr wrap="square">
            <a:spAutoFit/>
          </a:bodyPr>
          <a:lstStyle/>
          <a:p>
            <a:pPr algn="l">
              <a:lnSpc>
                <a:spcPct val="150000"/>
              </a:lnSpc>
            </a:pPr>
            <a:r>
              <a:rPr lang="en-GB" sz="2800" dirty="0">
                <a:solidFill>
                  <a:srgbClr val="000000"/>
                </a:solidFill>
                <a:effectLst/>
                <a:latin typeface="Helvetica Neue Light" panose="02000403000000020004" pitchFamily="2" charset="0"/>
                <a:ea typeface="Helvetica Neue Light" panose="02000403000000020004" pitchFamily="2" charset="0"/>
              </a:rPr>
              <a:t>Make sure there is </a:t>
            </a:r>
            <a:r>
              <a:rPr lang="en-GB" sz="2800" b="1" dirty="0">
                <a:solidFill>
                  <a:srgbClr val="C00000"/>
                </a:solidFill>
                <a:effectLst/>
                <a:latin typeface="Helvetica Neue Light" panose="02000403000000020004" pitchFamily="2" charset="0"/>
                <a:ea typeface="Helvetica Neue Light" panose="02000403000000020004" pitchFamily="2" charset="0"/>
              </a:rPr>
              <a:t>always</a:t>
            </a:r>
            <a:r>
              <a:rPr lang="en-GB" sz="2800" dirty="0">
                <a:solidFill>
                  <a:srgbClr val="000000"/>
                </a:solidFill>
                <a:effectLst/>
                <a:latin typeface="Helvetica Neue Light" panose="02000403000000020004" pitchFamily="2" charset="0"/>
                <a:ea typeface="Helvetica Neue Light" panose="02000403000000020004" pitchFamily="2" charset="0"/>
              </a:rPr>
              <a:t> something to identify you in the screenshots such as your name on the page and/or th</a:t>
            </a:r>
            <a:r>
              <a:rPr lang="en-GB" sz="2800" dirty="0">
                <a:solidFill>
                  <a:srgbClr val="000000"/>
                </a:solidFill>
                <a:latin typeface="Helvetica Neue Light" panose="02000403000000020004" pitchFamily="2" charset="0"/>
                <a:ea typeface="Helvetica Neue Light" panose="02000403000000020004" pitchFamily="2" charset="0"/>
              </a:rPr>
              <a:t>e header</a:t>
            </a:r>
            <a:endParaRPr lang="en-GB" sz="2800" dirty="0">
              <a:solidFill>
                <a:srgbClr val="000000"/>
              </a:solidFill>
              <a:effectLst/>
              <a:latin typeface="Helvetica Neue Light" panose="02000403000000020004" pitchFamily="2" charset="0"/>
              <a:ea typeface="Helvetica Neue Light" panose="02000403000000020004" pitchFamily="2" charset="0"/>
            </a:endParaRPr>
          </a:p>
        </p:txBody>
      </p:sp>
      <p:pic>
        <p:nvPicPr>
          <p:cNvPr id="3" name="Picture 2">
            <a:extLst>
              <a:ext uri="{FF2B5EF4-FFF2-40B4-BE49-F238E27FC236}">
                <a16:creationId xmlns:a16="http://schemas.microsoft.com/office/drawing/2014/main" id="{8CA896C3-E375-2034-C17A-6A3275366788}"/>
              </a:ext>
            </a:extLst>
          </p:cNvPr>
          <p:cNvPicPr>
            <a:picLocks noChangeAspect="1"/>
          </p:cNvPicPr>
          <p:nvPr/>
        </p:nvPicPr>
        <p:blipFill>
          <a:blip r:embed="rId2"/>
          <a:stretch>
            <a:fillRect/>
          </a:stretch>
        </p:blipFill>
        <p:spPr>
          <a:xfrm>
            <a:off x="671622" y="1586402"/>
            <a:ext cx="6547992" cy="4532780"/>
          </a:xfrm>
          <a:prstGeom prst="rect">
            <a:avLst/>
          </a:prstGeom>
          <a:ln>
            <a:solidFill>
              <a:schemeClr val="bg1">
                <a:lumMod val="50000"/>
              </a:schemeClr>
            </a:solidFill>
          </a:ln>
        </p:spPr>
      </p:pic>
    </p:spTree>
    <p:extLst>
      <p:ext uri="{BB962C8B-B14F-4D97-AF65-F5344CB8AC3E}">
        <p14:creationId xmlns:p14="http://schemas.microsoft.com/office/powerpoint/2010/main" val="1748685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617220" y="2508146"/>
            <a:ext cx="10957560" cy="1841708"/>
          </a:xfrm>
        </p:spPr>
        <p:txBody>
          <a:bodyPr>
            <a:noAutofit/>
          </a:bodyPr>
          <a:lstStyle/>
          <a:p>
            <a:pPr marL="0" indent="0" algn="ctr">
              <a:lnSpc>
                <a:spcPct val="150000"/>
              </a:lnSpc>
              <a:buNone/>
            </a:pPr>
            <a:r>
              <a:rPr lang="en-GB" sz="8800" dirty="0">
                <a:solidFill>
                  <a:srgbClr val="D3473F"/>
                </a:solidFill>
                <a:latin typeface="American Typewriter" panose="02090604020004020304" pitchFamily="18" charset="77"/>
                <a:ea typeface="Helvetica Neue Light" panose="02000403000000020004" pitchFamily="2" charset="0"/>
              </a:rPr>
              <a:t>Labs</a:t>
            </a:r>
          </a:p>
        </p:txBody>
      </p:sp>
    </p:spTree>
    <p:extLst>
      <p:ext uri="{BB962C8B-B14F-4D97-AF65-F5344CB8AC3E}">
        <p14:creationId xmlns:p14="http://schemas.microsoft.com/office/powerpoint/2010/main" val="1131046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47136"/>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40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p>
        </p:txBody>
      </p:sp>
    </p:spTree>
    <p:extLst>
      <p:ext uri="{BB962C8B-B14F-4D97-AF65-F5344CB8AC3E}">
        <p14:creationId xmlns:p14="http://schemas.microsoft.com/office/powerpoint/2010/main" val="384478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5344</TotalTime>
  <Words>2189</Words>
  <Application>Microsoft Macintosh PowerPoint</Application>
  <PresentationFormat>Widescreen</PresentationFormat>
  <Paragraphs>155</Paragraphs>
  <Slides>52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52</vt:i4>
      </vt:variant>
    </vt:vector>
  </HeadingPairs>
  <TitlesOfParts>
    <vt:vector size="63" baseType="lpstr">
      <vt:lpstr>American Typewriter</vt:lpstr>
      <vt:lpstr>Arial</vt:lpstr>
      <vt:lpstr>Calibri</vt:lpstr>
      <vt:lpstr>Calibri Light</vt:lpstr>
      <vt:lpstr>Georgia</vt:lpstr>
      <vt:lpstr>HELVETICA NEUE LIGHT</vt:lpstr>
      <vt:lpstr>HELVETICA NEUE LIGHT</vt:lpstr>
      <vt:lpstr>Helvetica Neue Thin</vt:lpstr>
      <vt:lpstr>Menlo</vt:lpstr>
      <vt:lpstr>Monaco</vt:lpstr>
      <vt:lpstr>Office Theme</vt:lpstr>
      <vt:lpstr>COMP 1842</vt:lpstr>
      <vt:lpstr>Introduction</vt:lpstr>
      <vt:lpstr>Recap</vt:lpstr>
      <vt:lpstr>PowerPoint Presentation</vt:lpstr>
      <vt:lpstr>A brief overview of the current situation</vt:lpstr>
      <vt:lpstr>PowerPoint Presentation</vt:lpstr>
      <vt:lpstr>PowerPoint Presentation</vt:lpstr>
      <vt:lpstr>PowerPoint Presentation</vt:lpstr>
      <vt:lpstr>PowerPoint Presentation</vt:lpstr>
      <vt:lpstr>AJAX</vt:lpstr>
      <vt:lpstr>AJAX…cont</vt:lpstr>
      <vt:lpstr>jQuery  -&gt; AJAX</vt:lpstr>
      <vt:lpstr>JavaScript Fetch API</vt:lpstr>
      <vt:lpstr>JSON</vt:lpstr>
      <vt:lpstr>JSON - JavaScript Object Notation </vt:lpstr>
      <vt:lpstr>Basic rules</vt:lpstr>
      <vt:lpstr>Simple JSON object</vt:lpstr>
      <vt:lpstr>Or…JSON Arrays</vt:lpstr>
      <vt:lpstr>JSON vs XML</vt:lpstr>
      <vt:lpstr>PowerPoint Presentation</vt:lpstr>
      <vt:lpstr>BREAK</vt:lpstr>
      <vt:lpstr>SPA</vt:lpstr>
      <vt:lpstr>PowerPoint Presentation</vt:lpstr>
      <vt:lpstr>PowerPoint Presentation</vt:lpstr>
      <vt:lpstr>React      https://reactjs.org/</vt:lpstr>
      <vt:lpstr>Vue…at last </vt:lpstr>
      <vt:lpstr>FFS </vt:lpstr>
      <vt:lpstr>PowerPoint Presentation</vt:lpstr>
      <vt:lpstr>PowerPoint Presentation</vt:lpstr>
      <vt:lpstr>Installation </vt:lpstr>
      <vt:lpstr>Using CDN</vt:lpstr>
      <vt:lpstr>Hello Vue !!</vt:lpstr>
      <vt:lpstr>Index.html</vt:lpstr>
      <vt:lpstr>Index.html…detail</vt:lpstr>
      <vt:lpstr>Remember</vt:lpstr>
      <vt:lpstr>style.css</vt:lpstr>
      <vt:lpstr>script.js</vt:lpstr>
      <vt:lpstr>Our first Vue app </vt:lpstr>
      <vt:lpstr>Pause for breath</vt:lpstr>
      <vt:lpstr>Lesson walk through</vt:lpstr>
      <vt:lpstr>Lab task - code from Moodle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1321</dc:title>
  <dc:creator>Matthew Prichard</dc:creator>
  <cp:lastModifiedBy>Matthew Prichard</cp:lastModifiedBy>
  <cp:revision>123</cp:revision>
  <dcterms:created xsi:type="dcterms:W3CDTF">2020-06-28T01:46:05Z</dcterms:created>
  <dcterms:modified xsi:type="dcterms:W3CDTF">2025-01-08T13:41:13Z</dcterms:modified>
</cp:coreProperties>
</file>