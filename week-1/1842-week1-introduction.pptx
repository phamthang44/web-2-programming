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0" r:id="rId4"/>
    <p:sldId id="387" r:id="rId5"/>
    <p:sldId id="264" r:id="rId6"/>
    <p:sldId id="265" r:id="rId7"/>
    <p:sldId id="386" r:id="rId8"/>
    <p:sldId id="307" r:id="rId9"/>
    <p:sldId id="268" r:id="rId10"/>
    <p:sldId id="269" r:id="rId11"/>
    <p:sldId id="308" r:id="rId12"/>
    <p:sldId id="337" r:id="rId13"/>
    <p:sldId id="336" r:id="rId14"/>
    <p:sldId id="338" r:id="rId15"/>
    <p:sldId id="376" r:id="rId16"/>
    <p:sldId id="377" r:id="rId17"/>
    <p:sldId id="379" r:id="rId18"/>
    <p:sldId id="380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0"/>
    <a:srgbClr val="FF574B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06"/>
    <p:restoredTop sz="86395"/>
  </p:normalViewPr>
  <p:slideViewPr>
    <p:cSldViewPr snapToGrid="0" snapToObjects="1">
      <p:cViewPr varScale="1">
        <p:scale>
          <a:sx n="89" d="100"/>
          <a:sy n="89" d="100"/>
        </p:scale>
        <p:origin x="176" y="10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9303C-990E-0D45-B731-A2CA79BABE19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0EF1A-3C61-A042-846C-CB454307A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9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Pomodoro_Techniqu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ptzero.m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uillbot.com/ai-content-detector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mraible/history-of-web-frameworks-timeline/master/history-of-web-frameworks-timeline.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watch?v=VbvMJUpY0a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Users/matt/Cloud-Drive/Matt/Courses_2425/COMP1842-Web%20dev%20term2-MEVN/week1%20-%20intro%20-%20Vue%20Intro/week1-files/index.html" TargetMode="Externa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4324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23862"/>
            <a:ext cx="12192000" cy="1670448"/>
          </a:xfrm>
        </p:spPr>
        <p:txBody>
          <a:bodyPr>
            <a:normAutofit lnSpcReduction="10000"/>
          </a:bodyPr>
          <a:lstStyle/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Week1 - Part 1 – Introduction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Module overview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JS frameworks?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HTML5 + CSS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DOM</a:t>
            </a:r>
            <a:endParaRPr lang="en-GB" sz="1400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Welcome 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What have we (you) all learned from term 1?	</a:t>
            </a:r>
          </a:p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Time / stress management</a:t>
            </a:r>
          </a:p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Attendance / punctuality </a:t>
            </a:r>
          </a:p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Multitasking</a:t>
            </a:r>
          </a:p>
          <a:p>
            <a:pPr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Little and often / time boxing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hlinkClick r:id="rId2"/>
              </a:rPr>
              <a:t>Pomodoro Technique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97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8A50-9665-4A3E-F079-AFFEDF26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DBD03D-B689-2F37-609D-AE9B006BB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0449"/>
            <a:ext cx="10515600" cy="6292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https://gptzero.me/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D24F65-823B-ED3E-8475-F997BA4A1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9" y="4675187"/>
            <a:ext cx="6848475" cy="198064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94B1F-4258-FCD8-7000-2334815AF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48" y="784051"/>
            <a:ext cx="6848475" cy="31115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0DBAB18-C224-67BF-4241-AE383AFF83EF}"/>
              </a:ext>
            </a:extLst>
          </p:cNvPr>
          <p:cNvSpPr txBox="1">
            <a:spLocks/>
          </p:cNvSpPr>
          <p:nvPr/>
        </p:nvSpPr>
        <p:spPr>
          <a:xfrm>
            <a:off x="623887" y="3804716"/>
            <a:ext cx="10301287" cy="870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hlinkClick r:id="rId5"/>
              </a:rPr>
              <a:t>https://quillbot.com/ai-content-detector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29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Module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are </a:t>
            </a:r>
            <a:r>
              <a:rPr lang="en-GB" spc="8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not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using the I Drive – </a:t>
            </a:r>
            <a:r>
              <a:rPr lang="en-GB" spc="8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work on the G Drive now.</a:t>
            </a:r>
          </a:p>
          <a:p>
            <a:pPr lvl="1"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Will be looking at JS stacks (more on this later in the module).</a:t>
            </a:r>
          </a:p>
          <a:p>
            <a:pPr lvl="1"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1 coursework worth 100% in two main parts</a:t>
            </a:r>
          </a:p>
          <a:p>
            <a:pPr lvl="1"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 will go through the CW spec in due course</a:t>
            </a:r>
          </a:p>
          <a:p>
            <a:pPr lvl="1">
              <a:lnSpc>
                <a:spcPct val="150000"/>
              </a:lnSpc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There will be no report but a video instead - yay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51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Module aims</a:t>
            </a:r>
            <a:endParaRPr lang="en-US" sz="6000" spc="60" dirty="0">
              <a:solidFill>
                <a:srgbClr val="D3473F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C9051-2D3B-634C-9BBA-42CCBFF26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052172"/>
              </p:ext>
            </p:extLst>
          </p:nvPr>
        </p:nvGraphicFramePr>
        <p:xfrm>
          <a:off x="838200" y="1550503"/>
          <a:ext cx="10515600" cy="4667249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790351"/>
                    </a:ext>
                  </a:extLst>
                </a:gridCol>
              </a:tblGrid>
              <a:tr h="4667249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This module provides students with an introduction to the </a:t>
                      </a:r>
                      <a:r>
                        <a:rPr lang="en-GB" sz="2400" b="1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MEVN Stack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.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It is </a:t>
                      </a:r>
                      <a:r>
                        <a:rPr lang="en-GB" sz="2400" b="1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one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 of the modern free open-source JavaScript based stacks used to build single page, multi-page as well as complex dynamic web applications.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The stack consists of </a:t>
                      </a:r>
                      <a:r>
                        <a:rPr lang="en-GB" sz="2400" b="0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M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ongoDB, </a:t>
                      </a:r>
                      <a:r>
                        <a:rPr lang="en-GB" sz="2400" b="0" i="0" dirty="0" err="1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E</a:t>
                      </a:r>
                      <a:r>
                        <a:rPr lang="en-GB" sz="2400" b="0" i="0" dirty="0" err="1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xpress.js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, </a:t>
                      </a:r>
                      <a:r>
                        <a:rPr lang="en-GB" sz="2400" b="0" i="0" dirty="0" err="1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V</a:t>
                      </a:r>
                      <a:r>
                        <a:rPr lang="en-GB" sz="2400" b="0" i="0" dirty="0" err="1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ue.js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 and </a:t>
                      </a:r>
                      <a:r>
                        <a:rPr lang="en-GB" sz="2400" b="0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N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ode.js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Students will gain an </a:t>
                      </a:r>
                      <a:r>
                        <a:rPr lang="en-GB" sz="2400" b="1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introduction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 to these technologies while developing a </a:t>
                      </a:r>
                      <a:r>
                        <a:rPr lang="en-GB" sz="2400" b="0" i="0" dirty="0">
                          <a:solidFill>
                            <a:srgbClr val="FF0000"/>
                          </a:solidFill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very simple </a:t>
                      </a:r>
                      <a:r>
                        <a:rPr lang="en-GB" sz="2400" b="0" i="0" dirty="0">
                          <a:effectLst/>
                          <a:latin typeface="Helvetica Neue Light" panose="02000403000000020004" pitchFamily="2" charset="0"/>
                          <a:ea typeface="Helvetica Neue Light" panose="02000403000000020004" pitchFamily="2" charset="0"/>
                        </a:rPr>
                        <a:t>CRUD web application (much more basic than the PHP one)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504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6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Bit of a warning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1026" name="Picture 2" descr="General Warning Sign | Shop online now! | VKF Renzel UK">
            <a:extLst>
              <a:ext uri="{FF2B5EF4-FFF2-40B4-BE49-F238E27FC236}">
                <a16:creationId xmlns:a16="http://schemas.microsoft.com/office/drawing/2014/main" id="{40482D8C-F7B3-D899-842B-C72CDACC8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852" y="42928"/>
            <a:ext cx="1639958" cy="163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BDCCFF-9AB6-A9D9-9AC8-396733250B62}"/>
              </a:ext>
            </a:extLst>
          </p:cNvPr>
          <p:cNvSpPr txBox="1"/>
          <p:nvPr/>
        </p:nvSpPr>
        <p:spPr>
          <a:xfrm>
            <a:off x="677517" y="1682886"/>
            <a:ext cx="10836965" cy="4723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Although initially this all looks manageable as essentially we are using one language, JavaScript, I can assure you that this is tricky stuff.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As we go through the module I will try and contextualise it to last terms PHP work although this is really quite different.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Also, I have been a full-time lecturer now for around 18 years and gave up doing live client work some time ago, long before these technologies took hold.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Therefore, I have less of a real-world background here than with PHP</a:t>
            </a:r>
          </a:p>
        </p:txBody>
      </p:sp>
    </p:spTree>
    <p:extLst>
      <p:ext uri="{BB962C8B-B14F-4D97-AF65-F5344CB8AC3E}">
        <p14:creationId xmlns:p14="http://schemas.microsoft.com/office/powerpoint/2010/main" val="138905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Some 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5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5B50">
                <a:alpha val="83137"/>
              </a:srgbClr>
            </a:gs>
            <a:gs pos="41000">
              <a:srgbClr val="FF574B">
                <a:lumMod val="87000"/>
                <a:lumOff val="13000"/>
              </a:srgbClr>
            </a:gs>
            <a:gs pos="100000">
              <a:srgbClr val="FF574B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464B4FD-8E4E-8543-AB43-EAE7625E4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3318"/>
            <a:ext cx="12192000" cy="44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402E38-0393-2A4D-BF53-1AEB5D82E23E}"/>
              </a:ext>
            </a:extLst>
          </p:cNvPr>
          <p:cNvSpPr txBox="1"/>
          <p:nvPr/>
        </p:nvSpPr>
        <p:spPr>
          <a:xfrm>
            <a:off x="0" y="6273225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https://raw.githubusercontent.com/mraible/history-of-web-frameworks-timeline/master/history-of-web-frameworks-timeline.png</a:t>
            </a:r>
            <a:endParaRPr lang="en-US" sz="1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endParaRPr lang="en-US" dirty="0"/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C57738B9-D859-0A4D-A8EF-C1FCD38B66F7}"/>
              </a:ext>
            </a:extLst>
          </p:cNvPr>
          <p:cNvSpPr/>
          <p:nvPr/>
        </p:nvSpPr>
        <p:spPr>
          <a:xfrm>
            <a:off x="2416953" y="322776"/>
            <a:ext cx="7358094" cy="722619"/>
          </a:xfrm>
          <a:prstGeom prst="wedgeRoundRectCallout">
            <a:avLst>
              <a:gd name="adj1" fmla="val -44128"/>
              <a:gd name="adj2" fmla="val 3131"/>
              <a:gd name="adj3" fmla="val 16667"/>
            </a:avLst>
          </a:prstGeom>
          <a:effectLst>
            <a:outerShdw blurRad="1524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 history of web frameworks</a:t>
            </a:r>
          </a:p>
        </p:txBody>
      </p:sp>
    </p:spTree>
    <p:extLst>
      <p:ext uri="{BB962C8B-B14F-4D97-AF65-F5344CB8AC3E}">
        <p14:creationId xmlns:p14="http://schemas.microsoft.com/office/powerpoint/2010/main" val="84376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6A295B6-0A64-9D4E-8950-E58FA51DE26B}"/>
              </a:ext>
            </a:extLst>
          </p:cNvPr>
          <p:cNvSpPr txBox="1"/>
          <p:nvPr/>
        </p:nvSpPr>
        <p:spPr>
          <a:xfrm>
            <a:off x="3047144" y="6032594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https://www.youtube.com/watch?v=VbvMJUpY0a4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2D80C0-DC02-4D1B-7803-A875E4E32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025" y="482324"/>
            <a:ext cx="9251950" cy="52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5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The big 3</a:t>
            </a:r>
          </a:p>
        </p:txBody>
      </p:sp>
      <p:pic>
        <p:nvPicPr>
          <p:cNvPr id="6156" name="Picture 12" descr="HTML5, CSS3 &amp; JavaScript | Using Anchor tags &amp; Attributes ...">
            <a:extLst>
              <a:ext uri="{FF2B5EF4-FFF2-40B4-BE49-F238E27FC236}">
                <a16:creationId xmlns:a16="http://schemas.microsoft.com/office/drawing/2014/main" id="{22701BC8-E833-0C43-ABF1-67972D38B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74" y="1690688"/>
            <a:ext cx="7966051" cy="447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84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 – html, </a:t>
            </a:r>
            <a:r>
              <a:rPr lang="en-US" sz="6000" spc="60" dirty="0" err="1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css</a:t>
            </a:r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, </a:t>
            </a:r>
            <a:r>
              <a:rPr lang="en-US" sz="6000" spc="60" dirty="0" err="1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js</a:t>
            </a:r>
            <a:endParaRPr lang="en-US" sz="6000" spc="60" dirty="0">
              <a:solidFill>
                <a:srgbClr val="D3473F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8267"/>
            <a:ext cx="2578100" cy="25511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index.html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mystyle.css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myscript.js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6" name="Picture 5" descr="Standards_in_a_Nutshell.png">
            <a:extLst>
              <a:ext uri="{FF2B5EF4-FFF2-40B4-BE49-F238E27FC236}">
                <a16:creationId xmlns:a16="http://schemas.microsoft.com/office/drawing/2014/main" id="{6366C8C3-2CFF-7144-85F4-C3D8ADD4E3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425" b="10994"/>
          <a:stretch/>
        </p:blipFill>
        <p:spPr>
          <a:xfrm>
            <a:off x="3926315" y="1741488"/>
            <a:ext cx="7712347" cy="44862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reflection stA="25000" endPos="25000" dist="127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4306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2E767F-189F-664D-BA6F-73C2826CD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0" y="369044"/>
            <a:ext cx="6724650" cy="3455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46D5DA-8166-F846-8A62-9F9F75E2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9" y="4240698"/>
            <a:ext cx="5165629" cy="1537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A77408-F586-0D4E-8749-F3959C39F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145" y="4214719"/>
            <a:ext cx="6244180" cy="15638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4661A-68EA-D09E-7FCD-C0F14C8C0AE4}"/>
              </a:ext>
            </a:extLst>
          </p:cNvPr>
          <p:cNvSpPr txBox="1"/>
          <p:nvPr/>
        </p:nvSpPr>
        <p:spPr>
          <a:xfrm>
            <a:off x="620574" y="6168356"/>
            <a:ext cx="10601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5"/>
              </a:rPr>
              <a:t>week1/index.html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9685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Remember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02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HTML is a combination of approaches that gives us the ability to:</a:t>
            </a: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GB" sz="2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Describe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the structure of pages/text. This is the markup part</a:t>
            </a: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GB" sz="2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Link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to and from other documents using the text of the page itself. This is the hypertext part.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CSS is the language we use to style an HTML document.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CSS describes how HTML elements should be displayed.</a:t>
            </a:r>
          </a:p>
          <a:p>
            <a:pPr marL="0" indent="0">
              <a:lnSpc>
                <a:spcPct val="150000"/>
              </a:lnSpc>
              <a:buNone/>
              <a:defRPr sz="1800">
                <a:solidFill>
                  <a:srgbClr val="000000"/>
                </a:solidFill>
              </a:defRPr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  <a:defRPr sz="1800">
                <a:solidFill>
                  <a:srgbClr val="000000"/>
                </a:solidFill>
              </a:defRPr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2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Document Object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85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When a web page is loaded, the browser creates a Document Object Model of the page.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HTML DOM model is constructed as a tree of Objects:</a:t>
            </a:r>
          </a:p>
          <a:p>
            <a:pPr marL="0" indent="0"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With the object model</a:t>
            </a:r>
          </a:p>
          <a:p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can change all the HTML elements in the page</a:t>
            </a:r>
          </a:p>
          <a:p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can change all the CSS styles in the page</a:t>
            </a:r>
          </a:p>
          <a:p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can remove existing HTML elements and attributes</a:t>
            </a:r>
          </a:p>
          <a:p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can add new HTML elements and attributes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What is DOM? - Vision of geek">
            <a:extLst>
              <a:ext uri="{FF2B5EF4-FFF2-40B4-BE49-F238E27FC236}">
                <a16:creationId xmlns:a16="http://schemas.microsoft.com/office/drawing/2014/main" id="{5A447BE6-F470-2B42-B947-DAECE12FD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2" y="190500"/>
            <a:ext cx="8689975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22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What is the HTML DOM?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85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HTML DOM is a standard object model and programming interface for HTML. It defines: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HTML elements as objects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 properties of all HTML elements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 methods to access all HTML elements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 events for all HTML elements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 other words: The HTML DOM is a standard for how to get, change, add, or delete HTML elements.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03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The HTML DOM document object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85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document object represents your web page.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If you want to access any element in an HTML page, you always start with accessing the document object.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Below are some examples of how you can use the document object to access HTML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E8D9AC-9F9D-C34A-A146-96627DC4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78" y="3563937"/>
            <a:ext cx="10896643" cy="29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1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5B50">
                <a:alpha val="83137"/>
              </a:srgbClr>
            </a:gs>
            <a:gs pos="41000">
              <a:srgbClr val="FF574B">
                <a:lumMod val="87000"/>
                <a:lumOff val="13000"/>
              </a:srgbClr>
            </a:gs>
            <a:gs pos="100000">
              <a:srgbClr val="FF574B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630</Words>
  <Application>Microsoft Macintosh PowerPoint</Application>
  <PresentationFormat>Widescreen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American Typewriter</vt:lpstr>
      <vt:lpstr>Arial</vt:lpstr>
      <vt:lpstr>Calibri</vt:lpstr>
      <vt:lpstr>Calibri Light</vt:lpstr>
      <vt:lpstr>Georgia</vt:lpstr>
      <vt:lpstr>Helvetica Neue Light</vt:lpstr>
      <vt:lpstr>Helvetica Neue Thin</vt:lpstr>
      <vt:lpstr>Office Theme</vt:lpstr>
      <vt:lpstr>COMP 1842</vt:lpstr>
      <vt:lpstr>Introduction</vt:lpstr>
      <vt:lpstr>Welcome back</vt:lpstr>
      <vt:lpstr>PowerPoint Presentation</vt:lpstr>
      <vt:lpstr>Module overview</vt:lpstr>
      <vt:lpstr>Module aims</vt:lpstr>
      <vt:lpstr>Bit of a warning</vt:lpstr>
      <vt:lpstr>Some background</vt:lpstr>
      <vt:lpstr>PowerPoint Presentation</vt:lpstr>
      <vt:lpstr>PowerPoint Presentation</vt:lpstr>
      <vt:lpstr>The big 3</vt:lpstr>
      <vt:lpstr>Recap – html, css, js</vt:lpstr>
      <vt:lpstr>PowerPoint Presentation</vt:lpstr>
      <vt:lpstr>Remember</vt:lpstr>
      <vt:lpstr>Document Object Model</vt:lpstr>
      <vt:lpstr>PowerPoint Presentation</vt:lpstr>
      <vt:lpstr>What is the HTML DOM?</vt:lpstr>
      <vt:lpstr>The HTML DOM document object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61</cp:revision>
  <dcterms:created xsi:type="dcterms:W3CDTF">2020-06-28T01:46:05Z</dcterms:created>
  <dcterms:modified xsi:type="dcterms:W3CDTF">2025-01-13T15:02:35Z</dcterms:modified>
</cp:coreProperties>
</file>