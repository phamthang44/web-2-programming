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3" r:id="rId3"/>
    <p:sldId id="290" r:id="rId4"/>
    <p:sldId id="304" r:id="rId5"/>
    <p:sldId id="305" r:id="rId6"/>
    <p:sldId id="319" r:id="rId7"/>
    <p:sldId id="306" r:id="rId8"/>
    <p:sldId id="307" r:id="rId9"/>
    <p:sldId id="318" r:id="rId10"/>
    <p:sldId id="288" r:id="rId11"/>
    <p:sldId id="316" r:id="rId12"/>
    <p:sldId id="289" r:id="rId13"/>
    <p:sldId id="303" r:id="rId14"/>
    <p:sldId id="291" r:id="rId15"/>
    <p:sldId id="292" r:id="rId16"/>
    <p:sldId id="293" r:id="rId17"/>
    <p:sldId id="317" r:id="rId18"/>
    <p:sldId id="294" r:id="rId19"/>
    <p:sldId id="295" r:id="rId20"/>
    <p:sldId id="297" r:id="rId21"/>
    <p:sldId id="299" r:id="rId22"/>
    <p:sldId id="296" r:id="rId23"/>
    <p:sldId id="300" r:id="rId24"/>
    <p:sldId id="301" r:id="rId25"/>
    <p:sldId id="309" r:id="rId26"/>
    <p:sldId id="310" r:id="rId27"/>
    <p:sldId id="311" r:id="rId28"/>
    <p:sldId id="312" r:id="rId29"/>
    <p:sldId id="313" r:id="rId30"/>
    <p:sldId id="315" r:id="rId31"/>
    <p:sldId id="308" r:id="rId32"/>
    <p:sldId id="26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473F"/>
    <a:srgbClr val="FF574B"/>
    <a:srgbClr val="FF5B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530"/>
    <p:restoredTop sz="86575"/>
  </p:normalViewPr>
  <p:slideViewPr>
    <p:cSldViewPr snapToGrid="0" snapToObjects="1">
      <p:cViewPr varScale="1">
        <p:scale>
          <a:sx n="109" d="100"/>
          <a:sy n="109" d="100"/>
        </p:scale>
        <p:origin x="336" y="19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4.141"/>
    </inkml:context>
    <inkml:brush xml:id="br0">
      <inkml:brushProperty name="width" value="0.05" units="cm"/>
      <inkml:brushProperty name="height" value="0.05" units="cm"/>
      <inkml:brushProperty name="color" value="#E71224"/>
    </inkml:brush>
  </inkml:definitions>
  <inkml:trace contextRef="#ctx0" brushRef="#br0">1 10 24575,'0'-6'0,"0"2"0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5.093"/>
    </inkml:context>
    <inkml:brush xml:id="br0">
      <inkml:brushProperty name="width" value="0.05" units="cm"/>
      <inkml:brushProperty name="height" value="0.05" units="cm"/>
      <inkml:brushProperty name="color" value="#E71224"/>
    </inkml:brush>
  </inkml:definitions>
  <inkml:trace contextRef="#ctx0" brushRef="#br0">1 1 24575,'5'5'0,"-1"-1"0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0.298"/>
    </inkml:context>
    <inkml:brush xml:id="br0">
      <inkml:brushProperty name="width" value="0.05" units="cm"/>
      <inkml:brushProperty name="height" value="0.05" units="cm"/>
      <inkml:brushProperty name="color" value="#E71224"/>
    </inkml:brush>
  </inkml:definitions>
  <inkml:trace contextRef="#ctx0" brushRef="#br0">1 10 24575,'0'-5'0,"0"1"0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6.0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8.710"/>
    </inkml:context>
    <inkml:brush xml:id="br0">
      <inkml:brushProperty name="width" value="0.05" units="cm"/>
      <inkml:brushProperty name="height" value="0.05" units="cm"/>
      <inkml:brushProperty name="color" value="#E71224"/>
    </inkml:brush>
  </inkml:definitions>
  <inkml:trace contextRef="#ctx0" brushRef="#br0">0 1 24575,'5'0'0,"-1"0"0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539-EFFE-4545-8560-8B85D420C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27E099-A4CF-C148-8D5A-DC7DCE6EA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14F13F-321A-6C44-A529-3C63949C72C6}"/>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97777D4B-E972-3F48-8AB6-BC30D35A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37F83-FC1F-964D-9D14-71EC1C06AE71}"/>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63798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8E1E-8C7B-BF49-ADDF-0DBF11C19E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96981E-8F9B-D64C-9D10-A1DF590341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020193-341C-E347-A42A-A1A21E43FF77}"/>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2B618F1D-D2AE-3E45-9684-41082CDD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7C00-9FE2-D644-877F-E440C7FDB26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12644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FB7A-866B-8144-B7A1-B3D2CE8B4D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A9333F-7620-324C-821F-9AD4629D8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41DDB4-466A-D142-8FFA-437B8B3B2108}"/>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0E5B42E0-284F-5746-B82C-C36E036E5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5C72-09E6-E047-BEF5-956CDC65F70E}"/>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3278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2E35-2AE7-6F47-B4DA-83DE0DF474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FCAD58-35EE-E345-9223-93C0D708CA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64EF8E7-11C7-6E44-9C23-E6F8B255FA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588C67-D211-A347-94D3-2566B042CEAC}"/>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6" name="Footer Placeholder 5">
            <a:extLst>
              <a:ext uri="{FF2B5EF4-FFF2-40B4-BE49-F238E27FC236}">
                <a16:creationId xmlns:a16="http://schemas.microsoft.com/office/drawing/2014/main" id="{BF3FAA6E-E7CE-1B4F-A78D-8055C20FF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079D9-12B3-A149-9192-6D6EE5E58F8C}"/>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6961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7B05-85DB-5A4D-931F-231EBBA112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6F10373-280F-CA46-BE02-633860BE9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0A25CD-D56D-9749-8FA7-012A6FFB1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940AEA-A232-8E45-B81D-24868FB2C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DB3D5C-B45E-294F-899C-37B8ABB445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43D68E-FDF7-C045-8CAA-189B56B2E697}"/>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8" name="Footer Placeholder 7">
            <a:extLst>
              <a:ext uri="{FF2B5EF4-FFF2-40B4-BE49-F238E27FC236}">
                <a16:creationId xmlns:a16="http://schemas.microsoft.com/office/drawing/2014/main" id="{7C413D46-B78B-B34E-A26D-1E905B740B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BDADF-5108-CD45-9618-15BBE06090DB}"/>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99492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9E0C-142B-1A4D-89C5-B127E3184B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8F2823E-3DFF-BC40-A52F-4043983FB2DD}"/>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4" name="Footer Placeholder 3">
            <a:extLst>
              <a:ext uri="{FF2B5EF4-FFF2-40B4-BE49-F238E27FC236}">
                <a16:creationId xmlns:a16="http://schemas.microsoft.com/office/drawing/2014/main" id="{124D8986-40E4-9C4C-9000-D7F27294F6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A2C31-69A8-2541-8800-BF6093390D3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80514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6F4BA-B7C3-0B40-A517-3063895B03DF}"/>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3" name="Footer Placeholder 2">
            <a:extLst>
              <a:ext uri="{FF2B5EF4-FFF2-40B4-BE49-F238E27FC236}">
                <a16:creationId xmlns:a16="http://schemas.microsoft.com/office/drawing/2014/main" id="{4797E2D8-25FE-5D4E-AA84-54C5D96B6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3C8086-56AB-5846-9B21-24E9FACF9EE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56485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128B-CB7D-4949-BDCD-CEA57AD653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C22BEB-180F-2C4F-AD00-7398A27FFD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449D24-1922-914E-8AE1-EDB93293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CC72B2-DD18-5848-8941-A617E3E7920F}"/>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6" name="Footer Placeholder 5">
            <a:extLst>
              <a:ext uri="{FF2B5EF4-FFF2-40B4-BE49-F238E27FC236}">
                <a16:creationId xmlns:a16="http://schemas.microsoft.com/office/drawing/2014/main" id="{688227D4-8A18-8847-B7F4-B294D0E21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1A7C-E471-BB41-A5AE-D7F2A5EF524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0120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BA7A-65F6-804A-9941-BCE8970B95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38F054-1226-C841-8344-D63DBC021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1DC94-414C-3F41-B393-D969AAC6A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DE8132-7D31-F647-A931-5987A506D35F}"/>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6" name="Footer Placeholder 5">
            <a:extLst>
              <a:ext uri="{FF2B5EF4-FFF2-40B4-BE49-F238E27FC236}">
                <a16:creationId xmlns:a16="http://schemas.microsoft.com/office/drawing/2014/main" id="{59DF137E-B2CD-DD4D-BF38-E08630C9F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F7E92-EA36-7B48-A10F-1F43EE78FE1D}"/>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38456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4E04-9F9F-AB48-88B1-E1883CD331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657EA1-F037-8B4E-9A3A-2DE41A3DE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DB8C3C-2D4F-BE41-8BC7-084B83BEFA84}"/>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D612D0DE-14FE-1D40-BE53-A452852B6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D8C1-DBB4-6047-9F3A-27574BE70FD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1818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564D8-A2EB-6040-A321-450F2B3B53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E19CC6-DE46-8941-A1E0-A043207418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B8749-56EB-B24A-9291-4EBB8B556CFA}"/>
              </a:ext>
            </a:extLst>
          </p:cNvPr>
          <p:cNvSpPr>
            <a:spLocks noGrp="1"/>
          </p:cNvSpPr>
          <p:nvPr>
            <p:ph type="dt" sz="half" idx="10"/>
          </p:nvPr>
        </p:nvSpPr>
        <p:spPr/>
        <p:txBody>
          <a:body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527ABE29-13B7-C144-9FE6-C43F1BC65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9BD64-DA0B-7445-BB80-5A502968ADB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8931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0518A-80A7-B946-A2C0-357FF80B4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66F8D-B95D-3748-A8C1-B613B61AC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1E4AA-0008-E746-A8C3-917D9ECC1F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38E33-E634-164E-9160-E9D257145221}" type="datetimeFigureOut">
              <a:rPr lang="en-US" smtClean="0"/>
              <a:t>1/20/25</a:t>
            </a:fld>
            <a:endParaRPr lang="en-US"/>
          </a:p>
        </p:txBody>
      </p:sp>
      <p:sp>
        <p:nvSpPr>
          <p:cNvPr id="5" name="Footer Placeholder 4">
            <a:extLst>
              <a:ext uri="{FF2B5EF4-FFF2-40B4-BE49-F238E27FC236}">
                <a16:creationId xmlns:a16="http://schemas.microsoft.com/office/drawing/2014/main" id="{32A644B1-065E-4C4F-8DD6-AB2140588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71CFFB-C884-9249-B66F-52213D90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301A9-E266-4A4D-81C0-23C5428F31B4}" type="slidenum">
              <a:rPr lang="en-US" smtClean="0"/>
              <a:t>‹#›</a:t>
            </a:fld>
            <a:endParaRPr lang="en-US"/>
          </a:p>
        </p:txBody>
      </p:sp>
    </p:spTree>
    <p:extLst>
      <p:ext uri="{BB962C8B-B14F-4D97-AF65-F5344CB8AC3E}">
        <p14:creationId xmlns:p14="http://schemas.microsoft.com/office/powerpoint/2010/main" val="183214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gre.ac.uk/articles/ils/critical-think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scholar.google.com/" TargetMode="External"/><Relationship Id="rId1" Type="http://schemas.openxmlformats.org/officeDocument/2006/relationships/slideLayout" Target="../slideLayouts/slideLayout2.xml"/><Relationship Id="rId6" Type="http://schemas.openxmlformats.org/officeDocument/2006/relationships/hyperlink" Target="https://www.theverge.com/2022/12/5/23494220/elon-musk-twitter-climate-misinformation-rise-analysis" TargetMode="External"/><Relationship Id="rId5" Type="http://schemas.openxmlformats.org/officeDocument/2006/relationships/hyperlink" Target="https://www.bigissue.com/news/environment/jacob-rees-mogg-climate-change-denial-energy-secretary/" TargetMode="External"/><Relationship Id="rId4" Type="http://schemas.openxmlformats.org/officeDocument/2006/relationships/hyperlink" Target="https://scholar.google.com/scholar?hl=en&amp;as_sdt=0,5&amp;qsp=3&amp;q=climate+change+impacts&amp;qst=bb"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s://www.check4cancer.com/advice-and-awareness/blog/1683-what-are-the-12-things-you-can-do-to-reduce-your-cancer-risk#:~:text=Do%20not%20smoke,of%20cancer%20in%20the%20world"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ordpress.futurism.com/images/9-physics-questions-baffling-scientists-infographic"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en.wikipedia.org/wiki/Scientific_law#Laws_of_classical_mechanic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n.wikipedia.org/wiki/2011_end_times_prediction" TargetMode="External"/><Relationship Id="rId2" Type="http://schemas.openxmlformats.org/officeDocument/2006/relationships/hyperlink" Target="https://www.ncbi.nlm.nih.gov/pmc/articles/PMC10026885/"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re.ac.uk/articles/ils/articles-academic-skill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57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8B91-A0EF-6441-AC27-9667FD447C0F}"/>
              </a:ext>
            </a:extLst>
          </p:cNvPr>
          <p:cNvSpPr>
            <a:spLocks noGrp="1"/>
          </p:cNvSpPr>
          <p:nvPr>
            <p:ph type="ctrTitle"/>
          </p:nvPr>
        </p:nvSpPr>
        <p:spPr>
          <a:xfrm>
            <a:off x="0" y="1374113"/>
            <a:ext cx="12192000" cy="2472633"/>
          </a:xfrm>
          <a:ln>
            <a:noFill/>
          </a:ln>
          <a:effectLst>
            <a:outerShdw blurRad="165100" dist="101600" dir="5400000" algn="t" rotWithShape="0">
              <a:prstClr val="black">
                <a:alpha val="40000"/>
              </a:prstClr>
            </a:outerShdw>
          </a:effectLst>
        </p:spPr>
        <p:txBody>
          <a:bodyPr>
            <a:noAutofit/>
          </a:bodyPr>
          <a:lstStyle/>
          <a:p>
            <a:r>
              <a:rPr lang="en-US" sz="1500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 1842</a:t>
            </a:r>
          </a:p>
        </p:txBody>
      </p:sp>
      <p:sp>
        <p:nvSpPr>
          <p:cNvPr id="3" name="Subtitle 2">
            <a:extLst>
              <a:ext uri="{FF2B5EF4-FFF2-40B4-BE49-F238E27FC236}">
                <a16:creationId xmlns:a16="http://schemas.microsoft.com/office/drawing/2014/main" id="{7CC15634-394B-C140-BAEF-ABAB8B4926C9}"/>
              </a:ext>
            </a:extLst>
          </p:cNvPr>
          <p:cNvSpPr>
            <a:spLocks noGrp="1"/>
          </p:cNvSpPr>
          <p:nvPr>
            <p:ph type="subTitle" idx="1"/>
          </p:nvPr>
        </p:nvSpPr>
        <p:spPr>
          <a:xfrm>
            <a:off x="0" y="4076700"/>
            <a:ext cx="12192000" cy="1780089"/>
          </a:xfrm>
        </p:spPr>
        <p:txBody>
          <a:bodyPr>
            <a:normAutofit/>
          </a:bodyPr>
          <a:lstStyle/>
          <a:p>
            <a:r>
              <a:rPr lang="en-US" dirty="0">
                <a:solidFill>
                  <a:schemeClr val="bg1"/>
                </a:solidFill>
                <a:latin typeface="Helvetica Neue Thin" panose="020B0403020202020204" pitchFamily="34" charset="0"/>
                <a:ea typeface="Helvetica Neue Thin" panose="020B0403020202020204" pitchFamily="34" charset="0"/>
              </a:rPr>
              <a:t>Critical Thinking</a:t>
            </a:r>
          </a:p>
          <a:p>
            <a:r>
              <a:rPr lang="en-US" dirty="0">
                <a:solidFill>
                  <a:schemeClr val="bg1"/>
                </a:solidFill>
                <a:latin typeface="Helvetica Neue Thin" panose="020B0403020202020204" pitchFamily="34" charset="0"/>
                <a:ea typeface="Helvetica Neue Thin" panose="020B0403020202020204" pitchFamily="34" charset="0"/>
              </a:rPr>
              <a:t>Matt Prichard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D7C0677-BBE1-414B-814E-FB526796BABE}"/>
                  </a:ext>
                </a:extLst>
              </p14:cNvPr>
              <p14:cNvContentPartPr/>
              <p14:nvPr/>
            </p14:nvContentPartPr>
            <p14:xfrm>
              <a:off x="8651014" y="2840692"/>
              <a:ext cx="360" cy="3600"/>
            </p14:xfrm>
          </p:contentPart>
        </mc:Choice>
        <mc:Fallback xmlns="">
          <p:pic>
            <p:nvPicPr>
              <p:cNvPr id="5" name="Ink 4">
                <a:extLst>
                  <a:ext uri="{FF2B5EF4-FFF2-40B4-BE49-F238E27FC236}">
                    <a16:creationId xmlns:a16="http://schemas.microsoft.com/office/drawing/2014/main" id="{DD7C0677-BBE1-414B-814E-FB526796BABE}"/>
                  </a:ext>
                </a:extLst>
              </p:cNvPr>
              <p:cNvPicPr/>
              <p:nvPr/>
            </p:nvPicPr>
            <p:blipFill>
              <a:blip r:embed="rId3"/>
              <a:stretch>
                <a:fillRect/>
              </a:stretch>
            </p:blipFill>
            <p:spPr>
              <a:xfrm>
                <a:off x="8642374" y="283169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850E275-2940-D64F-8F9D-8FEA90F263CD}"/>
                  </a:ext>
                </a:extLst>
              </p14:cNvPr>
              <p14:cNvContentPartPr/>
              <p14:nvPr/>
            </p14:nvContentPartPr>
            <p14:xfrm>
              <a:off x="7568494" y="1355692"/>
              <a:ext cx="3600" cy="3600"/>
            </p14:xfrm>
          </p:contentPart>
        </mc:Choice>
        <mc:Fallback xmlns="">
          <p:pic>
            <p:nvPicPr>
              <p:cNvPr id="6" name="Ink 5">
                <a:extLst>
                  <a:ext uri="{FF2B5EF4-FFF2-40B4-BE49-F238E27FC236}">
                    <a16:creationId xmlns:a16="http://schemas.microsoft.com/office/drawing/2014/main" id="{2850E275-2940-D64F-8F9D-8FEA90F263CD}"/>
                  </a:ext>
                </a:extLst>
              </p:cNvPr>
              <p:cNvPicPr/>
              <p:nvPr/>
            </p:nvPicPr>
            <p:blipFill>
              <a:blip r:embed="rId5"/>
              <a:stretch>
                <a:fillRect/>
              </a:stretch>
            </p:blipFill>
            <p:spPr>
              <a:xfrm>
                <a:off x="7559854" y="1347052"/>
                <a:ext cx="21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C9CF2D3-71F9-664F-83A1-4ACBF7039607}"/>
                  </a:ext>
                </a:extLst>
              </p14:cNvPr>
              <p14:cNvContentPartPr/>
              <p14:nvPr/>
            </p14:nvContentPartPr>
            <p14:xfrm>
              <a:off x="5078734" y="3049852"/>
              <a:ext cx="360" cy="3600"/>
            </p14:xfrm>
          </p:contentPart>
        </mc:Choice>
        <mc:Fallback xmlns="">
          <p:pic>
            <p:nvPicPr>
              <p:cNvPr id="7" name="Ink 6">
                <a:extLst>
                  <a:ext uri="{FF2B5EF4-FFF2-40B4-BE49-F238E27FC236}">
                    <a16:creationId xmlns:a16="http://schemas.microsoft.com/office/drawing/2014/main" id="{3C9CF2D3-71F9-664F-83A1-4ACBF7039607}"/>
                  </a:ext>
                </a:extLst>
              </p:cNvPr>
              <p:cNvPicPr/>
              <p:nvPr/>
            </p:nvPicPr>
            <p:blipFill>
              <a:blip r:embed="rId3"/>
              <a:stretch>
                <a:fillRect/>
              </a:stretch>
            </p:blipFill>
            <p:spPr>
              <a:xfrm>
                <a:off x="5070094" y="304121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FDACCB0-A54B-354A-A3EC-60B7525CDF0A}"/>
                  </a:ext>
                </a:extLst>
              </p14:cNvPr>
              <p14:cNvContentPartPr/>
              <p14:nvPr/>
            </p14:nvContentPartPr>
            <p14:xfrm>
              <a:off x="5525854" y="1776532"/>
              <a:ext cx="360" cy="360"/>
            </p14:xfrm>
          </p:contentPart>
        </mc:Choice>
        <mc:Fallback xmlns="">
          <p:pic>
            <p:nvPicPr>
              <p:cNvPr id="8" name="Ink 7">
                <a:extLst>
                  <a:ext uri="{FF2B5EF4-FFF2-40B4-BE49-F238E27FC236}">
                    <a16:creationId xmlns:a16="http://schemas.microsoft.com/office/drawing/2014/main" id="{8FDACCB0-A54B-354A-A3EC-60B7525CDF0A}"/>
                  </a:ext>
                </a:extLst>
              </p:cNvPr>
              <p:cNvPicPr/>
              <p:nvPr/>
            </p:nvPicPr>
            <p:blipFill>
              <a:blip r:embed="rId8"/>
              <a:stretch>
                <a:fillRect/>
              </a:stretch>
            </p:blipFill>
            <p:spPr>
              <a:xfrm>
                <a:off x="5517214" y="17675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5448C-44AF-1340-8608-65DF607A0667}"/>
                  </a:ext>
                </a:extLst>
              </p14:cNvPr>
              <p14:cNvContentPartPr/>
              <p14:nvPr/>
            </p14:nvContentPartPr>
            <p14:xfrm>
              <a:off x="768814" y="1290172"/>
              <a:ext cx="3600" cy="360"/>
            </p14:xfrm>
          </p:contentPart>
        </mc:Choice>
        <mc:Fallback xmlns="">
          <p:pic>
            <p:nvPicPr>
              <p:cNvPr id="9" name="Ink 8">
                <a:extLst>
                  <a:ext uri="{FF2B5EF4-FFF2-40B4-BE49-F238E27FC236}">
                    <a16:creationId xmlns:a16="http://schemas.microsoft.com/office/drawing/2014/main" id="{6465448C-44AF-1340-8608-65DF607A0667}"/>
                  </a:ext>
                </a:extLst>
              </p:cNvPr>
              <p:cNvPicPr/>
              <p:nvPr/>
            </p:nvPicPr>
            <p:blipFill>
              <a:blip r:embed="rId10"/>
              <a:stretch>
                <a:fillRect/>
              </a:stretch>
            </p:blipFill>
            <p:spPr>
              <a:xfrm>
                <a:off x="759814" y="1281532"/>
                <a:ext cx="21240" cy="18000"/>
              </a:xfrm>
              <a:prstGeom prst="rect">
                <a:avLst/>
              </a:prstGeom>
            </p:spPr>
          </p:pic>
        </mc:Fallback>
      </mc:AlternateContent>
    </p:spTree>
    <p:extLst>
      <p:ext uri="{BB962C8B-B14F-4D97-AF65-F5344CB8AC3E}">
        <p14:creationId xmlns:p14="http://schemas.microsoft.com/office/powerpoint/2010/main" val="16342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Intro</a:t>
            </a:r>
          </a:p>
        </p:txBody>
      </p:sp>
      <p:sp>
        <p:nvSpPr>
          <p:cNvPr id="7" name="Content Placeholder 6">
            <a:extLst>
              <a:ext uri="{FF2B5EF4-FFF2-40B4-BE49-F238E27FC236}">
                <a16:creationId xmlns:a16="http://schemas.microsoft.com/office/drawing/2014/main" id="{51195C3A-66A8-A775-D4C6-65E1EEFC9E74}"/>
              </a:ext>
            </a:extLst>
          </p:cNvPr>
          <p:cNvSpPr>
            <a:spLocks noGrp="1"/>
          </p:cNvSpPr>
          <p:nvPr>
            <p:ph idx="1"/>
          </p:nvPr>
        </p:nvSpPr>
        <p:spPr>
          <a:xfrm>
            <a:off x="838199" y="1610449"/>
            <a:ext cx="8190053" cy="4882426"/>
          </a:xfrm>
        </p:spPr>
        <p:txBody>
          <a:bodyPr>
            <a:normAutofit/>
          </a:bodyPr>
          <a:lstStyle/>
          <a:p>
            <a:pPr>
              <a:lnSpc>
                <a:spcPct val="120000"/>
              </a:lnSpc>
            </a:pPr>
            <a:r>
              <a:rPr lang="en-US" sz="2900" dirty="0">
                <a:latin typeface="Helvetica Neue Light" panose="02000403000000020004" pitchFamily="2" charset="0"/>
                <a:ea typeface="Helvetica Neue Light" panose="02000403000000020004" pitchFamily="2" charset="0"/>
              </a:rPr>
              <a:t>Critical thinking</a:t>
            </a:r>
          </a:p>
          <a:p>
            <a:pPr>
              <a:lnSpc>
                <a:spcPct val="120000"/>
              </a:lnSpc>
            </a:pPr>
            <a:r>
              <a:rPr lang="en-US" sz="2900" dirty="0">
                <a:latin typeface="Helvetica Neue Light" panose="02000403000000020004" pitchFamily="2" charset="0"/>
                <a:ea typeface="Helvetica Neue Light" panose="02000403000000020004" pitchFamily="2" charset="0"/>
              </a:rPr>
              <a:t>Evidence, peer review</a:t>
            </a:r>
          </a:p>
          <a:p>
            <a:pPr>
              <a:lnSpc>
                <a:spcPct val="120000"/>
              </a:lnSpc>
            </a:pPr>
            <a:r>
              <a:rPr lang="en-US" sz="2900" dirty="0">
                <a:latin typeface="Helvetica Neue Light" panose="02000403000000020004" pitchFamily="2" charset="0"/>
                <a:ea typeface="Helvetica Neue Light" panose="02000403000000020004" pitchFamily="2" charset="0"/>
              </a:rPr>
              <a:t>The scientific method</a:t>
            </a:r>
          </a:p>
          <a:p>
            <a:pPr>
              <a:lnSpc>
                <a:spcPct val="120000"/>
              </a:lnSpc>
            </a:pPr>
            <a:r>
              <a:rPr lang="en-US" sz="2900" dirty="0">
                <a:latin typeface="Helvetica Neue Light" panose="02000403000000020004" pitchFamily="2" charset="0"/>
                <a:ea typeface="Helvetica Neue Light" panose="02000403000000020004" pitchFamily="2" charset="0"/>
              </a:rPr>
              <a:t>Hypothesis, Theory and Law</a:t>
            </a:r>
          </a:p>
          <a:p>
            <a:pPr>
              <a:lnSpc>
                <a:spcPct val="120000"/>
              </a:lnSpc>
            </a:pPr>
            <a:r>
              <a:rPr lang="en-US" sz="2900" dirty="0">
                <a:latin typeface="Helvetica Neue Light" panose="02000403000000020004" pitchFamily="2" charset="0"/>
                <a:ea typeface="Helvetica Neue Light" panose="02000403000000020004" pitchFamily="2" charset="0"/>
              </a:rPr>
              <a:t>Cognitive dissonance</a:t>
            </a:r>
          </a:p>
          <a:p>
            <a:pPr>
              <a:lnSpc>
                <a:spcPct val="120000"/>
              </a:lnSpc>
            </a:pPr>
            <a:r>
              <a:rPr lang="en-US" sz="2900" dirty="0">
                <a:latin typeface="Helvetica Neue Light" panose="02000403000000020004" pitchFamily="2" charset="0"/>
                <a:ea typeface="Helvetica Neue Light" panose="02000403000000020004" pitchFamily="2" charset="0"/>
              </a:rPr>
              <a:t>Confirmation bias</a:t>
            </a:r>
          </a:p>
          <a:p>
            <a:pPr>
              <a:lnSpc>
                <a:spcPct val="120000"/>
              </a:lnSpc>
            </a:pPr>
            <a:r>
              <a:rPr lang="en-US" sz="2900" dirty="0">
                <a:latin typeface="Helvetica Neue Light" panose="02000403000000020004" pitchFamily="2" charset="0"/>
                <a:ea typeface="Helvetica Neue Light" panose="02000403000000020004" pitchFamily="2" charset="0"/>
              </a:rPr>
              <a:t>1</a:t>
            </a:r>
            <a:r>
              <a:rPr lang="en-US" sz="2900" baseline="30000" dirty="0">
                <a:latin typeface="Helvetica Neue Light" panose="02000403000000020004" pitchFamily="2" charset="0"/>
                <a:ea typeface="Helvetica Neue Light" panose="02000403000000020004" pitchFamily="2" charset="0"/>
              </a:rPr>
              <a:t>st</a:t>
            </a:r>
            <a:r>
              <a:rPr lang="en-US" sz="2900" dirty="0">
                <a:latin typeface="Helvetica Neue Light" panose="02000403000000020004" pitchFamily="2" charset="0"/>
                <a:ea typeface="Helvetica Neue Light" panose="02000403000000020004" pitchFamily="2" charset="0"/>
              </a:rPr>
              <a:t>, 2</a:t>
            </a:r>
            <a:r>
              <a:rPr lang="en-US" sz="2900" baseline="30000" dirty="0">
                <a:latin typeface="Helvetica Neue Light" panose="02000403000000020004" pitchFamily="2" charset="0"/>
                <a:ea typeface="Helvetica Neue Light" panose="02000403000000020004" pitchFamily="2" charset="0"/>
              </a:rPr>
              <a:t>nd</a:t>
            </a:r>
            <a:r>
              <a:rPr lang="en-US" sz="2900" dirty="0">
                <a:latin typeface="Helvetica Neue Light" panose="02000403000000020004" pitchFamily="2" charset="0"/>
                <a:ea typeface="Helvetica Neue Light" panose="02000403000000020004" pitchFamily="2" charset="0"/>
              </a:rPr>
              <a:t> and 3</a:t>
            </a:r>
            <a:r>
              <a:rPr lang="en-US" sz="2900" baseline="30000" dirty="0">
                <a:latin typeface="Helvetica Neue Light" panose="02000403000000020004" pitchFamily="2" charset="0"/>
                <a:ea typeface="Helvetica Neue Light" panose="02000403000000020004" pitchFamily="2" charset="0"/>
              </a:rPr>
              <a:t>rd</a:t>
            </a:r>
            <a:r>
              <a:rPr lang="en-US" sz="2900" dirty="0">
                <a:latin typeface="Helvetica Neue Light" panose="02000403000000020004" pitchFamily="2" charset="0"/>
                <a:ea typeface="Helvetica Neue Light" panose="02000403000000020004" pitchFamily="2" charset="0"/>
              </a:rPr>
              <a:t> person</a:t>
            </a:r>
          </a:p>
        </p:txBody>
      </p:sp>
    </p:spTree>
    <p:extLst>
      <p:ext uri="{BB962C8B-B14F-4D97-AF65-F5344CB8AC3E}">
        <p14:creationId xmlns:p14="http://schemas.microsoft.com/office/powerpoint/2010/main" val="465797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EB3B3-DBA2-6C55-1B46-A463A2A853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965654-D891-3735-9D95-A92A269FC056}"/>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Critical thinking</a:t>
            </a:r>
          </a:p>
        </p:txBody>
      </p:sp>
      <p:sp>
        <p:nvSpPr>
          <p:cNvPr id="7" name="Content Placeholder 6">
            <a:extLst>
              <a:ext uri="{FF2B5EF4-FFF2-40B4-BE49-F238E27FC236}">
                <a16:creationId xmlns:a16="http://schemas.microsoft.com/office/drawing/2014/main" id="{F914588A-A92A-5B9C-F37D-B3863B19FDAD}"/>
              </a:ext>
            </a:extLst>
          </p:cNvPr>
          <p:cNvSpPr>
            <a:spLocks noGrp="1"/>
          </p:cNvSpPr>
          <p:nvPr>
            <p:ph idx="1"/>
          </p:nvPr>
        </p:nvSpPr>
        <p:spPr>
          <a:xfrm>
            <a:off x="838200" y="1825625"/>
            <a:ext cx="10643886" cy="4351338"/>
          </a:xfrm>
        </p:spPr>
        <p:txBody>
          <a:bodyPr>
            <a:normAutofit/>
          </a:bodyPr>
          <a:lstStyle/>
          <a:p>
            <a:pPr marL="0" indent="0">
              <a:lnSpc>
                <a:spcPct val="150000"/>
              </a:lnSpc>
              <a:buNone/>
            </a:pPr>
            <a:r>
              <a:rPr lang="en-GB" dirty="0">
                <a:solidFill>
                  <a:srgbClr val="202124"/>
                </a:solidFill>
                <a:effectLst/>
                <a:latin typeface="Helvetica Neue Light" panose="02000403000000020004" pitchFamily="2" charset="0"/>
                <a:ea typeface="Helvetica Neue Light" panose="02000403000000020004" pitchFamily="2" charset="0"/>
              </a:rPr>
              <a:t>Critical thinking is </a:t>
            </a:r>
            <a:r>
              <a:rPr lang="en-GB" dirty="0">
                <a:solidFill>
                  <a:srgbClr val="040C28"/>
                </a:solidFill>
                <a:effectLst/>
                <a:latin typeface="Helvetica Neue Light" panose="02000403000000020004" pitchFamily="2" charset="0"/>
                <a:ea typeface="Helvetica Neue Light" panose="02000403000000020004" pitchFamily="2" charset="0"/>
              </a:rPr>
              <a:t>the art of making clear, reasoned judgements based on interpreting, understanding, applying and synthesising evidence gathered from observation, reading and experimentation</a:t>
            </a:r>
            <a:r>
              <a:rPr lang="en-GB" dirty="0">
                <a:solidFill>
                  <a:srgbClr val="202124"/>
                </a:solidFill>
                <a:effectLst/>
                <a:latin typeface="Helvetica Neue Light" panose="02000403000000020004" pitchFamily="2" charset="0"/>
                <a:ea typeface="Helvetica Neue Light" panose="02000403000000020004" pitchFamily="2" charset="0"/>
              </a:rPr>
              <a:t>.</a:t>
            </a:r>
          </a:p>
          <a:p>
            <a:pPr marL="0" indent="0">
              <a:lnSpc>
                <a:spcPct val="150000"/>
              </a:lnSpc>
              <a:buNone/>
            </a:pPr>
            <a:endParaRPr lang="en-GB" dirty="0">
              <a:solidFill>
                <a:srgbClr val="202124"/>
              </a:solidFill>
              <a:effectLst/>
              <a:latin typeface="Helvetica Neue Light" panose="02000403000000020004" pitchFamily="2" charset="0"/>
              <a:ea typeface="Helvetica Neue Light" panose="02000403000000020004" pitchFamily="2" charset="0"/>
            </a:endParaRPr>
          </a:p>
          <a:p>
            <a:pPr marL="0" indent="0">
              <a:lnSpc>
                <a:spcPct val="150000"/>
              </a:lnSpc>
              <a:buNone/>
            </a:pPr>
            <a:r>
              <a:rPr lang="en-US" dirty="0">
                <a:latin typeface="Helvetica Neue Light" panose="02000403000000020004" pitchFamily="2" charset="0"/>
                <a:ea typeface="Helvetica Neue Light" panose="02000403000000020004" pitchFamily="2" charset="0"/>
              </a:rPr>
              <a:t>Critical thinking is the ability to </a:t>
            </a:r>
            <a:r>
              <a:rPr lang="en-US" b="1" dirty="0">
                <a:solidFill>
                  <a:srgbClr val="D3473F"/>
                </a:solidFill>
                <a:latin typeface="Helvetica Neue Light" panose="02000403000000020004" pitchFamily="2" charset="0"/>
                <a:ea typeface="Helvetica Neue Light" panose="02000403000000020004" pitchFamily="2" charset="0"/>
              </a:rPr>
              <a:t>objectively</a:t>
            </a:r>
            <a:r>
              <a:rPr lang="en-US" dirty="0">
                <a:latin typeface="Helvetica Neue Light" panose="02000403000000020004" pitchFamily="2" charset="0"/>
                <a:ea typeface="Helvetica Neue Light" panose="02000403000000020004" pitchFamily="2" charset="0"/>
              </a:rPr>
              <a:t> analyze information and draw a </a:t>
            </a:r>
            <a:r>
              <a:rPr lang="en-US" b="1" dirty="0">
                <a:solidFill>
                  <a:srgbClr val="D3473F"/>
                </a:solidFill>
                <a:latin typeface="Helvetica Neue Light" panose="02000403000000020004" pitchFamily="2" charset="0"/>
                <a:ea typeface="Helvetica Neue Light" panose="02000403000000020004" pitchFamily="2" charset="0"/>
              </a:rPr>
              <a:t>rational</a:t>
            </a:r>
            <a:r>
              <a:rPr lang="en-US" dirty="0">
                <a:latin typeface="Helvetica Neue Light" panose="02000403000000020004" pitchFamily="2" charset="0"/>
                <a:ea typeface="Helvetica Neue Light" panose="02000403000000020004" pitchFamily="2" charset="0"/>
              </a:rPr>
              <a:t> conclusion. </a:t>
            </a:r>
          </a:p>
        </p:txBody>
      </p:sp>
    </p:spTree>
    <p:extLst>
      <p:ext uri="{BB962C8B-B14F-4D97-AF65-F5344CB8AC3E}">
        <p14:creationId xmlns:p14="http://schemas.microsoft.com/office/powerpoint/2010/main" val="760240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FBEA7-8849-EFC9-CFB3-57B8D3A6600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7225DF0-5747-D162-B8A7-F1AF702AE6F3}"/>
              </a:ext>
            </a:extLst>
          </p:cNvPr>
          <p:cNvSpPr/>
          <p:nvPr/>
        </p:nvSpPr>
        <p:spPr>
          <a:xfrm>
            <a:off x="0" y="0"/>
            <a:ext cx="12192000" cy="6877052"/>
          </a:xfrm>
          <a:prstGeom prst="rect">
            <a:avLst/>
          </a:prstGeom>
          <a:solidFill>
            <a:srgbClr val="FF574B">
              <a:alpha val="4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ritical Thinking Skills">
            <a:extLst>
              <a:ext uri="{FF2B5EF4-FFF2-40B4-BE49-F238E27FC236}">
                <a16:creationId xmlns:a16="http://schemas.microsoft.com/office/drawing/2014/main" id="{36067576-F504-204F-8F29-AC0091B8E3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7474" y="0"/>
            <a:ext cx="6877052" cy="6877052"/>
          </a:xfrm>
          <a:prstGeom prst="rect">
            <a:avLst/>
          </a:prstGeom>
          <a:noFill/>
          <a:ln>
            <a:solidFill>
              <a:schemeClr val="accent1">
                <a:shade val="1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6247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0BAAB-B37F-2DC8-3F0F-03299CAB083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59DCA8-4A88-D5C6-D108-2238D40C9CAD}"/>
              </a:ext>
            </a:extLst>
          </p:cNvPr>
          <p:cNvSpPr>
            <a:spLocks noGrp="1"/>
          </p:cNvSpPr>
          <p:nvPr>
            <p:ph type="title"/>
          </p:nvPr>
        </p:nvSpPr>
        <p:spPr>
          <a:xfrm>
            <a:off x="838200" y="226229"/>
            <a:ext cx="10515600" cy="1325563"/>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Evaluating a source's credibility</a:t>
            </a:r>
          </a:p>
        </p:txBody>
      </p:sp>
      <p:sp>
        <p:nvSpPr>
          <p:cNvPr id="7" name="Content Placeholder 6">
            <a:extLst>
              <a:ext uri="{FF2B5EF4-FFF2-40B4-BE49-F238E27FC236}">
                <a16:creationId xmlns:a16="http://schemas.microsoft.com/office/drawing/2014/main" id="{7A8BB2E6-05C4-1D8C-EA11-3CA4505BDC53}"/>
              </a:ext>
            </a:extLst>
          </p:cNvPr>
          <p:cNvSpPr>
            <a:spLocks noGrp="1"/>
          </p:cNvSpPr>
          <p:nvPr>
            <p:ph idx="1"/>
          </p:nvPr>
        </p:nvSpPr>
        <p:spPr>
          <a:xfrm>
            <a:off x="838200" y="1551792"/>
            <a:ext cx="10643886" cy="4351338"/>
          </a:xfrm>
        </p:spPr>
        <p:txBody>
          <a:bodyPr>
            <a:normAutofit lnSpcReduction="10000"/>
          </a:bodyPr>
          <a:lstStyle/>
          <a:p>
            <a:pPr algn="l">
              <a:lnSpc>
                <a:spcPct val="150000"/>
              </a:lnSpc>
              <a:buFont typeface="Arial" panose="020B0604020202020204" pitchFamily="34" charset="0"/>
              <a:buChar char="•"/>
            </a:pPr>
            <a:r>
              <a:rPr lang="en-GB" dirty="0">
                <a:solidFill>
                  <a:srgbClr val="D3473F"/>
                </a:solidFill>
                <a:effectLst/>
                <a:latin typeface="Helvetica Neue Light" panose="02000403000000020004" pitchFamily="2" charset="0"/>
                <a:ea typeface="Helvetica Neue Light" panose="02000403000000020004" pitchFamily="2" charset="0"/>
              </a:rPr>
              <a:t>Currency: </a:t>
            </a:r>
            <a:r>
              <a:rPr lang="en-GB" dirty="0">
                <a:solidFill>
                  <a:srgbClr val="202124"/>
                </a:solidFill>
                <a:effectLst/>
                <a:latin typeface="Helvetica Neue Light" panose="02000403000000020004" pitchFamily="2" charset="0"/>
                <a:ea typeface="Helvetica Neue Light" panose="02000403000000020004" pitchFamily="2" charset="0"/>
              </a:rPr>
              <a:t>Does the source reflect recent research?</a:t>
            </a:r>
          </a:p>
          <a:p>
            <a:pPr algn="l">
              <a:lnSpc>
                <a:spcPct val="150000"/>
              </a:lnSpc>
              <a:buFont typeface="Arial" panose="020B0604020202020204" pitchFamily="34" charset="0"/>
              <a:buChar char="•"/>
            </a:pPr>
            <a:r>
              <a:rPr lang="en-GB" dirty="0">
                <a:solidFill>
                  <a:srgbClr val="D3473F"/>
                </a:solidFill>
                <a:effectLst/>
                <a:latin typeface="Helvetica Neue Light" panose="02000403000000020004" pitchFamily="2" charset="0"/>
                <a:ea typeface="Helvetica Neue Light" panose="02000403000000020004" pitchFamily="2" charset="0"/>
              </a:rPr>
              <a:t>Relevance: </a:t>
            </a:r>
            <a:r>
              <a:rPr lang="en-GB" dirty="0">
                <a:solidFill>
                  <a:srgbClr val="202124"/>
                </a:solidFill>
                <a:effectLst/>
                <a:latin typeface="Helvetica Neue Light" panose="02000403000000020004" pitchFamily="2" charset="0"/>
                <a:ea typeface="Helvetica Neue Light" panose="02000403000000020004" pitchFamily="2" charset="0"/>
              </a:rPr>
              <a:t>Is the source related to your research topic?</a:t>
            </a:r>
          </a:p>
          <a:p>
            <a:pPr algn="l">
              <a:lnSpc>
                <a:spcPct val="150000"/>
              </a:lnSpc>
              <a:buFont typeface="Arial" panose="020B0604020202020204" pitchFamily="34" charset="0"/>
              <a:buChar char="•"/>
            </a:pPr>
            <a:r>
              <a:rPr lang="en-GB" dirty="0">
                <a:solidFill>
                  <a:srgbClr val="D3473F"/>
                </a:solidFill>
                <a:effectLst/>
                <a:latin typeface="Helvetica Neue Light" panose="02000403000000020004" pitchFamily="2" charset="0"/>
                <a:ea typeface="Helvetica Neue Light" panose="02000403000000020004" pitchFamily="2" charset="0"/>
              </a:rPr>
              <a:t>Authority: </a:t>
            </a:r>
            <a:r>
              <a:rPr lang="en-GB" dirty="0">
                <a:solidFill>
                  <a:srgbClr val="202124"/>
                </a:solidFill>
                <a:effectLst/>
                <a:latin typeface="Helvetica Neue Light" panose="02000403000000020004" pitchFamily="2" charset="0"/>
                <a:ea typeface="Helvetica Neue Light" panose="02000403000000020004" pitchFamily="2" charset="0"/>
              </a:rPr>
              <a:t>Is it a respected publication? </a:t>
            </a:r>
          </a:p>
          <a:p>
            <a:pPr algn="l">
              <a:lnSpc>
                <a:spcPct val="150000"/>
              </a:lnSpc>
              <a:buFont typeface="Arial" panose="020B0604020202020204" pitchFamily="34" charset="0"/>
              <a:buChar char="•"/>
            </a:pPr>
            <a:r>
              <a:rPr lang="en-GB" dirty="0">
                <a:solidFill>
                  <a:srgbClr val="D3473F"/>
                </a:solidFill>
                <a:effectLst/>
                <a:latin typeface="Helvetica Neue Light" panose="02000403000000020004" pitchFamily="2" charset="0"/>
                <a:ea typeface="Helvetica Neue Light" panose="02000403000000020004" pitchFamily="2" charset="0"/>
              </a:rPr>
              <a:t>Accuracy</a:t>
            </a:r>
            <a:r>
              <a:rPr lang="en-GB" dirty="0">
                <a:solidFill>
                  <a:srgbClr val="202124"/>
                </a:solidFill>
                <a:effectLst/>
                <a:latin typeface="Helvetica Neue Light" panose="02000403000000020004" pitchFamily="2" charset="0"/>
                <a:ea typeface="Helvetica Neue Light" panose="02000403000000020004" pitchFamily="2" charset="0"/>
              </a:rPr>
              <a:t>: Does the source support its arguments and conclusions with evidence?</a:t>
            </a:r>
          </a:p>
          <a:p>
            <a:pPr algn="l">
              <a:lnSpc>
                <a:spcPct val="150000"/>
              </a:lnSpc>
              <a:buFont typeface="Arial" panose="020B0604020202020204" pitchFamily="34" charset="0"/>
              <a:buChar char="•"/>
            </a:pPr>
            <a:r>
              <a:rPr lang="en-GB" dirty="0">
                <a:solidFill>
                  <a:srgbClr val="D3473F"/>
                </a:solidFill>
                <a:effectLst/>
                <a:latin typeface="Helvetica Neue Light" panose="02000403000000020004" pitchFamily="2" charset="0"/>
                <a:ea typeface="Helvetica Neue Light" panose="02000403000000020004" pitchFamily="2" charset="0"/>
              </a:rPr>
              <a:t>Purpose: </a:t>
            </a:r>
            <a:r>
              <a:rPr lang="en-GB" dirty="0">
                <a:solidFill>
                  <a:srgbClr val="202124"/>
                </a:solidFill>
                <a:effectLst/>
                <a:latin typeface="Helvetica Neue Light" panose="02000403000000020004" pitchFamily="2" charset="0"/>
                <a:ea typeface="Helvetica Neue Light" panose="02000403000000020004" pitchFamily="2" charset="0"/>
              </a:rPr>
              <a:t>What is the author's intention?</a:t>
            </a:r>
          </a:p>
        </p:txBody>
      </p:sp>
      <p:sp>
        <p:nvSpPr>
          <p:cNvPr id="3" name="TextBox 2">
            <a:extLst>
              <a:ext uri="{FF2B5EF4-FFF2-40B4-BE49-F238E27FC236}">
                <a16:creationId xmlns:a16="http://schemas.microsoft.com/office/drawing/2014/main" id="{0D043DFB-87DC-6ECD-EF81-0AC33AB3136C}"/>
              </a:ext>
            </a:extLst>
          </p:cNvPr>
          <p:cNvSpPr txBox="1"/>
          <p:nvPr/>
        </p:nvSpPr>
        <p:spPr>
          <a:xfrm>
            <a:off x="1032272" y="6060292"/>
            <a:ext cx="9540478" cy="461665"/>
          </a:xfrm>
          <a:prstGeom prst="rect">
            <a:avLst/>
          </a:prstGeom>
          <a:noFill/>
        </p:spPr>
        <p:txBody>
          <a:bodyPr wrap="square">
            <a:spAutoFit/>
          </a:bodyPr>
          <a:lstStyle/>
          <a:p>
            <a:r>
              <a:rPr lang="en-US" sz="2400" dirty="0">
                <a:hlinkClick r:id="rId2"/>
              </a:rPr>
              <a:t>https://www.gre.ac.uk/articles/ils/critical-thinking</a:t>
            </a:r>
            <a:endParaRPr lang="en-US" sz="2400" dirty="0"/>
          </a:p>
        </p:txBody>
      </p:sp>
    </p:spTree>
    <p:extLst>
      <p:ext uri="{BB962C8B-B14F-4D97-AF65-F5344CB8AC3E}">
        <p14:creationId xmlns:p14="http://schemas.microsoft.com/office/powerpoint/2010/main" val="3630346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601A2-A0CC-8580-25BC-C46CB373F4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8FB4F6-33D1-6441-4128-0E4F4F4EBDBF}"/>
              </a:ext>
            </a:extLst>
          </p:cNvPr>
          <p:cNvSpPr>
            <a:spLocks noGrp="1"/>
          </p:cNvSpPr>
          <p:nvPr>
            <p:ph type="title"/>
          </p:nvPr>
        </p:nvSpPr>
        <p:spPr>
          <a:xfrm>
            <a:off x="838200" y="226229"/>
            <a:ext cx="10515600" cy="1325563"/>
          </a:xfrm>
        </p:spPr>
        <p:txBody>
          <a:bodyPr>
            <a:normAutofit/>
          </a:bodyPr>
          <a:lstStyle/>
          <a:p>
            <a:pPr>
              <a:lnSpc>
                <a:spcPct val="150000"/>
              </a:lnSpc>
            </a:pPr>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Brexit</a:t>
            </a:r>
          </a:p>
        </p:txBody>
      </p:sp>
      <p:sp>
        <p:nvSpPr>
          <p:cNvPr id="7" name="Content Placeholder 6">
            <a:extLst>
              <a:ext uri="{FF2B5EF4-FFF2-40B4-BE49-F238E27FC236}">
                <a16:creationId xmlns:a16="http://schemas.microsoft.com/office/drawing/2014/main" id="{09EF2873-D677-0899-BB6F-CD918F671D35}"/>
              </a:ext>
            </a:extLst>
          </p:cNvPr>
          <p:cNvSpPr>
            <a:spLocks noGrp="1"/>
          </p:cNvSpPr>
          <p:nvPr>
            <p:ph idx="1"/>
          </p:nvPr>
        </p:nvSpPr>
        <p:spPr>
          <a:xfrm>
            <a:off x="838200" y="1675827"/>
            <a:ext cx="10643886" cy="3506345"/>
          </a:xfrm>
        </p:spPr>
        <p:txBody>
          <a:bodyPr>
            <a:normAutofit/>
          </a:bodyPr>
          <a:lstStyle/>
          <a:p>
            <a:pPr marL="0" indent="0" algn="l">
              <a:lnSpc>
                <a:spcPct val="150000"/>
              </a:lnSpc>
              <a:buNone/>
            </a:pPr>
            <a:r>
              <a:rPr lang="en-GB" sz="3600" dirty="0">
                <a:effectLst/>
                <a:latin typeface="Helvetica Neue Light" panose="02000403000000020004" pitchFamily="2" charset="0"/>
                <a:ea typeface="Helvetica Neue Light" panose="02000403000000020004" pitchFamily="2" charset="0"/>
              </a:rPr>
              <a:t>Brexit was a sobering example of the lack of critical thinking skills among the general population leading to a decision based on emotion and </a:t>
            </a:r>
            <a:r>
              <a:rPr lang="en-GB" sz="3600" dirty="0">
                <a:latin typeface="Helvetica Neue Light" panose="02000403000000020004" pitchFamily="2" charset="0"/>
                <a:ea typeface="Helvetica Neue Light" panose="02000403000000020004" pitchFamily="2" charset="0"/>
              </a:rPr>
              <a:t>misleading information </a:t>
            </a:r>
            <a:r>
              <a:rPr lang="en-GB" sz="3600" dirty="0">
                <a:effectLst/>
                <a:latin typeface="Helvetica Neue Light" panose="02000403000000020004" pitchFamily="2" charset="0"/>
                <a:ea typeface="Helvetica Neue Light" panose="02000403000000020004" pitchFamily="2" charset="0"/>
              </a:rPr>
              <a:t>not evidence.</a:t>
            </a:r>
          </a:p>
        </p:txBody>
      </p:sp>
    </p:spTree>
    <p:extLst>
      <p:ext uri="{BB962C8B-B14F-4D97-AF65-F5344CB8AC3E}">
        <p14:creationId xmlns:p14="http://schemas.microsoft.com/office/powerpoint/2010/main" val="2518571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1FC02-F166-72E9-1C79-B6A065308A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B2B3B5-1151-F20A-6A5E-F87E82A13844}"/>
              </a:ext>
            </a:extLst>
          </p:cNvPr>
          <p:cNvSpPr>
            <a:spLocks noGrp="1"/>
          </p:cNvSpPr>
          <p:nvPr>
            <p:ph type="title"/>
          </p:nvPr>
        </p:nvSpPr>
        <p:spPr>
          <a:xfrm>
            <a:off x="838200" y="226229"/>
            <a:ext cx="10515600" cy="1325563"/>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Google scholar vs Google or Twitter </a:t>
            </a:r>
          </a:p>
        </p:txBody>
      </p:sp>
      <p:sp>
        <p:nvSpPr>
          <p:cNvPr id="3" name="TextBox 2">
            <a:extLst>
              <a:ext uri="{FF2B5EF4-FFF2-40B4-BE49-F238E27FC236}">
                <a16:creationId xmlns:a16="http://schemas.microsoft.com/office/drawing/2014/main" id="{5C62CD39-5F9C-A185-0DCB-38B6E67330B0}"/>
              </a:ext>
            </a:extLst>
          </p:cNvPr>
          <p:cNvSpPr txBox="1"/>
          <p:nvPr/>
        </p:nvSpPr>
        <p:spPr>
          <a:xfrm>
            <a:off x="838200" y="1273210"/>
            <a:ext cx="9540478" cy="830997"/>
          </a:xfrm>
          <a:prstGeom prst="rect">
            <a:avLst/>
          </a:prstGeom>
          <a:noFill/>
        </p:spPr>
        <p:txBody>
          <a:bodyPr wrap="square">
            <a:spAutoFit/>
          </a:bodyPr>
          <a:lstStyle/>
          <a:p>
            <a:r>
              <a:rPr lang="en-US" sz="2400" dirty="0">
                <a:hlinkClick r:id="rId2"/>
              </a:rPr>
              <a:t>https://scholar.google.com/</a:t>
            </a:r>
            <a:endParaRPr lang="en-US" sz="2400" dirty="0"/>
          </a:p>
          <a:p>
            <a:endParaRPr lang="en-US" sz="2400" dirty="0"/>
          </a:p>
        </p:txBody>
      </p:sp>
      <p:pic>
        <p:nvPicPr>
          <p:cNvPr id="11" name="Picture 10">
            <a:extLst>
              <a:ext uri="{FF2B5EF4-FFF2-40B4-BE49-F238E27FC236}">
                <a16:creationId xmlns:a16="http://schemas.microsoft.com/office/drawing/2014/main" id="{2BA481AC-29A8-17C4-E43F-EF6A7E1E64E8}"/>
              </a:ext>
            </a:extLst>
          </p:cNvPr>
          <p:cNvPicPr>
            <a:picLocks noChangeAspect="1"/>
          </p:cNvPicPr>
          <p:nvPr/>
        </p:nvPicPr>
        <p:blipFill>
          <a:blip r:embed="rId3"/>
          <a:stretch>
            <a:fillRect/>
          </a:stretch>
        </p:blipFill>
        <p:spPr>
          <a:xfrm>
            <a:off x="962558" y="1893826"/>
            <a:ext cx="8024279" cy="2555677"/>
          </a:xfrm>
          <a:prstGeom prst="rect">
            <a:avLst/>
          </a:prstGeom>
          <a:ln>
            <a:solidFill>
              <a:schemeClr val="bg1">
                <a:lumMod val="50000"/>
              </a:schemeClr>
            </a:solidFill>
          </a:ln>
        </p:spPr>
      </p:pic>
      <p:sp>
        <p:nvSpPr>
          <p:cNvPr id="13" name="TextBox 12">
            <a:extLst>
              <a:ext uri="{FF2B5EF4-FFF2-40B4-BE49-F238E27FC236}">
                <a16:creationId xmlns:a16="http://schemas.microsoft.com/office/drawing/2014/main" id="{ABCEC2A9-CB14-691F-8086-5606727083DD}"/>
              </a:ext>
            </a:extLst>
          </p:cNvPr>
          <p:cNvSpPr txBox="1"/>
          <p:nvPr/>
        </p:nvSpPr>
        <p:spPr>
          <a:xfrm>
            <a:off x="838200" y="4540180"/>
            <a:ext cx="9997678" cy="369332"/>
          </a:xfrm>
          <a:prstGeom prst="rect">
            <a:avLst/>
          </a:prstGeom>
          <a:noFill/>
        </p:spPr>
        <p:txBody>
          <a:bodyPr wrap="square">
            <a:spAutoFit/>
          </a:bodyPr>
          <a:lstStyle/>
          <a:p>
            <a:r>
              <a:rPr lang="en-US" dirty="0">
                <a:hlinkClick r:id="rId4"/>
              </a:rPr>
              <a:t>https://scholar.google.com/scholar?hl=en&amp;as_sdt=0,5&amp;qsp=3&amp;q=climate+change+impacts&amp;qst=bb</a:t>
            </a:r>
            <a:endParaRPr lang="en-US" dirty="0"/>
          </a:p>
        </p:txBody>
      </p:sp>
      <p:sp>
        <p:nvSpPr>
          <p:cNvPr id="15" name="TextBox 14">
            <a:extLst>
              <a:ext uri="{FF2B5EF4-FFF2-40B4-BE49-F238E27FC236}">
                <a16:creationId xmlns:a16="http://schemas.microsoft.com/office/drawing/2014/main" id="{A67EDB27-5F92-0DAD-C77B-BFEB8B68ADBF}"/>
              </a:ext>
            </a:extLst>
          </p:cNvPr>
          <p:cNvSpPr txBox="1"/>
          <p:nvPr/>
        </p:nvSpPr>
        <p:spPr>
          <a:xfrm>
            <a:off x="838200" y="5365315"/>
            <a:ext cx="10515600" cy="369332"/>
          </a:xfrm>
          <a:prstGeom prst="rect">
            <a:avLst/>
          </a:prstGeom>
          <a:noFill/>
        </p:spPr>
        <p:txBody>
          <a:bodyPr wrap="square">
            <a:spAutoFit/>
          </a:bodyPr>
          <a:lstStyle/>
          <a:p>
            <a:r>
              <a:rPr lang="en-US" dirty="0">
                <a:hlinkClick r:id="rId5"/>
              </a:rPr>
              <a:t>https://www.bigissue.com/news/environment/jacob-rees-mogg-climate-change-denial-energy-secretary/</a:t>
            </a:r>
            <a:endParaRPr lang="en-US" dirty="0"/>
          </a:p>
        </p:txBody>
      </p:sp>
      <p:sp>
        <p:nvSpPr>
          <p:cNvPr id="16" name="TextBox 15">
            <a:extLst>
              <a:ext uri="{FF2B5EF4-FFF2-40B4-BE49-F238E27FC236}">
                <a16:creationId xmlns:a16="http://schemas.microsoft.com/office/drawing/2014/main" id="{8BF37A55-42C5-240F-FBF5-29FF9888D2EF}"/>
              </a:ext>
            </a:extLst>
          </p:cNvPr>
          <p:cNvSpPr txBox="1"/>
          <p:nvPr/>
        </p:nvSpPr>
        <p:spPr>
          <a:xfrm>
            <a:off x="838200" y="6190450"/>
            <a:ext cx="10080132" cy="369332"/>
          </a:xfrm>
          <a:prstGeom prst="rect">
            <a:avLst/>
          </a:prstGeom>
          <a:noFill/>
        </p:spPr>
        <p:txBody>
          <a:bodyPr wrap="none" rtlCol="0">
            <a:spAutoFit/>
          </a:bodyPr>
          <a:lstStyle/>
          <a:p>
            <a:r>
              <a:rPr lang="en-US" dirty="0">
                <a:hlinkClick r:id="rId6"/>
              </a:rPr>
              <a:t>https://www.theverge.com/2022/12/5/23494220/elon-musk-twitter-climate-misinformation-rise-analysis</a:t>
            </a:r>
            <a:endParaRPr lang="en-US" dirty="0"/>
          </a:p>
        </p:txBody>
      </p:sp>
      <p:sp>
        <p:nvSpPr>
          <p:cNvPr id="17" name="TextBox 16">
            <a:extLst>
              <a:ext uri="{FF2B5EF4-FFF2-40B4-BE49-F238E27FC236}">
                <a16:creationId xmlns:a16="http://schemas.microsoft.com/office/drawing/2014/main" id="{16B3980B-B069-F105-87F2-F4BD699824B6}"/>
              </a:ext>
            </a:extLst>
          </p:cNvPr>
          <p:cNvSpPr txBox="1"/>
          <p:nvPr/>
        </p:nvSpPr>
        <p:spPr>
          <a:xfrm>
            <a:off x="838200" y="5009897"/>
            <a:ext cx="752937" cy="369332"/>
          </a:xfrm>
          <a:prstGeom prst="rect">
            <a:avLst/>
          </a:prstGeom>
          <a:noFill/>
        </p:spPr>
        <p:txBody>
          <a:bodyPr wrap="square" rtlCol="0">
            <a:spAutoFit/>
          </a:bodyPr>
          <a:lstStyle/>
          <a:p>
            <a:r>
              <a:rPr lang="en-US" dirty="0"/>
              <a:t>Vs</a:t>
            </a:r>
          </a:p>
        </p:txBody>
      </p:sp>
      <p:sp>
        <p:nvSpPr>
          <p:cNvPr id="18" name="TextBox 17">
            <a:extLst>
              <a:ext uri="{FF2B5EF4-FFF2-40B4-BE49-F238E27FC236}">
                <a16:creationId xmlns:a16="http://schemas.microsoft.com/office/drawing/2014/main" id="{EF628A41-6CCE-2D07-62EC-116421746782}"/>
              </a:ext>
            </a:extLst>
          </p:cNvPr>
          <p:cNvSpPr txBox="1"/>
          <p:nvPr/>
        </p:nvSpPr>
        <p:spPr>
          <a:xfrm>
            <a:off x="838200" y="5798414"/>
            <a:ext cx="752937" cy="369332"/>
          </a:xfrm>
          <a:prstGeom prst="rect">
            <a:avLst/>
          </a:prstGeom>
          <a:noFill/>
        </p:spPr>
        <p:txBody>
          <a:bodyPr wrap="square" rtlCol="0">
            <a:spAutoFit/>
          </a:bodyPr>
          <a:lstStyle/>
          <a:p>
            <a:r>
              <a:rPr lang="en-US" dirty="0"/>
              <a:t>Vs</a:t>
            </a:r>
          </a:p>
        </p:txBody>
      </p:sp>
    </p:spTree>
    <p:extLst>
      <p:ext uri="{BB962C8B-B14F-4D97-AF65-F5344CB8AC3E}">
        <p14:creationId xmlns:p14="http://schemas.microsoft.com/office/powerpoint/2010/main" val="2869410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71A76-CAA2-DB0B-A3A3-7270DB64B26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19662E9-C204-7B04-64E7-29D611637403}"/>
              </a:ext>
            </a:extLst>
          </p:cNvPr>
          <p:cNvSpPr>
            <a:spLocks noGrp="1"/>
          </p:cNvSpPr>
          <p:nvPr>
            <p:ph type="title"/>
          </p:nvPr>
        </p:nvSpPr>
        <p:spPr>
          <a:xfrm>
            <a:off x="838200" y="226229"/>
            <a:ext cx="10515600" cy="1325563"/>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Anecdotal evidence</a:t>
            </a:r>
          </a:p>
        </p:txBody>
      </p:sp>
      <p:sp>
        <p:nvSpPr>
          <p:cNvPr id="15" name="TextBox 14">
            <a:extLst>
              <a:ext uri="{FF2B5EF4-FFF2-40B4-BE49-F238E27FC236}">
                <a16:creationId xmlns:a16="http://schemas.microsoft.com/office/drawing/2014/main" id="{85819DC0-F173-BD13-755F-39C3A0E02B6E}"/>
              </a:ext>
            </a:extLst>
          </p:cNvPr>
          <p:cNvSpPr txBox="1"/>
          <p:nvPr/>
        </p:nvSpPr>
        <p:spPr>
          <a:xfrm>
            <a:off x="838200" y="1340852"/>
            <a:ext cx="10515600" cy="511152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latin typeface="Helvetica Neue Light" panose="02000403000000020004" pitchFamily="2" charset="0"/>
                <a:ea typeface="Helvetica Neue Light" panose="02000403000000020004" pitchFamily="2" charset="0"/>
              </a:rPr>
              <a:t>Anecdotal evidence is information derived from personal experience or observation. Anecdotal evidence is used to learn about experiences, products, and to help prove a point.</a:t>
            </a:r>
          </a:p>
          <a:p>
            <a:pPr marL="342900" indent="-342900">
              <a:lnSpc>
                <a:spcPct val="150000"/>
              </a:lnSpc>
              <a:buFont typeface="Arial" panose="020B0604020202020204" pitchFamily="34" charset="0"/>
              <a:buChar char="•"/>
            </a:pPr>
            <a:r>
              <a:rPr lang="en-US" sz="2400" dirty="0">
                <a:latin typeface="Helvetica Neue Light" panose="02000403000000020004" pitchFamily="2" charset="0"/>
                <a:ea typeface="Helvetica Neue Light" panose="02000403000000020004" pitchFamily="2" charset="0"/>
              </a:rPr>
              <a:t>It is not scientific evidence, which can be verified objectively.</a:t>
            </a:r>
          </a:p>
          <a:p>
            <a:pPr>
              <a:lnSpc>
                <a:spcPct val="150000"/>
              </a:lnSpc>
            </a:pPr>
            <a:r>
              <a:rPr lang="en-US" sz="2400" b="1" dirty="0">
                <a:latin typeface="Helvetica Neue Light" panose="02000403000000020004" pitchFamily="2" charset="0"/>
                <a:ea typeface="Helvetica Neue Light" panose="02000403000000020004" pitchFamily="2" charset="0"/>
              </a:rPr>
              <a:t>Scientific evidence</a:t>
            </a:r>
          </a:p>
          <a:p>
            <a:pPr>
              <a:lnSpc>
                <a:spcPct val="150000"/>
              </a:lnSpc>
            </a:pPr>
            <a:r>
              <a:rPr lang="en-GB" sz="2000" i="1" dirty="0"/>
              <a:t>	“</a:t>
            </a:r>
            <a:r>
              <a:rPr lang="en-GB" dirty="0"/>
              <a:t>89% of lung cancer cases in the UK are preventable and 86% of these are linked to smoking.”</a:t>
            </a:r>
          </a:p>
          <a:p>
            <a:pPr lvl="2">
              <a:lnSpc>
                <a:spcPct val="150000"/>
              </a:lnSpc>
            </a:pPr>
            <a:r>
              <a:rPr lang="en-GB" i="1" dirty="0">
                <a:hlinkClick r:id="rId2"/>
              </a:rPr>
              <a:t>https://www.check4cancer.com/advice-and-awareness/blog/1683-what-are-the-12-things-you-can-do-to-reduce-your-cancer-risk#:~:text=Do%20not%20smoke,of%20cancer%20in%20the%20world</a:t>
            </a:r>
            <a:r>
              <a:rPr lang="en-GB" i="1" dirty="0"/>
              <a:t>.</a:t>
            </a:r>
          </a:p>
          <a:p>
            <a:pPr>
              <a:lnSpc>
                <a:spcPct val="150000"/>
              </a:lnSpc>
            </a:pPr>
            <a:r>
              <a:rPr lang="en-US" sz="2400" b="1" dirty="0">
                <a:latin typeface="Helvetica Neue Light" panose="02000403000000020004" pitchFamily="2" charset="0"/>
                <a:ea typeface="Helvetica Neue Light" panose="02000403000000020004" pitchFamily="2" charset="0"/>
              </a:rPr>
              <a:t>Anecdotal evidence</a:t>
            </a:r>
          </a:p>
          <a:p>
            <a:pPr lvl="2">
              <a:lnSpc>
                <a:spcPct val="150000"/>
              </a:lnSpc>
            </a:pPr>
            <a:r>
              <a:rPr lang="en-US" dirty="0">
                <a:ea typeface="Helvetica Neue Light" panose="02000403000000020004" pitchFamily="2" charset="0"/>
              </a:rPr>
              <a:t>“My gran smoked her whole life and never got cancer”</a:t>
            </a:r>
          </a:p>
        </p:txBody>
      </p:sp>
    </p:spTree>
    <p:extLst>
      <p:ext uri="{BB962C8B-B14F-4D97-AF65-F5344CB8AC3E}">
        <p14:creationId xmlns:p14="http://schemas.microsoft.com/office/powerpoint/2010/main" val="3777532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55E34-0431-ACFE-2E7D-198DBBC07B8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B33A60-CD12-D707-651F-5A310DC2C52F}"/>
              </a:ext>
            </a:extLst>
          </p:cNvPr>
          <p:cNvSpPr>
            <a:spLocks noGrp="1"/>
          </p:cNvSpPr>
          <p:nvPr>
            <p:ph type="title"/>
          </p:nvPr>
        </p:nvSpPr>
        <p:spPr>
          <a:xfrm>
            <a:off x="838200" y="226229"/>
            <a:ext cx="10515600" cy="1325563"/>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Peer review</a:t>
            </a:r>
          </a:p>
        </p:txBody>
      </p:sp>
      <p:sp>
        <p:nvSpPr>
          <p:cNvPr id="15" name="TextBox 14">
            <a:extLst>
              <a:ext uri="{FF2B5EF4-FFF2-40B4-BE49-F238E27FC236}">
                <a16:creationId xmlns:a16="http://schemas.microsoft.com/office/drawing/2014/main" id="{B5D11EFD-11AD-28EA-C147-48E699F53106}"/>
              </a:ext>
            </a:extLst>
          </p:cNvPr>
          <p:cNvSpPr txBox="1"/>
          <p:nvPr/>
        </p:nvSpPr>
        <p:spPr>
          <a:xfrm>
            <a:off x="838200" y="1479748"/>
            <a:ext cx="10515600" cy="445250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latin typeface="Helvetica Neue Light" panose="02000403000000020004" pitchFamily="2" charset="0"/>
                <a:ea typeface="Helvetica Neue Light" panose="02000403000000020004" pitchFamily="2" charset="0"/>
              </a:rPr>
              <a:t>Peer review is the evaluation of work by one or more people with similar competencies as the producers of the work (peers).</a:t>
            </a:r>
          </a:p>
          <a:p>
            <a:pPr marL="342900" indent="-342900">
              <a:lnSpc>
                <a:spcPct val="150000"/>
              </a:lnSpc>
              <a:buFont typeface="Arial" panose="020B0604020202020204" pitchFamily="34" charset="0"/>
              <a:buChar char="•"/>
            </a:pPr>
            <a:r>
              <a:rPr lang="en-US" sz="2400" dirty="0">
                <a:latin typeface="Helvetica Neue Light" panose="02000403000000020004" pitchFamily="2" charset="0"/>
                <a:ea typeface="Helvetica Neue Light" panose="02000403000000020004" pitchFamily="2" charset="0"/>
              </a:rPr>
              <a:t>It functions as a form of self-regulation by qualified members of a profession within the relevant field.</a:t>
            </a:r>
          </a:p>
          <a:p>
            <a:pPr marL="342900" indent="-342900">
              <a:lnSpc>
                <a:spcPct val="150000"/>
              </a:lnSpc>
              <a:buFont typeface="Arial" panose="020B0604020202020204" pitchFamily="34" charset="0"/>
              <a:buChar char="•"/>
            </a:pPr>
            <a:r>
              <a:rPr lang="en-US" sz="2400" dirty="0">
                <a:latin typeface="Helvetica Neue Light" panose="02000403000000020004" pitchFamily="2" charset="0"/>
                <a:ea typeface="Helvetica Neue Light" panose="02000403000000020004" pitchFamily="2" charset="0"/>
              </a:rPr>
              <a:t>Peer review methods are used to maintain quality standards, improve performance, and provide </a:t>
            </a:r>
            <a:r>
              <a:rPr lang="en-US" sz="2400" b="1" dirty="0">
                <a:solidFill>
                  <a:srgbClr val="D3473F"/>
                </a:solidFill>
                <a:latin typeface="Helvetica Neue Light" panose="02000403000000020004" pitchFamily="2" charset="0"/>
                <a:ea typeface="Helvetica Neue Light" panose="02000403000000020004" pitchFamily="2" charset="0"/>
              </a:rPr>
              <a:t>credibility</a:t>
            </a:r>
            <a:r>
              <a:rPr lang="en-US" sz="2400" dirty="0">
                <a:latin typeface="Helvetica Neue Light" panose="02000403000000020004" pitchFamily="2" charset="0"/>
                <a:ea typeface="Helvetica Neue Light" panose="02000403000000020004" pitchFamily="2" charset="0"/>
              </a:rPr>
              <a:t>.</a:t>
            </a:r>
          </a:p>
          <a:p>
            <a:pPr marL="342900" indent="-342900">
              <a:lnSpc>
                <a:spcPct val="150000"/>
              </a:lnSpc>
              <a:buFont typeface="Arial" panose="020B0604020202020204" pitchFamily="34" charset="0"/>
              <a:buChar char="•"/>
            </a:pPr>
            <a:r>
              <a:rPr lang="en-US" sz="2400" dirty="0">
                <a:latin typeface="Helvetica Neue Light" panose="02000403000000020004" pitchFamily="2" charset="0"/>
                <a:ea typeface="Helvetica Neue Light" panose="02000403000000020004" pitchFamily="2" charset="0"/>
              </a:rPr>
              <a:t>In academia, scholarly peer review is often used to determine an academic paper's suitability for publication. </a:t>
            </a:r>
          </a:p>
        </p:txBody>
      </p:sp>
    </p:spTree>
    <p:extLst>
      <p:ext uri="{BB962C8B-B14F-4D97-AF65-F5344CB8AC3E}">
        <p14:creationId xmlns:p14="http://schemas.microsoft.com/office/powerpoint/2010/main" val="3655500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05761-60D5-52F2-53B8-DBB12B5C2A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B76782-6A35-4DFC-8DCC-3A1B948653AB}"/>
              </a:ext>
            </a:extLst>
          </p:cNvPr>
          <p:cNvSpPr>
            <a:spLocks noGrp="1"/>
          </p:cNvSpPr>
          <p:nvPr>
            <p:ph type="title"/>
          </p:nvPr>
        </p:nvSpPr>
        <p:spPr>
          <a:xfrm>
            <a:off x="838200" y="215692"/>
            <a:ext cx="10515600" cy="1325563"/>
          </a:xfrm>
        </p:spPr>
        <p:txBody>
          <a:bodyPr>
            <a:normAutofit/>
          </a:bodyPr>
          <a:lstStyle/>
          <a:p>
            <a:pPr algn="ctr"/>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The scientific method</a:t>
            </a:r>
          </a:p>
        </p:txBody>
      </p:sp>
      <p:pic>
        <p:nvPicPr>
          <p:cNvPr id="1028" name="Picture 4" descr="Scientific method - Wikipedia">
            <a:extLst>
              <a:ext uri="{FF2B5EF4-FFF2-40B4-BE49-F238E27FC236}">
                <a16:creationId xmlns:a16="http://schemas.microsoft.com/office/drawing/2014/main" id="{D28E96EC-C60C-975D-005A-5E019C6BA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4929" y="1471854"/>
            <a:ext cx="5442142" cy="5170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000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AA2E2-4946-4D39-DF33-469904F9FAF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46773C-F980-A2CF-CA49-E6598833BD54}"/>
              </a:ext>
            </a:extLst>
          </p:cNvPr>
          <p:cNvSpPr>
            <a:spLocks noGrp="1"/>
          </p:cNvSpPr>
          <p:nvPr>
            <p:ph type="title"/>
          </p:nvPr>
        </p:nvSpPr>
        <p:spPr>
          <a:xfrm>
            <a:off x="838200" y="785812"/>
            <a:ext cx="10515600" cy="5286375"/>
          </a:xfrm>
        </p:spPr>
        <p:txBody>
          <a:bodyPr>
            <a:normAutofit/>
          </a:bodyPr>
          <a:lstStyle/>
          <a:p>
            <a:pPr algn="ctr">
              <a:lnSpc>
                <a:spcPct val="150000"/>
              </a:lnSpc>
            </a:pPr>
            <a:r>
              <a:rPr lang="en-US" dirty="0">
                <a:solidFill>
                  <a:srgbClr val="D3473F"/>
                </a:solidFill>
                <a:latin typeface="American Typewriter" panose="02090604020004020304" pitchFamily="18" charset="77"/>
                <a:ea typeface="Helvetica Neue Light" panose="02000403000000020004" pitchFamily="2" charset="0"/>
              </a:rPr>
              <a:t>You are doing a BSc, your 3</a:t>
            </a:r>
            <a:r>
              <a:rPr lang="en-US" baseline="30000" dirty="0">
                <a:solidFill>
                  <a:srgbClr val="D3473F"/>
                </a:solidFill>
                <a:latin typeface="American Typewriter" panose="02090604020004020304" pitchFamily="18" charset="77"/>
                <a:ea typeface="Helvetica Neue Light" panose="02000403000000020004" pitchFamily="2" charset="0"/>
              </a:rPr>
              <a:t>rd</a:t>
            </a:r>
            <a:r>
              <a:rPr lang="en-US" dirty="0">
                <a:solidFill>
                  <a:srgbClr val="D3473F"/>
                </a:solidFill>
                <a:latin typeface="American Typewriter" panose="02090604020004020304" pitchFamily="18" charset="77"/>
                <a:ea typeface="Helvetica Neue Light" panose="02000403000000020004" pitchFamily="2" charset="0"/>
              </a:rPr>
              <a:t> year project will be following and applying the scientific method.</a:t>
            </a:r>
          </a:p>
        </p:txBody>
      </p:sp>
    </p:spTree>
    <p:extLst>
      <p:ext uri="{BB962C8B-B14F-4D97-AF65-F5344CB8AC3E}">
        <p14:creationId xmlns:p14="http://schemas.microsoft.com/office/powerpoint/2010/main" val="1789902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8D3DA-3A4D-0815-F70B-3465D7BD97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01C6AE-10DD-6292-71BE-2EBF8E49998D}"/>
              </a:ext>
            </a:extLst>
          </p:cNvPr>
          <p:cNvSpPr>
            <a:spLocks noGrp="1"/>
          </p:cNvSpPr>
          <p:nvPr>
            <p:ph type="title"/>
          </p:nvPr>
        </p:nvSpPr>
        <p:spPr>
          <a:xfrm>
            <a:off x="838200" y="2766218"/>
            <a:ext cx="10515600" cy="1325563"/>
          </a:xfrm>
        </p:spPr>
        <p:txBody>
          <a:bodyPr>
            <a:normAutofit fontScale="90000"/>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Hypothesis, Theory and Law</a:t>
            </a:r>
          </a:p>
        </p:txBody>
      </p:sp>
    </p:spTree>
    <p:extLst>
      <p:ext uri="{BB962C8B-B14F-4D97-AF65-F5344CB8AC3E}">
        <p14:creationId xmlns:p14="http://schemas.microsoft.com/office/powerpoint/2010/main" val="416079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CCE78-35D5-04C5-345A-830DC6009B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90A5E2-FD6F-FAB9-840C-C2AAA2AA2DFA}"/>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Hypothesis</a:t>
            </a:r>
          </a:p>
        </p:txBody>
      </p:sp>
      <p:sp>
        <p:nvSpPr>
          <p:cNvPr id="7" name="Content Placeholder 6">
            <a:extLst>
              <a:ext uri="{FF2B5EF4-FFF2-40B4-BE49-F238E27FC236}">
                <a16:creationId xmlns:a16="http://schemas.microsoft.com/office/drawing/2014/main" id="{C02E4E26-1DA7-95FA-6018-ED2E15720EE6}"/>
              </a:ext>
            </a:extLst>
          </p:cNvPr>
          <p:cNvSpPr>
            <a:spLocks noGrp="1"/>
          </p:cNvSpPr>
          <p:nvPr>
            <p:ph idx="1"/>
          </p:nvPr>
        </p:nvSpPr>
        <p:spPr>
          <a:xfrm>
            <a:off x="838200" y="1825625"/>
            <a:ext cx="10643886" cy="4351338"/>
          </a:xfrm>
        </p:spPr>
        <p:txBody>
          <a:bodyPr>
            <a:normAutofit fontScale="92500"/>
          </a:bodyPr>
          <a:lstStyle/>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A hypothesis is a reasonable guess based on something that you observe in the natural world. </a:t>
            </a:r>
            <a:r>
              <a:rPr lang="en-GB" sz="2400" dirty="0">
                <a:solidFill>
                  <a:srgbClr val="000000"/>
                </a:solidFill>
                <a:latin typeface="Helvetica Neue Light" panose="02000403000000020004" pitchFamily="2" charset="0"/>
                <a:ea typeface="Helvetica Neue Light" panose="02000403000000020004" pitchFamily="2" charset="0"/>
              </a:rPr>
              <a:t>H</a:t>
            </a:r>
            <a:r>
              <a:rPr lang="en-GB" sz="2400" dirty="0">
                <a:solidFill>
                  <a:srgbClr val="000000"/>
                </a:solidFill>
                <a:effectLst/>
                <a:latin typeface="Helvetica Neue Light" panose="02000403000000020004" pitchFamily="2" charset="0"/>
                <a:ea typeface="Helvetica Neue Light" panose="02000403000000020004" pitchFamily="2" charset="0"/>
              </a:rPr>
              <a:t>ypotheses are the foundation of the scientific method.</a:t>
            </a:r>
            <a:r>
              <a:rPr lang="en-GB" sz="1100" b="0" i="0" dirty="0">
                <a:solidFill>
                  <a:srgbClr val="000000"/>
                </a:solidFill>
                <a:effectLst/>
                <a:latin typeface="Bitter"/>
              </a:rPr>
              <a:t> </a:t>
            </a:r>
          </a:p>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After making an observation and formulating a question, a scientist must create a hypothesis — a potential answer to the question.</a:t>
            </a:r>
          </a:p>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They then make a testable prediction, test this prediction (over and over and over), and </a:t>
            </a:r>
            <a:r>
              <a:rPr lang="en-GB" sz="2400" dirty="0" err="1">
                <a:solidFill>
                  <a:srgbClr val="000000"/>
                </a:solidFill>
                <a:effectLst/>
                <a:latin typeface="Helvetica Neue Light" panose="02000403000000020004" pitchFamily="2" charset="0"/>
                <a:ea typeface="Helvetica Neue Light" panose="02000403000000020004" pitchFamily="2" charset="0"/>
              </a:rPr>
              <a:t>analyze</a:t>
            </a:r>
            <a:r>
              <a:rPr lang="en-GB" sz="2400" dirty="0">
                <a:solidFill>
                  <a:srgbClr val="000000"/>
                </a:solidFill>
                <a:effectLst/>
                <a:latin typeface="Helvetica Neue Light" panose="02000403000000020004" pitchFamily="2" charset="0"/>
                <a:ea typeface="Helvetica Neue Light" panose="02000403000000020004" pitchFamily="2" charset="0"/>
              </a:rPr>
              <a:t> the data.</a:t>
            </a:r>
          </a:p>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Once this is done, they can then state whether or not their hypothesis was correct.</a:t>
            </a:r>
            <a:endParaRPr lang="en-US"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743429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03914-E43A-5EFD-0700-983DFA4CE4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9DDFAC-285B-763C-047E-3E3D1AF99A46}"/>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Hypothesis - example</a:t>
            </a:r>
          </a:p>
        </p:txBody>
      </p:sp>
      <p:sp>
        <p:nvSpPr>
          <p:cNvPr id="7" name="Content Placeholder 6">
            <a:extLst>
              <a:ext uri="{FF2B5EF4-FFF2-40B4-BE49-F238E27FC236}">
                <a16:creationId xmlns:a16="http://schemas.microsoft.com/office/drawing/2014/main" id="{60D1AC2D-B50F-7F8B-D311-E2D7DAAC212F}"/>
              </a:ext>
            </a:extLst>
          </p:cNvPr>
          <p:cNvSpPr>
            <a:spLocks noGrp="1"/>
          </p:cNvSpPr>
          <p:nvPr>
            <p:ph idx="1"/>
          </p:nvPr>
        </p:nvSpPr>
        <p:spPr>
          <a:xfrm>
            <a:off x="838200" y="1825625"/>
            <a:ext cx="10643886" cy="4351338"/>
          </a:xfrm>
        </p:spPr>
        <p:txBody>
          <a:bodyPr>
            <a:normAutofit/>
          </a:bodyPr>
          <a:lstStyle/>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You observe that, upon waking up each morning, your black bin is overturned, and rubbish is spread around the garden.</a:t>
            </a:r>
          </a:p>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You form a hypothesis that foxes are responsible.</a:t>
            </a:r>
          </a:p>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Through testing — maybe you stay up all night to watch for foxes — the results will either support or refute your hypothesis.</a:t>
            </a:r>
            <a:endParaRPr lang="en-US"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36333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BFA50-B7AF-8701-5992-313BE0C4159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F1275F-51EA-2D1B-E75F-2C87E5E0152E}"/>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Theory</a:t>
            </a:r>
          </a:p>
        </p:txBody>
      </p:sp>
      <p:sp>
        <p:nvSpPr>
          <p:cNvPr id="7" name="Content Placeholder 6">
            <a:extLst>
              <a:ext uri="{FF2B5EF4-FFF2-40B4-BE49-F238E27FC236}">
                <a16:creationId xmlns:a16="http://schemas.microsoft.com/office/drawing/2014/main" id="{6C1D88D0-7DC5-AAA9-950C-C13E3A168AD8}"/>
              </a:ext>
            </a:extLst>
          </p:cNvPr>
          <p:cNvSpPr>
            <a:spLocks noGrp="1"/>
          </p:cNvSpPr>
          <p:nvPr>
            <p:ph idx="1"/>
          </p:nvPr>
        </p:nvSpPr>
        <p:spPr>
          <a:xfrm>
            <a:off x="838200" y="1825625"/>
            <a:ext cx="10643886" cy="4351338"/>
          </a:xfrm>
        </p:spPr>
        <p:txBody>
          <a:bodyPr>
            <a:normAutofit fontScale="92500"/>
          </a:bodyPr>
          <a:lstStyle/>
          <a:p>
            <a:pPr>
              <a:lnSpc>
                <a:spcPct val="150000"/>
              </a:lnSpc>
            </a:pPr>
            <a:r>
              <a:rPr lang="en-GB" sz="2400" dirty="0">
                <a:solidFill>
                  <a:schemeClr val="tx1">
                    <a:lumMod val="85000"/>
                    <a:lumOff val="15000"/>
                  </a:schemeClr>
                </a:solidFill>
                <a:effectLst/>
                <a:latin typeface="Helvetica Neue Light" panose="02000403000000020004" pitchFamily="2" charset="0"/>
                <a:ea typeface="Helvetica Neue Light" panose="02000403000000020004" pitchFamily="2" charset="0"/>
              </a:rPr>
              <a:t>A scientific theory is a verifiable explanation of natural phenomenon. For example, the theory of gravity explains why an apple always falls to the ground when dropped.</a:t>
            </a:r>
          </a:p>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A scientific theory consists of one or more hypotheses that have been supported by repeated testing. Theories are one of the pinnacles of science and are widely accepted in the scientific community as being true.</a:t>
            </a:r>
          </a:p>
          <a:p>
            <a:pPr>
              <a:lnSpc>
                <a:spcPct val="150000"/>
              </a:lnSpc>
            </a:pPr>
            <a:r>
              <a:rPr lang="en-GB" sz="2400" dirty="0">
                <a:effectLst/>
                <a:latin typeface="Helvetica Neue Light" panose="02000403000000020004" pitchFamily="2" charset="0"/>
                <a:ea typeface="Helvetica Neue Light" panose="02000403000000020004" pitchFamily="2" charset="0"/>
              </a:rPr>
              <a:t>Theories can also evolve</a:t>
            </a:r>
            <a:r>
              <a:rPr lang="en-GB" sz="2400" dirty="0">
                <a:solidFill>
                  <a:srgbClr val="000000"/>
                </a:solidFill>
                <a:effectLst/>
                <a:latin typeface="Helvetica Neue Light" panose="02000403000000020004" pitchFamily="2" charset="0"/>
                <a:ea typeface="Helvetica Neue Light" panose="02000403000000020004" pitchFamily="2" charset="0"/>
              </a:rPr>
              <a:t>. This doesn't mean the old theory was wrong. It's just that new information was discovered.</a:t>
            </a:r>
            <a:endParaRPr lang="en-US" sz="240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145719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CC919-0ACD-E8DC-9E60-EC1D88987A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EC31DF-093C-1D85-94FE-6B5FFE25C378}"/>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Theory - example</a:t>
            </a:r>
          </a:p>
        </p:txBody>
      </p:sp>
      <p:sp>
        <p:nvSpPr>
          <p:cNvPr id="7" name="Content Placeholder 6">
            <a:extLst>
              <a:ext uri="{FF2B5EF4-FFF2-40B4-BE49-F238E27FC236}">
                <a16:creationId xmlns:a16="http://schemas.microsoft.com/office/drawing/2014/main" id="{5A2FD0EC-09A3-6683-B462-8DB39432038A}"/>
              </a:ext>
            </a:extLst>
          </p:cNvPr>
          <p:cNvSpPr>
            <a:spLocks noGrp="1"/>
          </p:cNvSpPr>
          <p:nvPr>
            <p:ph idx="1"/>
          </p:nvPr>
        </p:nvSpPr>
        <p:spPr>
          <a:xfrm>
            <a:off x="838200" y="1825625"/>
            <a:ext cx="10643886" cy="4351338"/>
          </a:xfrm>
        </p:spPr>
        <p:txBody>
          <a:bodyPr>
            <a:normAutofit fontScale="92500"/>
          </a:bodyPr>
          <a:lstStyle/>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When Sir Isaac Newton discovered the theory of gravity and wrote laws that explained the motions of objects, he was not wrong about how the world worked, but he wasn’t fully right either. </a:t>
            </a:r>
          </a:p>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Albert Einstein later discovered the theories of special and general relativity — that the force of gravity exists due to the bending of spacetime, which is caused by massive objects.</a:t>
            </a:r>
          </a:p>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This created a more complete theory of gravity</a:t>
            </a:r>
            <a:r>
              <a:rPr lang="en-GB" sz="2400" dirty="0">
                <a:solidFill>
                  <a:srgbClr val="000000"/>
                </a:solidFill>
                <a:latin typeface="Helvetica Neue Light" panose="02000403000000020004" pitchFamily="2" charset="0"/>
                <a:ea typeface="Helvetica Neue Light" panose="02000403000000020004" pitchFamily="2" charset="0"/>
              </a:rPr>
              <a:t>,</a:t>
            </a:r>
            <a:r>
              <a:rPr lang="en-GB" sz="2400" dirty="0">
                <a:solidFill>
                  <a:srgbClr val="000000"/>
                </a:solidFill>
                <a:effectLst/>
                <a:latin typeface="Helvetica Neue Light" panose="02000403000000020004" pitchFamily="2" charset="0"/>
                <a:ea typeface="Helvetica Neue Light" panose="02000403000000020004" pitchFamily="2" charset="0"/>
              </a:rPr>
              <a:t> so Newton wasn't incorrect. He just had a partial answer.</a:t>
            </a:r>
            <a:endParaRPr lang="en-GB" sz="1600" dirty="0">
              <a:effectLst/>
              <a:hlinkClick r:id="rId2"/>
            </a:endParaRPr>
          </a:p>
        </p:txBody>
      </p:sp>
    </p:spTree>
    <p:extLst>
      <p:ext uri="{BB962C8B-B14F-4D97-AF65-F5344CB8AC3E}">
        <p14:creationId xmlns:p14="http://schemas.microsoft.com/office/powerpoint/2010/main" val="1649076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A74BF-795B-2840-5B50-782EAC14AD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F6CC6E-3413-D9F5-36E4-B31ADCC8FC05}"/>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Theory – examples 2</a:t>
            </a:r>
          </a:p>
        </p:txBody>
      </p:sp>
      <p:sp>
        <p:nvSpPr>
          <p:cNvPr id="7" name="Content Placeholder 6">
            <a:extLst>
              <a:ext uri="{FF2B5EF4-FFF2-40B4-BE49-F238E27FC236}">
                <a16:creationId xmlns:a16="http://schemas.microsoft.com/office/drawing/2014/main" id="{BE455ED8-36B6-39BE-3148-911CCADD9776}"/>
              </a:ext>
            </a:extLst>
          </p:cNvPr>
          <p:cNvSpPr>
            <a:spLocks noGrp="1"/>
          </p:cNvSpPr>
          <p:nvPr>
            <p:ph idx="1"/>
          </p:nvPr>
        </p:nvSpPr>
        <p:spPr>
          <a:xfrm>
            <a:off x="838200" y="1825625"/>
            <a:ext cx="10643886" cy="4667250"/>
          </a:xfrm>
        </p:spPr>
        <p:txBody>
          <a:bodyPr>
            <a:normAutofit/>
          </a:bodyPr>
          <a:lstStyle/>
          <a:p>
            <a:pPr>
              <a:lnSpc>
                <a:spcPct val="150000"/>
              </a:lnSpc>
            </a:pPr>
            <a:r>
              <a:rPr lang="en-GB" sz="2400" b="1" dirty="0">
                <a:solidFill>
                  <a:srgbClr val="202124"/>
                </a:solidFill>
                <a:latin typeface="Helvetica Neue Light" panose="02000403000000020004" pitchFamily="2" charset="0"/>
                <a:ea typeface="Helvetica Neue Light" panose="02000403000000020004" pitchFamily="2" charset="0"/>
              </a:rPr>
              <a:t>T</a:t>
            </a:r>
            <a:r>
              <a:rPr lang="en-GB" sz="2400" b="1" dirty="0">
                <a:solidFill>
                  <a:srgbClr val="202124"/>
                </a:solidFill>
                <a:effectLst/>
                <a:latin typeface="Helvetica Neue Light" panose="02000403000000020004" pitchFamily="2" charset="0"/>
                <a:ea typeface="Helvetica Neue Light" panose="02000403000000020004" pitchFamily="2" charset="0"/>
              </a:rPr>
              <a:t>he greenhouse theory of climate change</a:t>
            </a:r>
            <a:r>
              <a:rPr lang="en-GB" sz="2400" dirty="0">
                <a:solidFill>
                  <a:srgbClr val="202124"/>
                </a:solidFill>
                <a:latin typeface="Helvetica Neue Light" panose="02000403000000020004" pitchFamily="2" charset="0"/>
                <a:ea typeface="Helvetica Neue Light" panose="02000403000000020004" pitchFamily="2" charset="0"/>
              </a:rPr>
              <a:t>: </a:t>
            </a:r>
            <a:r>
              <a:rPr lang="en-GB" sz="2400" dirty="0">
                <a:solidFill>
                  <a:srgbClr val="202124"/>
                </a:solidFill>
                <a:effectLst/>
                <a:latin typeface="Helvetica Neue Light" panose="02000403000000020004" pitchFamily="2" charset="0"/>
                <a:ea typeface="Helvetica Neue Light" panose="02000403000000020004" pitchFamily="2" charset="0"/>
              </a:rPr>
              <a:t> </a:t>
            </a:r>
            <a:r>
              <a:rPr lang="en-GB" sz="2400" dirty="0">
                <a:solidFill>
                  <a:srgbClr val="040C28"/>
                </a:solidFill>
                <a:latin typeface="Helvetica Neue Light" panose="02000403000000020004" pitchFamily="2" charset="0"/>
                <a:ea typeface="Helvetica Neue Light" panose="02000403000000020004" pitchFamily="2" charset="0"/>
              </a:rPr>
              <a:t>T</a:t>
            </a:r>
            <a:r>
              <a:rPr lang="en-GB" sz="2400" dirty="0">
                <a:solidFill>
                  <a:srgbClr val="040C28"/>
                </a:solidFill>
                <a:effectLst/>
                <a:latin typeface="Helvetica Neue Light" panose="02000403000000020004" pitchFamily="2" charset="0"/>
                <a:ea typeface="Helvetica Neue Light" panose="02000403000000020004" pitchFamily="2" charset="0"/>
              </a:rPr>
              <a:t>he greenhouse effect is the process through which heat is trapped near Earth's surface by substances known as 'greenhouse gases’,  helping to maintain a warmer temperature than it would have otherwise.</a:t>
            </a:r>
          </a:p>
          <a:p>
            <a:pPr>
              <a:lnSpc>
                <a:spcPct val="150000"/>
              </a:lnSpc>
            </a:pPr>
            <a:r>
              <a:rPr lang="en-GB" sz="2400" b="1" dirty="0">
                <a:solidFill>
                  <a:srgbClr val="202124"/>
                </a:solidFill>
                <a:latin typeface="Helvetica Neue Light" panose="02000403000000020004" pitchFamily="2" charset="0"/>
                <a:ea typeface="Helvetica Neue Light" panose="02000403000000020004" pitchFamily="2" charset="0"/>
              </a:rPr>
              <a:t>Evolutionary theory</a:t>
            </a:r>
            <a:r>
              <a:rPr lang="en-GB" sz="2400" dirty="0">
                <a:solidFill>
                  <a:srgbClr val="202124"/>
                </a:solidFill>
                <a:latin typeface="Helvetica Neue Light" panose="02000403000000020004" pitchFamily="2" charset="0"/>
                <a:ea typeface="Helvetica Neue Light" panose="02000403000000020004" pitchFamily="2" charset="0"/>
              </a:rPr>
              <a:t>: </a:t>
            </a:r>
            <a:r>
              <a:rPr lang="en-GB" sz="2400" dirty="0">
                <a:solidFill>
                  <a:srgbClr val="202124"/>
                </a:solidFill>
                <a:effectLst/>
                <a:latin typeface="Helvetica Neue Light" panose="02000403000000020004" pitchFamily="2" charset="0"/>
                <a:ea typeface="Helvetica Neue Light" panose="02000403000000020004" pitchFamily="2" charset="0"/>
              </a:rPr>
              <a:t>Darwin proposed that species can change over time, that new species come from pre-existing species, and that all species share a common ancestor.</a:t>
            </a:r>
          </a:p>
        </p:txBody>
      </p:sp>
    </p:spTree>
    <p:extLst>
      <p:ext uri="{BB962C8B-B14F-4D97-AF65-F5344CB8AC3E}">
        <p14:creationId xmlns:p14="http://schemas.microsoft.com/office/powerpoint/2010/main" val="3162508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DDB38-1F00-1E93-B3BA-77E8815323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B8372B-1FF0-B19E-9F04-717AE449989C}"/>
              </a:ext>
            </a:extLst>
          </p:cNvPr>
          <p:cNvSpPr>
            <a:spLocks noGrp="1"/>
          </p:cNvSpPr>
          <p:nvPr>
            <p:ph type="title"/>
          </p:nvPr>
        </p:nvSpPr>
        <p:spPr>
          <a:xfrm>
            <a:off x="838200" y="157162"/>
            <a:ext cx="1051560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Law</a:t>
            </a:r>
          </a:p>
        </p:txBody>
      </p:sp>
      <p:sp>
        <p:nvSpPr>
          <p:cNvPr id="7" name="Content Placeholder 6">
            <a:extLst>
              <a:ext uri="{FF2B5EF4-FFF2-40B4-BE49-F238E27FC236}">
                <a16:creationId xmlns:a16="http://schemas.microsoft.com/office/drawing/2014/main" id="{A975E1E7-FBF6-9F8C-9192-7FE1303D9E79}"/>
              </a:ext>
            </a:extLst>
          </p:cNvPr>
          <p:cNvSpPr>
            <a:spLocks noGrp="1"/>
          </p:cNvSpPr>
          <p:nvPr>
            <p:ph idx="1"/>
          </p:nvPr>
        </p:nvSpPr>
        <p:spPr>
          <a:xfrm>
            <a:off x="838200" y="1253331"/>
            <a:ext cx="10643886" cy="4351338"/>
          </a:xfrm>
        </p:spPr>
        <p:txBody>
          <a:bodyPr>
            <a:noAutofit/>
          </a:bodyPr>
          <a:lstStyle/>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Scientific laws are short and always true. They're often expressed in a single statement and generally rely on a concise mathematical equation.</a:t>
            </a:r>
          </a:p>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Laws are accepted as being universal and are the cornerstones of science. They must never be wrong (that is why there are many theories and few laws). If a law were ever to be shown false, any science built on that law would also be wrong.</a:t>
            </a:r>
          </a:p>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Examples of scientific laws (also called "laws of nature") include the laws of thermodynamics, Boyle’s law of gasses, the laws of gravitation.</a:t>
            </a:r>
          </a:p>
          <a:p>
            <a:pPr marL="0" indent="0">
              <a:lnSpc>
                <a:spcPct val="150000"/>
              </a:lnSpc>
              <a:buNone/>
            </a:pPr>
            <a:endParaRPr lang="en-GB" sz="2400" dirty="0">
              <a:solidFill>
                <a:srgbClr val="000000"/>
              </a:solidFill>
              <a:effectLst/>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11638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8D8A1-FEAC-F0FC-361B-EA441EC87FB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918294-EB99-612B-BCF5-F27F11B9C902}"/>
              </a:ext>
            </a:extLst>
          </p:cNvPr>
          <p:cNvSpPr>
            <a:spLocks noGrp="1"/>
          </p:cNvSpPr>
          <p:nvPr>
            <p:ph type="title"/>
          </p:nvPr>
        </p:nvSpPr>
        <p:spPr>
          <a:xfrm>
            <a:off x="838200" y="153192"/>
            <a:ext cx="1051560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Law</a:t>
            </a:r>
          </a:p>
        </p:txBody>
      </p:sp>
      <p:sp>
        <p:nvSpPr>
          <p:cNvPr id="7" name="Content Placeholder 6">
            <a:extLst>
              <a:ext uri="{FF2B5EF4-FFF2-40B4-BE49-F238E27FC236}">
                <a16:creationId xmlns:a16="http://schemas.microsoft.com/office/drawing/2014/main" id="{7074BB0B-6284-D63B-FCCF-5F3F4012F184}"/>
              </a:ext>
            </a:extLst>
          </p:cNvPr>
          <p:cNvSpPr>
            <a:spLocks noGrp="1"/>
          </p:cNvSpPr>
          <p:nvPr>
            <p:ph idx="1"/>
          </p:nvPr>
        </p:nvSpPr>
        <p:spPr>
          <a:xfrm>
            <a:off x="838200" y="1371599"/>
            <a:ext cx="10643886" cy="5172075"/>
          </a:xfrm>
        </p:spPr>
        <p:txBody>
          <a:bodyPr>
            <a:normAutofit lnSpcReduction="10000"/>
          </a:bodyPr>
          <a:lstStyle/>
          <a:p>
            <a:pPr>
              <a:lnSpc>
                <a:spcPct val="150000"/>
              </a:lnSpc>
            </a:pPr>
            <a:r>
              <a:rPr lang="en-GB" sz="2400" dirty="0">
                <a:solidFill>
                  <a:schemeClr val="tx1">
                    <a:lumMod val="95000"/>
                    <a:lumOff val="5000"/>
                  </a:schemeClr>
                </a:solidFill>
                <a:effectLst/>
                <a:latin typeface="Helvetica Neue Light" panose="02000403000000020004" pitchFamily="2" charset="0"/>
                <a:ea typeface="Helvetica Neue Light" panose="02000403000000020004" pitchFamily="2" charset="0"/>
              </a:rPr>
              <a:t>The characteristics of scientific law are - they are based in physics, observed by anyone, occur in the natural world without any intervention by people, explains the how of what was observed under specific conditions</a:t>
            </a:r>
            <a:r>
              <a:rPr lang="en-GB" sz="2400">
                <a:solidFill>
                  <a:schemeClr val="tx1">
                    <a:lumMod val="95000"/>
                    <a:lumOff val="5000"/>
                  </a:schemeClr>
                </a:solidFill>
                <a:effectLst/>
                <a:latin typeface="Helvetica Neue Light" panose="02000403000000020004" pitchFamily="2" charset="0"/>
                <a:ea typeface="Helvetica Neue Light" panose="02000403000000020004" pitchFamily="2" charset="0"/>
              </a:rPr>
              <a:t>, is </a:t>
            </a:r>
            <a:r>
              <a:rPr lang="en-GB" sz="2400" dirty="0">
                <a:solidFill>
                  <a:schemeClr val="tx1">
                    <a:lumMod val="95000"/>
                    <a:lumOff val="5000"/>
                  </a:schemeClr>
                </a:solidFill>
                <a:effectLst/>
                <a:latin typeface="Helvetica Neue Light" panose="02000403000000020004" pitchFamily="2" charset="0"/>
                <a:ea typeface="Helvetica Neue Light" panose="02000403000000020004" pitchFamily="2" charset="0"/>
              </a:rPr>
              <a:t>expressed by a mathematical formula or equation, can be used to predict outcomes, and can be proven.</a:t>
            </a:r>
          </a:p>
          <a:p>
            <a:pPr>
              <a:lnSpc>
                <a:spcPct val="150000"/>
              </a:lnSpc>
            </a:pPr>
            <a:r>
              <a:rPr lang="en-GB" sz="2400" dirty="0">
                <a:solidFill>
                  <a:schemeClr val="tx1">
                    <a:lumMod val="95000"/>
                    <a:lumOff val="5000"/>
                  </a:schemeClr>
                </a:solidFill>
                <a:effectLst/>
                <a:latin typeface="Helvetica Neue Light" panose="02000403000000020004" pitchFamily="2" charset="0"/>
                <a:ea typeface="Helvetica Neue Light" panose="02000403000000020004" pitchFamily="2" charset="0"/>
              </a:rPr>
              <a:t>The difference between a scientific theory and law is that a theory is used to explain why something is observed. Scientific law is used to explain how the thing that is observed happened. </a:t>
            </a:r>
          </a:p>
          <a:p>
            <a:pPr>
              <a:lnSpc>
                <a:spcPct val="150000"/>
              </a:lnSpc>
            </a:pPr>
            <a:r>
              <a:rPr lang="en-GB" sz="2400" dirty="0">
                <a:solidFill>
                  <a:srgbClr val="000000"/>
                </a:solidFill>
                <a:latin typeface="Helvetica Neue Light" panose="02000403000000020004" pitchFamily="2" charset="0"/>
                <a:ea typeface="Helvetica Neue Light" panose="02000403000000020004" pitchFamily="2" charset="0"/>
                <a:hlinkClick r:id="rId2"/>
              </a:rPr>
              <a:t>https://en.wikipedia.org/wiki/Scientific_law#Laws_of_classical_mechanics</a:t>
            </a:r>
            <a:endParaRPr lang="en-GB" sz="2400" dirty="0">
              <a:solidFill>
                <a:srgbClr val="000000"/>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415899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9FF56-678F-1739-AE50-2EA1BF674B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616F4D-BF5F-18FD-D023-31BBC58558FA}"/>
              </a:ext>
            </a:extLst>
          </p:cNvPr>
          <p:cNvSpPr>
            <a:spLocks noGrp="1"/>
          </p:cNvSpPr>
          <p:nvPr>
            <p:ph type="title"/>
          </p:nvPr>
        </p:nvSpPr>
        <p:spPr>
          <a:xfrm>
            <a:off x="838200" y="228879"/>
            <a:ext cx="1051560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Cognitive dissonance</a:t>
            </a:r>
          </a:p>
        </p:txBody>
      </p:sp>
      <p:sp>
        <p:nvSpPr>
          <p:cNvPr id="7" name="Content Placeholder 6">
            <a:extLst>
              <a:ext uri="{FF2B5EF4-FFF2-40B4-BE49-F238E27FC236}">
                <a16:creationId xmlns:a16="http://schemas.microsoft.com/office/drawing/2014/main" id="{12158B79-82E4-5425-FCD4-E86B393F1DAB}"/>
              </a:ext>
            </a:extLst>
          </p:cNvPr>
          <p:cNvSpPr>
            <a:spLocks noGrp="1"/>
          </p:cNvSpPr>
          <p:nvPr>
            <p:ph idx="1"/>
          </p:nvPr>
        </p:nvSpPr>
        <p:spPr>
          <a:xfrm>
            <a:off x="838200" y="1297348"/>
            <a:ext cx="10898529" cy="3359834"/>
          </a:xfrm>
        </p:spPr>
        <p:txBody>
          <a:bodyPr>
            <a:noAutofit/>
          </a:bodyPr>
          <a:lstStyle/>
          <a:p>
            <a:pPr marL="0" indent="0">
              <a:lnSpc>
                <a:spcPct val="150000"/>
              </a:lnSpc>
              <a:buNone/>
            </a:pPr>
            <a:r>
              <a:rPr lang="en-GB" sz="2400" dirty="0">
                <a:solidFill>
                  <a:srgbClr val="555555"/>
                </a:solidFill>
                <a:effectLst/>
                <a:latin typeface="Helvetica Neue Light" panose="02000403000000020004" pitchFamily="2" charset="0"/>
                <a:ea typeface="Helvetica Neue Light" panose="02000403000000020004" pitchFamily="2" charset="0"/>
              </a:rPr>
              <a:t>Cognitive dissonance is the discomfort a person feels when their behaviour does not align with their values or beliefs. Cognitive dissonance is a psychological phenomenon that occurs when a person holds two contradictory beliefs at the same time.</a:t>
            </a:r>
          </a:p>
        </p:txBody>
      </p:sp>
      <p:pic>
        <p:nvPicPr>
          <p:cNvPr id="2050" name="Picture 2" descr="The Mental Tug-of-War: A Study of Cognitive Dissonance and its Consequences  | by Saeed Mohajeryami, PhD | Mind Talk | Medium">
            <a:extLst>
              <a:ext uri="{FF2B5EF4-FFF2-40B4-BE49-F238E27FC236}">
                <a16:creationId xmlns:a16="http://schemas.microsoft.com/office/drawing/2014/main" id="{00D566D1-68BF-7C5F-A80A-7D9F784BFC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2574" y="3258796"/>
            <a:ext cx="7669780" cy="3599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115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ADC76-9182-943B-1716-FD564609619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4402BF4-BEEE-5DE1-49F7-3ADF119B01CB}"/>
              </a:ext>
            </a:extLst>
          </p:cNvPr>
          <p:cNvSpPr>
            <a:spLocks noGrp="1"/>
          </p:cNvSpPr>
          <p:nvPr>
            <p:ph type="title"/>
          </p:nvPr>
        </p:nvSpPr>
        <p:spPr>
          <a:xfrm>
            <a:off x="838200" y="156781"/>
            <a:ext cx="1051560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examples</a:t>
            </a:r>
          </a:p>
        </p:txBody>
      </p:sp>
      <p:sp>
        <p:nvSpPr>
          <p:cNvPr id="7" name="Content Placeholder 6">
            <a:extLst>
              <a:ext uri="{FF2B5EF4-FFF2-40B4-BE49-F238E27FC236}">
                <a16:creationId xmlns:a16="http://schemas.microsoft.com/office/drawing/2014/main" id="{0D04FA32-3303-4F09-AA4F-72CA61434DC6}"/>
              </a:ext>
            </a:extLst>
          </p:cNvPr>
          <p:cNvSpPr>
            <a:spLocks noGrp="1"/>
          </p:cNvSpPr>
          <p:nvPr>
            <p:ph idx="1"/>
          </p:nvPr>
        </p:nvSpPr>
        <p:spPr>
          <a:xfrm>
            <a:off x="838200" y="1410875"/>
            <a:ext cx="11020425" cy="5290344"/>
          </a:xfrm>
        </p:spPr>
        <p:txBody>
          <a:bodyPr>
            <a:noAutofit/>
          </a:bodyPr>
          <a:lstStyle/>
          <a:p>
            <a:pPr>
              <a:lnSpc>
                <a:spcPct val="150000"/>
              </a:lnSpc>
            </a:pPr>
            <a:r>
              <a:rPr lang="en-GB" sz="2200" dirty="0">
                <a:solidFill>
                  <a:schemeClr val="tx1">
                    <a:lumMod val="85000"/>
                    <a:lumOff val="15000"/>
                  </a:schemeClr>
                </a:solidFill>
                <a:effectLst/>
                <a:latin typeface="Helvetica Neue Light" panose="02000403000000020004" pitchFamily="2" charset="0"/>
                <a:ea typeface="Helvetica Neue Light" panose="02000403000000020004" pitchFamily="2" charset="0"/>
              </a:rPr>
              <a:t>People often experience cognitive dissonance when what they know (e.g. that burning fossil fuels contributes to climate change) conflicts with what they do (driving, flying, etc).</a:t>
            </a:r>
          </a:p>
          <a:p>
            <a:pPr>
              <a:lnSpc>
                <a:spcPct val="150000"/>
              </a:lnSpc>
            </a:pPr>
            <a:r>
              <a:rPr lang="en-GB" sz="2200" dirty="0">
                <a:solidFill>
                  <a:schemeClr val="tx1">
                    <a:lumMod val="85000"/>
                    <a:lumOff val="15000"/>
                  </a:schemeClr>
                </a:solidFill>
                <a:effectLst/>
                <a:latin typeface="Helvetica Neue Light" panose="02000403000000020004" pitchFamily="2" charset="0"/>
                <a:ea typeface="Helvetica Neue Light" panose="02000403000000020004" pitchFamily="2" charset="0"/>
              </a:rPr>
              <a:t>You want to be healthy, but you don't exercise regularly or eat a nutritious diet. You feel guilty as a result.</a:t>
            </a:r>
          </a:p>
          <a:p>
            <a:pPr>
              <a:lnSpc>
                <a:spcPct val="150000"/>
              </a:lnSpc>
            </a:pPr>
            <a:r>
              <a:rPr lang="en-GB" sz="2200" dirty="0">
                <a:solidFill>
                  <a:schemeClr val="tx1">
                    <a:lumMod val="85000"/>
                    <a:lumOff val="15000"/>
                  </a:schemeClr>
                </a:solidFill>
                <a:effectLst/>
                <a:latin typeface="Helvetica Neue Light" panose="02000403000000020004" pitchFamily="2" charset="0"/>
                <a:ea typeface="Helvetica Neue Light" panose="02000403000000020004" pitchFamily="2" charset="0"/>
              </a:rPr>
              <a:t>COVID-19 risk perception, cognitive dissonance, and vaccine hesitancy</a:t>
            </a:r>
          </a:p>
          <a:p>
            <a:pPr>
              <a:lnSpc>
                <a:spcPct val="150000"/>
              </a:lnSpc>
            </a:pPr>
            <a:r>
              <a:rPr lang="en-GB" sz="2200" dirty="0">
                <a:solidFill>
                  <a:srgbClr val="555555"/>
                </a:solidFill>
                <a:effectLst/>
                <a:latin typeface="Helvetica Neue Light" panose="02000403000000020004" pitchFamily="2" charset="0"/>
                <a:ea typeface="Helvetica Neue Light" panose="02000403000000020004" pitchFamily="2" charset="0"/>
                <a:hlinkClick r:id="rId2"/>
              </a:rPr>
              <a:t>https://www.ncbi.nlm.nih.gov/pmc/articles/PMC10026885/</a:t>
            </a:r>
            <a:endParaRPr lang="en-GB" sz="2200" dirty="0">
              <a:solidFill>
                <a:srgbClr val="555555"/>
              </a:solidFill>
              <a:latin typeface="Helvetica Neue Light" panose="02000403000000020004" pitchFamily="2" charset="0"/>
              <a:ea typeface="Helvetica Neue Light" panose="02000403000000020004" pitchFamily="2" charset="0"/>
            </a:endParaRPr>
          </a:p>
          <a:p>
            <a:pPr>
              <a:lnSpc>
                <a:spcPct val="150000"/>
              </a:lnSpc>
            </a:pPr>
            <a:r>
              <a:rPr lang="en-GB" sz="2200" dirty="0">
                <a:solidFill>
                  <a:schemeClr val="tx1">
                    <a:lumMod val="85000"/>
                    <a:lumOff val="15000"/>
                  </a:schemeClr>
                </a:solidFill>
                <a:effectLst/>
                <a:latin typeface="Helvetica Neue Light" panose="02000403000000020004" pitchFamily="2" charset="0"/>
                <a:ea typeface="Helvetica Neue Light" panose="02000403000000020004" pitchFamily="2" charset="0"/>
              </a:rPr>
              <a:t>2011 end times prediction</a:t>
            </a:r>
          </a:p>
          <a:p>
            <a:pPr>
              <a:lnSpc>
                <a:spcPct val="150000"/>
              </a:lnSpc>
            </a:pPr>
            <a:r>
              <a:rPr lang="en-GB" sz="2200" dirty="0">
                <a:solidFill>
                  <a:srgbClr val="555555"/>
                </a:solidFill>
                <a:effectLst/>
                <a:latin typeface="Helvetica Neue Light" panose="02000403000000020004" pitchFamily="2" charset="0"/>
                <a:ea typeface="Helvetica Neue Light" panose="02000403000000020004" pitchFamily="2" charset="0"/>
                <a:hlinkClick r:id="rId3"/>
              </a:rPr>
              <a:t>https://en.wikipedia.org/wiki/2011_end_times_prediction</a:t>
            </a:r>
            <a:endParaRPr lang="en-GB" sz="2200" dirty="0">
              <a:solidFill>
                <a:srgbClr val="555555"/>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0541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8E20A-B7A8-7EDC-5ABA-3211CFAF56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33AED0-7712-E49A-13E8-AC83948410B7}"/>
              </a:ext>
            </a:extLst>
          </p:cNvPr>
          <p:cNvSpPr>
            <a:spLocks noGrp="1"/>
          </p:cNvSpPr>
          <p:nvPr>
            <p:ph type="title"/>
          </p:nvPr>
        </p:nvSpPr>
        <p:spPr>
          <a:xfrm>
            <a:off x="738187" y="209550"/>
            <a:ext cx="1051560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Confirmation bias</a:t>
            </a:r>
          </a:p>
        </p:txBody>
      </p:sp>
      <p:sp>
        <p:nvSpPr>
          <p:cNvPr id="7" name="Content Placeholder 6">
            <a:extLst>
              <a:ext uri="{FF2B5EF4-FFF2-40B4-BE49-F238E27FC236}">
                <a16:creationId xmlns:a16="http://schemas.microsoft.com/office/drawing/2014/main" id="{34961F5A-8E44-015F-5301-65B243EADBAE}"/>
              </a:ext>
            </a:extLst>
          </p:cNvPr>
          <p:cNvSpPr>
            <a:spLocks noGrp="1"/>
          </p:cNvSpPr>
          <p:nvPr>
            <p:ph idx="1"/>
          </p:nvPr>
        </p:nvSpPr>
        <p:spPr>
          <a:xfrm>
            <a:off x="838200" y="1393825"/>
            <a:ext cx="6119813" cy="4821238"/>
          </a:xfrm>
        </p:spPr>
        <p:txBody>
          <a:bodyPr>
            <a:normAutofit lnSpcReduction="10000"/>
          </a:bodyPr>
          <a:lstStyle/>
          <a:p>
            <a:pPr marL="0" indent="0">
              <a:lnSpc>
                <a:spcPct val="150000"/>
              </a:lnSpc>
              <a:buNone/>
            </a:pPr>
            <a:r>
              <a:rPr lang="en-GB" sz="2400" dirty="0">
                <a:solidFill>
                  <a:srgbClr val="555555"/>
                </a:solidFill>
                <a:effectLst/>
                <a:latin typeface="Helvetica Neue Light" panose="02000403000000020004" pitchFamily="2" charset="0"/>
                <a:ea typeface="Helvetica Neue Light" panose="02000403000000020004" pitchFamily="2" charset="0"/>
              </a:rPr>
              <a:t>Confirmation bias is the tendency to search for, interpret, favour, and recall information in a way that confirms or supports one's prior beliefs or values.</a:t>
            </a:r>
          </a:p>
          <a:p>
            <a:pPr marL="0" indent="0">
              <a:lnSpc>
                <a:spcPct val="150000"/>
              </a:lnSpc>
              <a:buNone/>
            </a:pPr>
            <a:r>
              <a:rPr lang="en-GB" sz="2400" dirty="0">
                <a:solidFill>
                  <a:srgbClr val="555555"/>
                </a:solidFill>
                <a:effectLst/>
                <a:latin typeface="Helvetica Neue Light" panose="02000403000000020004" pitchFamily="2" charset="0"/>
                <a:ea typeface="Helvetica Neue Light" panose="02000403000000020004" pitchFamily="2" charset="0"/>
              </a:rPr>
              <a:t>People display this bias when they select information that supports their views, ignoring contrary information, or when they interpret ambiguous evidence as supporting their existing attitudes</a:t>
            </a:r>
          </a:p>
        </p:txBody>
      </p:sp>
      <p:pic>
        <p:nvPicPr>
          <p:cNvPr id="1026" name="Picture 2" descr="Confirmation bias as psychological objective attitude issue outline diagram. Incorrect information checking or aware of self interpretation vector illustration. Tendency to approve existing opinion. ">
            <a:extLst>
              <a:ext uri="{FF2B5EF4-FFF2-40B4-BE49-F238E27FC236}">
                <a16:creationId xmlns:a16="http://schemas.microsoft.com/office/drawing/2014/main" id="{9127CBB8-DF9B-4CE1-24A1-4993EFB2A5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8026" y="1325563"/>
            <a:ext cx="4957762" cy="4957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571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F5411-9BE3-1A43-31E2-908ADACB15A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9A0ED9D-4404-EEE8-BAC1-DCCA22E68413}"/>
              </a:ext>
            </a:extLst>
          </p:cNvPr>
          <p:cNvSpPr>
            <a:spLocks noGrp="1"/>
          </p:cNvSpPr>
          <p:nvPr>
            <p:ph type="title"/>
          </p:nvPr>
        </p:nvSpPr>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Examples – social media</a:t>
            </a:r>
          </a:p>
        </p:txBody>
      </p:sp>
      <p:sp>
        <p:nvSpPr>
          <p:cNvPr id="7" name="Content Placeholder 6">
            <a:extLst>
              <a:ext uri="{FF2B5EF4-FFF2-40B4-BE49-F238E27FC236}">
                <a16:creationId xmlns:a16="http://schemas.microsoft.com/office/drawing/2014/main" id="{A6ED8B52-9F26-E7AA-2444-BE3CCD4BFDAA}"/>
              </a:ext>
            </a:extLst>
          </p:cNvPr>
          <p:cNvSpPr>
            <a:spLocks noGrp="1"/>
          </p:cNvSpPr>
          <p:nvPr>
            <p:ph idx="1"/>
          </p:nvPr>
        </p:nvSpPr>
        <p:spPr>
          <a:xfrm>
            <a:off x="838199" y="1594130"/>
            <a:ext cx="10920413" cy="4635219"/>
          </a:xfrm>
        </p:spPr>
        <p:txBody>
          <a:bodyPr>
            <a:normAutofit fontScale="92500" lnSpcReduction="10000"/>
          </a:bodyPr>
          <a:lstStyle/>
          <a:p>
            <a:pPr>
              <a:lnSpc>
                <a:spcPct val="150000"/>
              </a:lnSpc>
            </a:pPr>
            <a:r>
              <a:rPr lang="en-GB" sz="2400" dirty="0">
                <a:solidFill>
                  <a:srgbClr val="555555"/>
                </a:solidFill>
                <a:effectLst/>
                <a:latin typeface="Helvetica Neue Light" panose="02000403000000020004" pitchFamily="2" charset="0"/>
                <a:ea typeface="Helvetica Neue Light" panose="02000403000000020004" pitchFamily="2" charset="0"/>
              </a:rPr>
              <a:t>Information we are presented on social media is not only reflective of what the users want to see but also of the designers’ beliefs and values. Today, people are exposed to an overwhelming number of news sources, each varying in their credibility.</a:t>
            </a:r>
          </a:p>
          <a:p>
            <a:pPr>
              <a:lnSpc>
                <a:spcPct val="150000"/>
              </a:lnSpc>
            </a:pPr>
            <a:r>
              <a:rPr lang="en-GB" sz="2400" dirty="0">
                <a:solidFill>
                  <a:srgbClr val="555555"/>
                </a:solidFill>
                <a:effectLst/>
                <a:latin typeface="Helvetica Neue Light" panose="02000403000000020004" pitchFamily="2" charset="0"/>
                <a:ea typeface="Helvetica Neue Light" panose="02000403000000020004" pitchFamily="2" charset="0"/>
              </a:rPr>
              <a:t>To form conclusions, people tend to read the news that aligns with their perspectives. For instance, new channels provide information (even the same news) differently from each other on complex issues (i.e., racism, political parties, etc.), with some using sensational headlines/pictures and one-sided information.</a:t>
            </a:r>
          </a:p>
          <a:p>
            <a:pPr>
              <a:lnSpc>
                <a:spcPct val="150000"/>
              </a:lnSpc>
            </a:pPr>
            <a:r>
              <a:rPr lang="en-GB" sz="2400" dirty="0">
                <a:solidFill>
                  <a:srgbClr val="555555"/>
                </a:solidFill>
                <a:effectLst/>
                <a:latin typeface="Helvetica Neue Light" panose="02000403000000020004" pitchFamily="2" charset="0"/>
                <a:ea typeface="Helvetica Neue Light" panose="02000403000000020004" pitchFamily="2" charset="0"/>
              </a:rPr>
              <a:t>Due to the biased coverage of topics, people only utilize certain channels/sites to obtain their information to make biased conclusions.</a:t>
            </a:r>
          </a:p>
        </p:txBody>
      </p:sp>
    </p:spTree>
    <p:extLst>
      <p:ext uri="{BB962C8B-B14F-4D97-AF65-F5344CB8AC3E}">
        <p14:creationId xmlns:p14="http://schemas.microsoft.com/office/powerpoint/2010/main" val="252418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00B23-182D-5DCC-478A-7D20A4F936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46EC96-6FF2-948E-6966-2EC6FF492C16}"/>
              </a:ext>
            </a:extLst>
          </p:cNvPr>
          <p:cNvSpPr>
            <a:spLocks noGrp="1"/>
          </p:cNvSpPr>
          <p:nvPr>
            <p:ph type="title"/>
          </p:nvPr>
        </p:nvSpPr>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Examples</a:t>
            </a:r>
          </a:p>
        </p:txBody>
      </p:sp>
      <p:sp>
        <p:nvSpPr>
          <p:cNvPr id="7" name="Content Placeholder 6">
            <a:extLst>
              <a:ext uri="{FF2B5EF4-FFF2-40B4-BE49-F238E27FC236}">
                <a16:creationId xmlns:a16="http://schemas.microsoft.com/office/drawing/2014/main" id="{48CB6213-28BF-D0AC-19FE-A7D151A18609}"/>
              </a:ext>
            </a:extLst>
          </p:cNvPr>
          <p:cNvSpPr>
            <a:spLocks noGrp="1"/>
          </p:cNvSpPr>
          <p:nvPr>
            <p:ph idx="1"/>
          </p:nvPr>
        </p:nvSpPr>
        <p:spPr>
          <a:xfrm>
            <a:off x="838200" y="1594131"/>
            <a:ext cx="10643886" cy="4351338"/>
          </a:xfrm>
        </p:spPr>
        <p:txBody>
          <a:bodyPr>
            <a:normAutofit/>
          </a:bodyPr>
          <a:lstStyle/>
          <a:p>
            <a:pPr>
              <a:lnSpc>
                <a:spcPct val="150000"/>
              </a:lnSpc>
            </a:pPr>
            <a:r>
              <a:rPr lang="en-GB" sz="2400" dirty="0">
                <a:solidFill>
                  <a:srgbClr val="282828"/>
                </a:solidFill>
                <a:effectLst/>
                <a:latin typeface="Helvetica Neue Light" panose="02000403000000020004" pitchFamily="2" charset="0"/>
                <a:ea typeface="Helvetica Neue Light" panose="02000403000000020004" pitchFamily="2" charset="0"/>
              </a:rPr>
              <a:t>People also tend to search for and interpret evidence with respect to their religious beliefs (if any).</a:t>
            </a:r>
          </a:p>
          <a:p>
            <a:pPr>
              <a:lnSpc>
                <a:spcPct val="150000"/>
              </a:lnSpc>
            </a:pPr>
            <a:r>
              <a:rPr lang="en-GB" sz="2400" dirty="0">
                <a:solidFill>
                  <a:srgbClr val="282828"/>
                </a:solidFill>
                <a:effectLst/>
                <a:latin typeface="Helvetica Neue Light" panose="02000403000000020004" pitchFamily="2" charset="0"/>
                <a:ea typeface="Helvetica Neue Light" panose="02000403000000020004" pitchFamily="2" charset="0"/>
              </a:rPr>
              <a:t>For instance, on the topics of abortion and transgender rights, people whose religions are against such things will interpret this information differently than others and will look for evidence to validate what they believe.</a:t>
            </a:r>
          </a:p>
          <a:p>
            <a:pPr>
              <a:lnSpc>
                <a:spcPct val="150000"/>
              </a:lnSpc>
            </a:pPr>
            <a:r>
              <a:rPr lang="en-GB" sz="2400" dirty="0">
                <a:solidFill>
                  <a:srgbClr val="282828"/>
                </a:solidFill>
                <a:effectLst/>
                <a:latin typeface="Helvetica Neue Light" panose="02000403000000020004" pitchFamily="2" charset="0"/>
                <a:ea typeface="Helvetica Neue Light" panose="02000403000000020004" pitchFamily="2" charset="0"/>
              </a:rPr>
              <a:t>Similarly, those who religiously reject the theory of evolution will either gather information disproving evolution or hold no official stance on the topic.</a:t>
            </a:r>
          </a:p>
        </p:txBody>
      </p:sp>
    </p:spTree>
    <p:extLst>
      <p:ext uri="{BB962C8B-B14F-4D97-AF65-F5344CB8AC3E}">
        <p14:creationId xmlns:p14="http://schemas.microsoft.com/office/powerpoint/2010/main" val="3953669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EA06B-D666-1AD9-2C00-EC469F041E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911DBB-A9F3-6A0D-193A-2A26CA956227}"/>
              </a:ext>
            </a:extLst>
          </p:cNvPr>
          <p:cNvSpPr>
            <a:spLocks noGrp="1"/>
          </p:cNvSpPr>
          <p:nvPr>
            <p:ph type="title"/>
          </p:nvPr>
        </p:nvSpPr>
        <p:spPr>
          <a:xfrm>
            <a:off x="838200" y="2766218"/>
            <a:ext cx="10515600" cy="1325563"/>
          </a:xfrm>
        </p:spPr>
        <p:txBody>
          <a:bodyPr>
            <a:normAutofit/>
          </a:bodyPr>
          <a:lstStyle/>
          <a:p>
            <a:pPr algn="ctr"/>
            <a:r>
              <a:rPr lang="en-US" sz="6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1</a:t>
            </a:r>
            <a:r>
              <a:rPr lang="en-US" sz="6600" spc="60" baseline="3000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st</a:t>
            </a:r>
            <a:r>
              <a:rPr lang="en-US" sz="6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2</a:t>
            </a:r>
            <a:r>
              <a:rPr lang="en-US" sz="6600" spc="60" baseline="3000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nd</a:t>
            </a:r>
            <a:r>
              <a:rPr lang="en-US" sz="6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and 3</a:t>
            </a:r>
            <a:r>
              <a:rPr lang="en-US" sz="6600" spc="60" baseline="3000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rd</a:t>
            </a:r>
            <a:r>
              <a:rPr lang="en-US" sz="6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person</a:t>
            </a:r>
          </a:p>
        </p:txBody>
      </p:sp>
    </p:spTree>
    <p:extLst>
      <p:ext uri="{BB962C8B-B14F-4D97-AF65-F5344CB8AC3E}">
        <p14:creationId xmlns:p14="http://schemas.microsoft.com/office/powerpoint/2010/main" val="2406415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9BA5E-E847-1A93-2009-00B1D8D98F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70EAF5-3A52-94C3-1806-C9E5BF798915}"/>
              </a:ext>
            </a:extLst>
          </p:cNvPr>
          <p:cNvSpPr>
            <a:spLocks noGrp="1"/>
          </p:cNvSpPr>
          <p:nvPr>
            <p:ph type="title"/>
          </p:nvPr>
        </p:nvSpPr>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First person</a:t>
            </a:r>
          </a:p>
        </p:txBody>
      </p:sp>
      <p:sp>
        <p:nvSpPr>
          <p:cNvPr id="7" name="Content Placeholder 6">
            <a:extLst>
              <a:ext uri="{FF2B5EF4-FFF2-40B4-BE49-F238E27FC236}">
                <a16:creationId xmlns:a16="http://schemas.microsoft.com/office/drawing/2014/main" id="{C98EEC8F-AED1-9DDE-F4F1-1CC8BD43D06C}"/>
              </a:ext>
            </a:extLst>
          </p:cNvPr>
          <p:cNvSpPr>
            <a:spLocks noGrp="1"/>
          </p:cNvSpPr>
          <p:nvPr>
            <p:ph idx="1"/>
          </p:nvPr>
        </p:nvSpPr>
        <p:spPr>
          <a:xfrm>
            <a:off x="838200" y="1594131"/>
            <a:ext cx="10643886" cy="4351338"/>
          </a:xfrm>
        </p:spPr>
        <p:txBody>
          <a:bodyPr>
            <a:normAutofit/>
          </a:bodyPr>
          <a:lstStyle/>
          <a:p>
            <a:pPr algn="l">
              <a:lnSpc>
                <a:spcPct val="150000"/>
              </a:lnSpc>
              <a:buFont typeface="Arial" panose="020B0604020202020204" pitchFamily="34" charset="0"/>
              <a:buChar char="•"/>
            </a:pPr>
            <a:r>
              <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rPr>
              <a:t>First person is the I / We perspective.</a:t>
            </a:r>
          </a:p>
          <a:p>
            <a:pPr algn="l">
              <a:lnSpc>
                <a:spcPct val="150000"/>
              </a:lnSpc>
              <a:buFont typeface="Arial" panose="020B0604020202020204" pitchFamily="34" charset="0"/>
              <a:buChar char="•"/>
            </a:pPr>
            <a:r>
              <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rPr>
              <a:t>I, we, me, us, my, mine, our, and ours.</a:t>
            </a:r>
          </a:p>
          <a:p>
            <a:pPr algn="l">
              <a:lnSpc>
                <a:spcPct val="150000"/>
              </a:lnSpc>
              <a:buFont typeface="Arial" panose="020B0604020202020204" pitchFamily="34" charset="0"/>
              <a:buChar char="•"/>
            </a:pPr>
            <a:r>
              <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rPr>
              <a:t>I think I lost my wallet! I can’t find it anywhere! Oh, I could just kick myself!</a:t>
            </a:r>
          </a:p>
          <a:p>
            <a:pPr algn="l">
              <a:lnSpc>
                <a:spcPct val="150000"/>
              </a:lnSpc>
              <a:buFont typeface="Arial" panose="020B0604020202020204" pitchFamily="34" charset="0"/>
              <a:buChar char="•"/>
            </a:pPr>
            <a:r>
              <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rPr>
              <a:t>We could do ourselves a favour and make a reservation for our group.</a:t>
            </a:r>
          </a:p>
          <a:p>
            <a:pPr algn="l">
              <a:lnSpc>
                <a:spcPct val="150000"/>
              </a:lnSpc>
              <a:buFont typeface="Arial" panose="020B0604020202020204" pitchFamily="34" charset="0"/>
              <a:buChar char="•"/>
            </a:pPr>
            <a:endParaRPr lang="en-GB" sz="2400" dirty="0">
              <a:solidFill>
                <a:schemeClr val="tx1">
                  <a:lumMod val="95000"/>
                  <a:lumOff val="5000"/>
                </a:schemeClr>
              </a:solidFill>
              <a:effectLst/>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345935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F8A07-ED5B-7E01-5F48-DE9CB7EA9E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69BB5D3-D6CE-FDCD-5262-BDB7A878F735}"/>
              </a:ext>
            </a:extLst>
          </p:cNvPr>
          <p:cNvSpPr>
            <a:spLocks noGrp="1"/>
          </p:cNvSpPr>
          <p:nvPr>
            <p:ph type="title"/>
          </p:nvPr>
        </p:nvSpPr>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Second person</a:t>
            </a:r>
          </a:p>
        </p:txBody>
      </p:sp>
      <p:sp>
        <p:nvSpPr>
          <p:cNvPr id="7" name="Content Placeholder 6">
            <a:extLst>
              <a:ext uri="{FF2B5EF4-FFF2-40B4-BE49-F238E27FC236}">
                <a16:creationId xmlns:a16="http://schemas.microsoft.com/office/drawing/2014/main" id="{3867D4EB-15C7-06C8-B091-0919570F56FF}"/>
              </a:ext>
            </a:extLst>
          </p:cNvPr>
          <p:cNvSpPr>
            <a:spLocks noGrp="1"/>
          </p:cNvSpPr>
          <p:nvPr>
            <p:ph idx="1"/>
          </p:nvPr>
        </p:nvSpPr>
        <p:spPr>
          <a:xfrm>
            <a:off x="838200" y="1551267"/>
            <a:ext cx="11149013" cy="4720945"/>
          </a:xfrm>
        </p:spPr>
        <p:txBody>
          <a:bodyPr>
            <a:normAutofit/>
          </a:bodyPr>
          <a:lstStyle/>
          <a:p>
            <a:pPr algn="l">
              <a:lnSpc>
                <a:spcPct val="150000"/>
              </a:lnSpc>
              <a:buFont typeface="Arial" panose="020B0604020202020204" pitchFamily="34" charset="0"/>
              <a:buChar char="•"/>
            </a:pPr>
            <a:r>
              <a:rPr lang="en-GB" dirty="0">
                <a:solidFill>
                  <a:srgbClr val="3B3E4D"/>
                </a:solidFill>
                <a:effectLst/>
                <a:latin typeface="Helvetica Neue Light" panose="02000403000000020004" pitchFamily="2" charset="0"/>
                <a:ea typeface="Helvetica Neue Light" panose="02000403000000020004" pitchFamily="2" charset="0"/>
              </a:rPr>
              <a:t>This is the “you” perspective. </a:t>
            </a:r>
            <a:r>
              <a:rPr lang="en-GB" dirty="0">
                <a:solidFill>
                  <a:srgbClr val="3B3E4D"/>
                </a:solidFill>
                <a:latin typeface="Helvetica Neue Light" panose="02000403000000020004" pitchFamily="2" charset="0"/>
                <a:ea typeface="Helvetica Neue Light" panose="02000403000000020004" pitchFamily="2" charset="0"/>
              </a:rPr>
              <a:t>T</a:t>
            </a:r>
            <a:r>
              <a:rPr lang="en-GB" dirty="0">
                <a:solidFill>
                  <a:srgbClr val="3B3E4D"/>
                </a:solidFill>
                <a:effectLst/>
                <a:latin typeface="Helvetica Neue Light" panose="02000403000000020004" pitchFamily="2" charset="0"/>
                <a:ea typeface="Helvetica Neue Light" panose="02000403000000020004" pitchFamily="2" charset="0"/>
              </a:rPr>
              <a:t>he biggest indicator of the second person is the use of second-person pronouns: you, your, yours, yourself, yourselves.</a:t>
            </a:r>
          </a:p>
          <a:p>
            <a:pPr algn="l">
              <a:lnSpc>
                <a:spcPct val="150000"/>
              </a:lnSpc>
              <a:buFont typeface="Arial" panose="020B0604020202020204" pitchFamily="34" charset="0"/>
              <a:buChar char="•"/>
            </a:pPr>
            <a:r>
              <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rPr>
              <a:t>You can wait in here and make yourself at home.</a:t>
            </a:r>
          </a:p>
          <a:p>
            <a:pPr algn="l">
              <a:lnSpc>
                <a:spcPct val="150000"/>
              </a:lnSpc>
              <a:buFont typeface="Arial" panose="020B0604020202020204" pitchFamily="34" charset="0"/>
              <a:buChar char="•"/>
            </a:pPr>
            <a:r>
              <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rPr>
              <a:t>You should be proud of yourselves for finishing this enormous project!</a:t>
            </a:r>
          </a:p>
          <a:p>
            <a:pPr algn="l">
              <a:lnSpc>
                <a:spcPct val="150000"/>
              </a:lnSpc>
              <a:buFont typeface="Arial" panose="020B0604020202020204" pitchFamily="34" charset="0"/>
              <a:buChar char="•"/>
            </a:pPr>
            <a:r>
              <a:rPr lang="en-GB" dirty="0">
                <a:solidFill>
                  <a:schemeClr val="tx1">
                    <a:lumMod val="95000"/>
                    <a:lumOff val="5000"/>
                  </a:schemeClr>
                </a:solidFill>
                <a:latin typeface="Helvetica Neue Light" panose="02000403000000020004" pitchFamily="2" charset="0"/>
                <a:ea typeface="Helvetica Neue Light" panose="02000403000000020004" pitchFamily="2" charset="0"/>
              </a:rPr>
              <a:t>Can be used for manuals ,walkthroughs, instructions etc…</a:t>
            </a:r>
            <a:endPar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597352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3ABC7-4031-81FF-7906-EBBB48F7109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852C9F-7619-A927-CA96-9161CB3B8A2D}"/>
              </a:ext>
            </a:extLst>
          </p:cNvPr>
          <p:cNvSpPr>
            <a:spLocks noGrp="1"/>
          </p:cNvSpPr>
          <p:nvPr>
            <p:ph type="title"/>
          </p:nvPr>
        </p:nvSpPr>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Third person</a:t>
            </a:r>
          </a:p>
        </p:txBody>
      </p:sp>
      <p:sp>
        <p:nvSpPr>
          <p:cNvPr id="7" name="Content Placeholder 6">
            <a:extLst>
              <a:ext uri="{FF2B5EF4-FFF2-40B4-BE49-F238E27FC236}">
                <a16:creationId xmlns:a16="http://schemas.microsoft.com/office/drawing/2014/main" id="{A6179C0F-AF4A-0667-0992-6A5821B5176D}"/>
              </a:ext>
            </a:extLst>
          </p:cNvPr>
          <p:cNvSpPr>
            <a:spLocks noGrp="1"/>
          </p:cNvSpPr>
          <p:nvPr>
            <p:ph idx="1"/>
          </p:nvPr>
        </p:nvSpPr>
        <p:spPr>
          <a:xfrm>
            <a:off x="838200" y="1594131"/>
            <a:ext cx="10643886" cy="4351338"/>
          </a:xfrm>
        </p:spPr>
        <p:txBody>
          <a:bodyPr>
            <a:normAutofit/>
          </a:bodyPr>
          <a:lstStyle/>
          <a:p>
            <a:pPr algn="l">
              <a:lnSpc>
                <a:spcPct val="150000"/>
              </a:lnSpc>
              <a:buFont typeface="Arial" panose="020B0604020202020204" pitchFamily="34" charset="0"/>
              <a:buChar char="•"/>
            </a:pPr>
            <a:r>
              <a:rPr lang="en-GB" dirty="0">
                <a:solidFill>
                  <a:srgbClr val="3B3E4D"/>
                </a:solidFill>
                <a:effectLst/>
                <a:latin typeface="Helvetica Neue Light" panose="02000403000000020004" pitchFamily="2" charset="0"/>
                <a:ea typeface="Helvetica Neue Light" panose="02000403000000020004" pitchFamily="2" charset="0"/>
              </a:rPr>
              <a:t>The third-person pronouns include he, him, his, himself, she, her, hers, herself, it, its, itself, they, them, their, theirs, and themselves.</a:t>
            </a:r>
          </a:p>
          <a:p>
            <a:pPr algn="l">
              <a:lnSpc>
                <a:spcPct val="150000"/>
              </a:lnSpc>
              <a:buFont typeface="Arial" panose="020B0604020202020204" pitchFamily="34" charset="0"/>
              <a:buChar char="•"/>
            </a:pPr>
            <a:r>
              <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rPr>
              <a:t>Sarah used her prize money from the science fair to buy herself a new microscope.</a:t>
            </a:r>
          </a:p>
          <a:p>
            <a:pPr algn="l">
              <a:lnSpc>
                <a:spcPct val="150000"/>
              </a:lnSpc>
              <a:buFont typeface="Arial" panose="020B0604020202020204" pitchFamily="34" charset="0"/>
              <a:buChar char="•"/>
            </a:pPr>
            <a:r>
              <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rPr>
              <a:t>The concertgoers roared their approval when they realized they’d be getting an encore.</a:t>
            </a:r>
          </a:p>
          <a:p>
            <a:pPr algn="l">
              <a:lnSpc>
                <a:spcPct val="150000"/>
              </a:lnSpc>
              <a:buFont typeface="Arial" panose="020B0604020202020204" pitchFamily="34" charset="0"/>
              <a:buChar char="•"/>
            </a:pPr>
            <a:endParaRPr lang="en-GB" sz="2400" dirty="0">
              <a:solidFill>
                <a:schemeClr val="tx1">
                  <a:lumMod val="95000"/>
                  <a:lumOff val="5000"/>
                </a:schemeClr>
              </a:solidFill>
              <a:effectLst/>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804776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32437-97E8-FA61-C008-6003E576CBA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335CB2-625C-1530-1278-C1FA44C57B6E}"/>
              </a:ext>
            </a:extLst>
          </p:cNvPr>
          <p:cNvSpPr>
            <a:spLocks noGrp="1"/>
          </p:cNvSpPr>
          <p:nvPr>
            <p:ph type="title"/>
          </p:nvPr>
        </p:nvSpPr>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Academic writing</a:t>
            </a:r>
          </a:p>
        </p:txBody>
      </p:sp>
      <p:sp>
        <p:nvSpPr>
          <p:cNvPr id="7" name="Content Placeholder 6">
            <a:extLst>
              <a:ext uri="{FF2B5EF4-FFF2-40B4-BE49-F238E27FC236}">
                <a16:creationId xmlns:a16="http://schemas.microsoft.com/office/drawing/2014/main" id="{1FCFABF8-B814-3CB6-DC70-588A91494884}"/>
              </a:ext>
            </a:extLst>
          </p:cNvPr>
          <p:cNvSpPr>
            <a:spLocks noGrp="1"/>
          </p:cNvSpPr>
          <p:nvPr>
            <p:ph idx="1"/>
          </p:nvPr>
        </p:nvSpPr>
        <p:spPr>
          <a:xfrm>
            <a:off x="838200" y="1594131"/>
            <a:ext cx="10643886" cy="4351338"/>
          </a:xfrm>
        </p:spPr>
        <p:txBody>
          <a:bodyPr>
            <a:normAutofit/>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Most academic papers should generally be written in the third person, referring to other authors and researchers from credible and academic sources to support your argument rather than stating your own personal experiences.</a:t>
            </a:r>
          </a:p>
          <a:p>
            <a:pPr marL="0" indent="0">
              <a:lnSpc>
                <a:spcPct val="150000"/>
              </a:lnSpc>
              <a:buNone/>
            </a:pPr>
            <a:r>
              <a:rPr lang="en-GB" dirty="0">
                <a:solidFill>
                  <a:schemeClr val="tx1">
                    <a:lumMod val="95000"/>
                    <a:lumOff val="5000"/>
                  </a:schemeClr>
                </a:solidFill>
                <a:latin typeface="Helvetica Neue Light" panose="02000403000000020004" pitchFamily="2" charset="0"/>
                <a:ea typeface="Helvetica Neue Light" panose="02000403000000020004" pitchFamily="2" charset="0"/>
              </a:rPr>
              <a:t>In their research Jones (2023) notes that PHP….</a:t>
            </a:r>
          </a:p>
          <a:p>
            <a:pPr marL="0" indent="0">
              <a:lnSpc>
                <a:spcPct val="150000"/>
              </a:lnSpc>
              <a:buNone/>
            </a:pPr>
            <a:r>
              <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rPr>
              <a:t>PHP, a very popular server-side language (Jones, 2023)…</a:t>
            </a:r>
          </a:p>
        </p:txBody>
      </p:sp>
    </p:spTree>
    <p:extLst>
      <p:ext uri="{BB962C8B-B14F-4D97-AF65-F5344CB8AC3E}">
        <p14:creationId xmlns:p14="http://schemas.microsoft.com/office/powerpoint/2010/main" val="502561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824F7-8BE4-19E0-0D54-DCC8255BFC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A4DF52-6EA8-97B3-0476-6C326D1829CD}"/>
              </a:ext>
            </a:extLst>
          </p:cNvPr>
          <p:cNvSpPr>
            <a:spLocks noGrp="1"/>
          </p:cNvSpPr>
          <p:nvPr>
            <p:ph type="title"/>
          </p:nvPr>
        </p:nvSpPr>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To Summerise</a:t>
            </a:r>
          </a:p>
        </p:txBody>
      </p:sp>
      <p:sp>
        <p:nvSpPr>
          <p:cNvPr id="7" name="Content Placeholder 6">
            <a:extLst>
              <a:ext uri="{FF2B5EF4-FFF2-40B4-BE49-F238E27FC236}">
                <a16:creationId xmlns:a16="http://schemas.microsoft.com/office/drawing/2014/main" id="{15DF5822-36B2-DAA9-BDDF-5CD94356AC06}"/>
              </a:ext>
            </a:extLst>
          </p:cNvPr>
          <p:cNvSpPr>
            <a:spLocks noGrp="1"/>
          </p:cNvSpPr>
          <p:nvPr>
            <p:ph idx="1"/>
          </p:nvPr>
        </p:nvSpPr>
        <p:spPr>
          <a:xfrm>
            <a:off x="838200" y="1594131"/>
            <a:ext cx="10643886" cy="4351338"/>
          </a:xfrm>
        </p:spPr>
        <p:txBody>
          <a:bodyPr>
            <a:normAutofit/>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First person acceptable in personal evaluations or reflections.</a:t>
            </a:r>
          </a:p>
          <a:p>
            <a:pPr marL="457200" lvl="1" indent="0">
              <a:lnSpc>
                <a:spcPct val="150000"/>
              </a:lnSpc>
              <a:buNone/>
            </a:pPr>
            <a:r>
              <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rPr>
              <a:t>“I learned  x, y or z from doing…”</a:t>
            </a:r>
          </a:p>
          <a:p>
            <a:pPr marL="0" indent="0">
              <a:lnSpc>
                <a:spcPct val="150000"/>
              </a:lnSpc>
              <a:buNone/>
            </a:pPr>
            <a:r>
              <a:rPr lang="en-GB" dirty="0">
                <a:solidFill>
                  <a:schemeClr val="tx1">
                    <a:lumMod val="95000"/>
                    <a:lumOff val="5000"/>
                  </a:schemeClr>
                </a:solidFill>
                <a:latin typeface="Helvetica Neue Light" panose="02000403000000020004" pitchFamily="2" charset="0"/>
                <a:ea typeface="Helvetica Neue Light" panose="02000403000000020004" pitchFamily="2" charset="0"/>
              </a:rPr>
              <a:t>Second person for instructional material. </a:t>
            </a:r>
          </a:p>
          <a:p>
            <a:pPr marL="457200" lvl="1" indent="0">
              <a:lnSpc>
                <a:spcPct val="150000"/>
              </a:lnSpc>
              <a:buNone/>
            </a:pPr>
            <a:r>
              <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rPr>
              <a:t>“Firstly, you need to create an account…”</a:t>
            </a:r>
          </a:p>
          <a:p>
            <a:pPr marL="0" indent="0">
              <a:lnSpc>
                <a:spcPct val="150000"/>
              </a:lnSpc>
              <a:buNone/>
            </a:pPr>
            <a:r>
              <a:rPr lang="en-GB" dirty="0">
                <a:solidFill>
                  <a:schemeClr val="tx1">
                    <a:lumMod val="95000"/>
                    <a:lumOff val="5000"/>
                  </a:schemeClr>
                </a:solidFill>
                <a:latin typeface="Helvetica Neue Light" panose="02000403000000020004" pitchFamily="2" charset="0"/>
                <a:ea typeface="Helvetica Neue Light" panose="02000403000000020004" pitchFamily="2" charset="0"/>
              </a:rPr>
              <a:t>Third person for the bulk of other academic writing</a:t>
            </a:r>
          </a:p>
          <a:p>
            <a:pPr marL="457200" lvl="1" indent="0">
              <a:lnSpc>
                <a:spcPct val="150000"/>
              </a:lnSpc>
              <a:buNone/>
            </a:pPr>
            <a:r>
              <a:rPr lang="en-GB" dirty="0">
                <a:solidFill>
                  <a:schemeClr val="tx1">
                    <a:lumMod val="95000"/>
                    <a:lumOff val="5000"/>
                  </a:schemeClr>
                </a:solidFill>
                <a:latin typeface="Helvetica Neue Light" panose="02000403000000020004" pitchFamily="2" charset="0"/>
                <a:ea typeface="Helvetica Neue Light" panose="02000403000000020004" pitchFamily="2" charset="0"/>
              </a:rPr>
              <a:t>“Matt (2025) was very clear in his </a:t>
            </a:r>
            <a:r>
              <a:rPr lang="en-GB">
                <a:solidFill>
                  <a:schemeClr val="tx1">
                    <a:lumMod val="95000"/>
                    <a:lumOff val="5000"/>
                  </a:schemeClr>
                </a:solidFill>
                <a:latin typeface="Helvetica Neue Light" panose="02000403000000020004" pitchFamily="2" charset="0"/>
                <a:ea typeface="Helvetica Neue Light" panose="02000403000000020004" pitchFamily="2" charset="0"/>
              </a:rPr>
              <a:t>slides…”</a:t>
            </a:r>
            <a:endParaRPr lang="en-GB" dirty="0">
              <a:solidFill>
                <a:schemeClr val="tx1">
                  <a:lumMod val="95000"/>
                  <a:lumOff val="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dirty="0">
              <a:solidFill>
                <a:schemeClr val="tx1">
                  <a:lumMod val="95000"/>
                  <a:lumOff val="5000"/>
                </a:schemeClr>
              </a:solidFill>
              <a:effectLst/>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633812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487A1-E30D-7282-038F-F919282CCD95}"/>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E7D9729-89CD-5BC5-6B61-7917EA16F18D}"/>
              </a:ext>
            </a:extLst>
          </p:cNvPr>
          <p:cNvSpPr>
            <a:spLocks noGrp="1"/>
          </p:cNvSpPr>
          <p:nvPr>
            <p:ph idx="1"/>
          </p:nvPr>
        </p:nvSpPr>
        <p:spPr>
          <a:xfrm>
            <a:off x="567966" y="4762499"/>
            <a:ext cx="10372725" cy="566738"/>
          </a:xfrm>
        </p:spPr>
        <p:txBody>
          <a:bodyPr>
            <a:normAutofit fontScale="92500" lnSpcReduction="10000"/>
          </a:bodyPr>
          <a:lstStyle/>
          <a:p>
            <a:pPr marL="0" indent="0" algn="l">
              <a:lnSpc>
                <a:spcPct val="150000"/>
              </a:lnSpc>
              <a:buNone/>
            </a:pPr>
            <a:r>
              <a:rPr lang="en-GB" sz="2400" dirty="0">
                <a:solidFill>
                  <a:srgbClr val="282828"/>
                </a:solidFill>
                <a:effectLst/>
                <a:latin typeface="Helvetica Neue Light" panose="02000403000000020004" pitchFamily="2" charset="0"/>
                <a:ea typeface="Helvetica Neue Light" panose="02000403000000020004" pitchFamily="2" charset="0"/>
                <a:hlinkClick r:id="rId2"/>
              </a:rPr>
              <a:t>https://www.gre.ac.uk/articles/ils/articles-academic-skills</a:t>
            </a:r>
            <a:endParaRPr lang="en-GB" sz="2400" dirty="0">
              <a:solidFill>
                <a:srgbClr val="282828"/>
              </a:solidFill>
              <a:effectLst/>
              <a:latin typeface="Helvetica Neue Light" panose="02000403000000020004" pitchFamily="2" charset="0"/>
              <a:ea typeface="Helvetica Neue Light" panose="02000403000000020004" pitchFamily="2" charset="0"/>
            </a:endParaRPr>
          </a:p>
          <a:p>
            <a:pPr marL="0" indent="0" algn="l">
              <a:lnSpc>
                <a:spcPct val="150000"/>
              </a:lnSpc>
              <a:buNone/>
            </a:pPr>
            <a:endParaRPr lang="en-GB" sz="2400" dirty="0">
              <a:solidFill>
                <a:srgbClr val="282828"/>
              </a:solidFill>
              <a:effectLst/>
              <a:latin typeface="Helvetica Neue Light" panose="02000403000000020004" pitchFamily="2" charset="0"/>
              <a:ea typeface="Helvetica Neue Light" panose="02000403000000020004" pitchFamily="2" charset="0"/>
            </a:endParaRPr>
          </a:p>
        </p:txBody>
      </p:sp>
      <p:pic>
        <p:nvPicPr>
          <p:cNvPr id="5" name="Picture 4">
            <a:extLst>
              <a:ext uri="{FF2B5EF4-FFF2-40B4-BE49-F238E27FC236}">
                <a16:creationId xmlns:a16="http://schemas.microsoft.com/office/drawing/2014/main" id="{6149C6ED-9332-5F23-4533-ACCB86631613}"/>
              </a:ext>
            </a:extLst>
          </p:cNvPr>
          <p:cNvPicPr>
            <a:picLocks noChangeAspect="1"/>
          </p:cNvPicPr>
          <p:nvPr/>
        </p:nvPicPr>
        <p:blipFill>
          <a:blip r:embed="rId3"/>
          <a:stretch>
            <a:fillRect/>
          </a:stretch>
        </p:blipFill>
        <p:spPr>
          <a:xfrm>
            <a:off x="567967" y="882700"/>
            <a:ext cx="11056066" cy="3260676"/>
          </a:xfrm>
          <a:prstGeom prst="rect">
            <a:avLst/>
          </a:prstGeom>
        </p:spPr>
      </p:pic>
    </p:spTree>
    <p:extLst>
      <p:ext uri="{BB962C8B-B14F-4D97-AF65-F5344CB8AC3E}">
        <p14:creationId xmlns:p14="http://schemas.microsoft.com/office/powerpoint/2010/main" val="797263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47136"/>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40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p>
        </p:txBody>
      </p:sp>
    </p:spTree>
    <p:extLst>
      <p:ext uri="{BB962C8B-B14F-4D97-AF65-F5344CB8AC3E}">
        <p14:creationId xmlns:p14="http://schemas.microsoft.com/office/powerpoint/2010/main" val="384478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1938</TotalTime>
  <Words>1863</Words>
  <Application>Microsoft Macintosh PowerPoint</Application>
  <PresentationFormat>Widescreen</PresentationFormat>
  <Paragraphs>123</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American Typewriter</vt:lpstr>
      <vt:lpstr>Arial</vt:lpstr>
      <vt:lpstr>Bitter</vt:lpstr>
      <vt:lpstr>Calibri</vt:lpstr>
      <vt:lpstr>Calibri Light</vt:lpstr>
      <vt:lpstr>Helvetica Neue Light</vt:lpstr>
      <vt:lpstr>Helvetica Neue Thin</vt:lpstr>
      <vt:lpstr>Office Theme</vt:lpstr>
      <vt:lpstr>COMP 1842</vt:lpstr>
      <vt:lpstr>Intro</vt:lpstr>
      <vt:lpstr>Critical thinking</vt:lpstr>
      <vt:lpstr>PowerPoint Presentation</vt:lpstr>
      <vt:lpstr>Evaluating a source's credibility</vt:lpstr>
      <vt:lpstr>Brexit</vt:lpstr>
      <vt:lpstr>Google scholar vs Google or Twitter </vt:lpstr>
      <vt:lpstr>Anecdotal evidence</vt:lpstr>
      <vt:lpstr>Peer review</vt:lpstr>
      <vt:lpstr>The scientific method</vt:lpstr>
      <vt:lpstr>You are doing a BSc, your 3rd year project will be following and applying the scientific method.</vt:lpstr>
      <vt:lpstr>Hypothesis, Theory and Law</vt:lpstr>
      <vt:lpstr>Hypothesis</vt:lpstr>
      <vt:lpstr>Hypothesis - example</vt:lpstr>
      <vt:lpstr>Theory</vt:lpstr>
      <vt:lpstr>Theory - example</vt:lpstr>
      <vt:lpstr>Theory – examples 2</vt:lpstr>
      <vt:lpstr>Law</vt:lpstr>
      <vt:lpstr>Law</vt:lpstr>
      <vt:lpstr>Cognitive dissonance</vt:lpstr>
      <vt:lpstr>examples</vt:lpstr>
      <vt:lpstr>Confirmation bias</vt:lpstr>
      <vt:lpstr>Examples – social media</vt:lpstr>
      <vt:lpstr>Examples</vt:lpstr>
      <vt:lpstr>1st, 2nd and 3rd person</vt:lpstr>
      <vt:lpstr>First person</vt:lpstr>
      <vt:lpstr>Second person</vt:lpstr>
      <vt:lpstr>Third person</vt:lpstr>
      <vt:lpstr>Academic writing</vt:lpstr>
      <vt:lpstr>To Summerise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1321</dc:title>
  <dc:creator>Matthew Prichard</dc:creator>
  <cp:lastModifiedBy>Matthew Prichard</cp:lastModifiedBy>
  <cp:revision>120</cp:revision>
  <dcterms:created xsi:type="dcterms:W3CDTF">2020-06-28T01:46:05Z</dcterms:created>
  <dcterms:modified xsi:type="dcterms:W3CDTF">2025-01-20T15:01:13Z</dcterms:modified>
</cp:coreProperties>
</file>