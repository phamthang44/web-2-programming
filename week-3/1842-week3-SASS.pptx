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62" r:id="rId4"/>
    <p:sldId id="266" r:id="rId5"/>
    <p:sldId id="267" r:id="rId6"/>
    <p:sldId id="268" r:id="rId7"/>
    <p:sldId id="263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3" r:id="rId22"/>
    <p:sldId id="284" r:id="rId23"/>
    <p:sldId id="285" r:id="rId24"/>
    <p:sldId id="286" r:id="rId25"/>
    <p:sldId id="287" r:id="rId26"/>
    <p:sldId id="282" r:id="rId27"/>
    <p:sldId id="288" r:id="rId28"/>
    <p:sldId id="289" r:id="rId29"/>
    <p:sldId id="290" r:id="rId30"/>
    <p:sldId id="265" r:id="rId31"/>
    <p:sldId id="264" r:id="rId32"/>
    <p:sldId id="292" r:id="rId33"/>
    <p:sldId id="291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B50"/>
    <a:srgbClr val="D3473F"/>
    <a:srgbClr val="FF57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632"/>
    <p:restoredTop sz="86395"/>
  </p:normalViewPr>
  <p:slideViewPr>
    <p:cSldViewPr snapToGrid="0" snapToObjects="1">
      <p:cViewPr varScale="1">
        <p:scale>
          <a:sx n="99" d="100"/>
          <a:sy n="99" d="100"/>
        </p:scale>
        <p:origin x="200" y="7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14.1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24575,'0'-6'0,"0"2"0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15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24575,'5'5'0,"-1"-1"0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20.2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24575,'0'-5'0,"0"1"0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26.0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28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24575,'5'0'0,"-1"0"0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FF539-EFFE-4545-8560-8B85D420C5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27E099-A4CF-C148-8D5A-DC7DCE6EA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4F13F-321A-6C44-A529-3C63949C7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77D4B-E972-3F48-8AB6-BC30D35A4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37F83-FC1F-964D-9D14-71EC1C06A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8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88E1E-8C7B-BF49-ADDF-0DBF11C19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6981E-8F9B-D64C-9D10-A1DF59034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20193-341C-E347-A42A-A1A21E43F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18F1D-D2AE-3E45-9684-41082CDD0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77C00-9FE2-D644-877F-E440C7FDB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47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9FB7A-866B-8144-B7A1-B3D2CE8B4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9333F-7620-324C-821F-9AD4629D8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1DDB4-466A-D142-8FFA-437B8B3B2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B42E0-284F-5746-B82C-C36E036E5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C5C72-09E6-E047-BEF5-956CDC65F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786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B2E35-2AE7-6F47-B4DA-83DE0DF47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CAD58-35EE-E345-9223-93C0D708CA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4EF8E7-11C7-6E44-9C23-E6F8B255FA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88C67-D211-A347-94D3-2566B042C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3FAA6E-E7CE-1B4F-A78D-8055C20FF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6079D9-12B3-A149-9192-6D6EE5E58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109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17B05-85DB-5A4D-931F-231EBBA11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F10373-280F-CA46-BE02-633860BE9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0A25CD-D56D-9749-8FA7-012A6FFB1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940AEA-A232-8E45-B81D-24868FB2C4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DB3D5C-B45E-294F-899C-37B8ABB445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43D68E-FDF7-C045-8CAA-189B56B2E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413D46-B78B-B34E-A26D-1E905B740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8BDADF-5108-CD45-9618-15BBE0609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929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59E0C-142B-1A4D-89C5-B127E3184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F2823E-3DFF-BC40-A52F-4043983FB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4D8986-40E4-9C4C-9000-D7F27294F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6A2C31-69A8-2541-8800-BF6093390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145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E6F4BA-B7C3-0B40-A517-3063895B0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97E2D8-25FE-5D4E-AA84-54C5D96B6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C8086-56AB-5846-9B21-24E9FACF9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53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5128B-CB7D-4949-BDCD-CEA57AD65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22BEB-180F-2C4F-AD00-7398A27FF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449D24-1922-914E-8AE1-EDB93293A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C72B2-DD18-5848-8941-A617E3E79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8227D4-8A18-8847-B7F4-B294D0E21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41A7C-E471-BB41-A5AE-D7F2A5EF5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60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8BA7A-65F6-804A-9941-BCE8970B9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38F054-1226-C841-8344-D63DBC0215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11DC94-414C-3F41-B393-D969AAC6A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DE8132-7D31-F647-A931-5987A506D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F137E-B2CD-DD4D-BF38-E08630C9F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EF7E92-EA36-7B48-A10F-1F43EE78F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561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E4E04-9F9F-AB48-88B1-E1883CD33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657EA1-F037-8B4E-9A3A-2DE41A3DE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B8C3C-2D4F-BE41-8BC7-084B83BEF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2D0DE-14FE-1D40-BE53-A452852B6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1D8C1-DBB4-6047-9F3A-27574BE70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89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A564D8-A2EB-6040-A321-450F2B3B5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E19CC6-DE46-8941-A1E0-A043207418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B8749-56EB-B24A-9291-4EBB8B556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ABE29-13B7-C144-9FE6-C43F1BC65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9BD64-DA0B-7445-BB80-5A502968A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319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A0518A-80A7-B946-A2C0-357FF80B4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66F8D-B95D-3748-A8C1-B613B61AC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1E4AA-0008-E746-A8C3-917D9ECC1F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38E33-E634-164E-9160-E9D257145221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644B1-065E-4C4F-8DD6-AB2140588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1CFFB-C884-9249-B66F-52213D904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146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customXml" Target="../ink/ink4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10" Type="http://schemas.openxmlformats.org/officeDocument/2006/relationships/image" Target="../media/image4.png"/><Relationship Id="rId4" Type="http://schemas.openxmlformats.org/officeDocument/2006/relationships/customXml" Target="../ink/ink2.xml"/><Relationship Id="rId9" Type="http://schemas.openxmlformats.org/officeDocument/2006/relationships/customXml" Target="../ink/ink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sass-lang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ass-lang.com/install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getbootstrap.com/docs/5.0/customize/overview/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www.w3schools.com/css/css3_variables.asp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sass-lang.com/guide/#inheritance" TargetMode="External"/><Relationship Id="rId2" Type="http://schemas.openxmlformats.org/officeDocument/2006/relationships/hyperlink" Target="https://www.w3schools.com/sass/default.php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log.logrocket.com/the-definitive-guide-to-scss/" TargetMode="Externa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5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C8B91-A0EF-6441-AC27-9667FD447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919" y="1374113"/>
            <a:ext cx="12192000" cy="2472633"/>
          </a:xfrm>
          <a:ln>
            <a:noFill/>
          </a:ln>
          <a:effectLst>
            <a:outerShdw blurRad="165100" dist="1016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US" sz="15000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COMP 1842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C15634-394B-C140-BAEF-ABAB8B492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640041"/>
            <a:ext cx="12192000" cy="862267"/>
          </a:xfrm>
        </p:spPr>
        <p:txBody>
          <a:bodyPr>
            <a:normAutofit lnSpcReduction="10000"/>
          </a:bodyPr>
          <a:lstStyle/>
          <a:p>
            <a:r>
              <a:rPr lang="en-US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Week3 pt1 </a:t>
            </a:r>
            <a:r>
              <a:rPr lang="en-US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– SASS intro</a:t>
            </a:r>
          </a:p>
          <a:p>
            <a:r>
              <a:rPr lang="en-US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Matt Prichard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D7C0677-BBE1-414B-814E-FB526796BABE}"/>
                  </a:ext>
                </a:extLst>
              </p14:cNvPr>
              <p14:cNvContentPartPr/>
              <p14:nvPr/>
            </p14:nvContentPartPr>
            <p14:xfrm>
              <a:off x="8651014" y="2840692"/>
              <a:ext cx="360" cy="3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D7C0677-BBE1-414B-814E-FB526796BA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42374" y="2831692"/>
                <a:ext cx="1800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850E275-2940-D64F-8F9D-8FEA90F263CD}"/>
                  </a:ext>
                </a:extLst>
              </p14:cNvPr>
              <p14:cNvContentPartPr/>
              <p14:nvPr/>
            </p14:nvContentPartPr>
            <p14:xfrm>
              <a:off x="7568494" y="1355692"/>
              <a:ext cx="3600" cy="3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850E275-2940-D64F-8F9D-8FEA90F263C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59854" y="1347052"/>
                <a:ext cx="212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C9CF2D3-71F9-664F-83A1-4ACBF7039607}"/>
                  </a:ext>
                </a:extLst>
              </p14:cNvPr>
              <p14:cNvContentPartPr/>
              <p14:nvPr/>
            </p14:nvContentPartPr>
            <p14:xfrm>
              <a:off x="5078734" y="3049852"/>
              <a:ext cx="360" cy="3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C9CF2D3-71F9-664F-83A1-4ACBF70396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70094" y="3041212"/>
                <a:ext cx="1800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FDACCB0-A54B-354A-A3EC-60B7525CDF0A}"/>
                  </a:ext>
                </a:extLst>
              </p14:cNvPr>
              <p14:cNvContentPartPr/>
              <p14:nvPr/>
            </p14:nvContentPartPr>
            <p14:xfrm>
              <a:off x="5525854" y="1776532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FDACCB0-A54B-354A-A3EC-60B7525CDF0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17214" y="176753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465448C-44AF-1340-8608-65DF607A0667}"/>
                  </a:ext>
                </a:extLst>
              </p14:cNvPr>
              <p14:cNvContentPartPr/>
              <p14:nvPr/>
            </p14:nvContentPartPr>
            <p14:xfrm>
              <a:off x="768814" y="1290172"/>
              <a:ext cx="360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465448C-44AF-1340-8608-65DF607A066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59814" y="1281532"/>
                <a:ext cx="2124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4206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025311"/>
            <a:ext cx="10515600" cy="353496"/>
          </a:xfrm>
        </p:spPr>
        <p:txBody>
          <a:bodyPr>
            <a:noAutofit/>
          </a:bodyPr>
          <a:lstStyle/>
          <a:p>
            <a:pPr algn="ctr"/>
            <a:r>
              <a:rPr lang="en-US" sz="2800" spc="60" dirty="0">
                <a:solidFill>
                  <a:srgbClr val="FF574B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https://sass-lang.com</a:t>
            </a:r>
            <a:endParaRPr lang="en-US" sz="2800" spc="60" dirty="0">
              <a:solidFill>
                <a:srgbClr val="FF574B"/>
              </a:solidFill>
              <a:latin typeface="American Typewriter" panose="02090604020004020304" pitchFamily="18" charset="77"/>
              <a:ea typeface="Helvetica Neue Thin" panose="020B0403020202020204" pitchFamily="34" charset="0"/>
              <a:cs typeface="Georgia Pro Cond Black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A9FBD9-218F-03DE-3796-4C6C2F9F5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13" y="479193"/>
            <a:ext cx="11484972" cy="4981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972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535" y="131088"/>
            <a:ext cx="10476964" cy="1143920"/>
          </a:xfrm>
        </p:spPr>
        <p:txBody>
          <a:bodyPr>
            <a:normAutofit/>
          </a:bodyPr>
          <a:lstStyle/>
          <a:p>
            <a:r>
              <a:rPr lang="en-US" spc="60" dirty="0">
                <a:solidFill>
                  <a:srgbClr val="FF574B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What’s it all about then 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9CC273-9F35-0200-947A-45150A9C16FF}"/>
              </a:ext>
            </a:extLst>
          </p:cNvPr>
          <p:cNvSpPr txBox="1"/>
          <p:nvPr/>
        </p:nvSpPr>
        <p:spPr>
          <a:xfrm>
            <a:off x="740535" y="1076948"/>
            <a:ext cx="10476964" cy="5179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Sass stands for Syntactically Awesome Stylesheet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Sass is an extension to CSS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Sass is a CSS pre-processor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Sass is completely compatible with all versions of CSS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Sass reduces repetition of CSS and therefore saves time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Sass was designed by Hampton Catlin and developed by Natalie </a:t>
            </a:r>
            <a:r>
              <a:rPr lang="en-US" sz="28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Weizenbaum</a:t>
            </a:r>
            <a:r>
              <a:rPr lang="en-US" sz="2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in 2006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Sass is free to download and use</a:t>
            </a:r>
          </a:p>
        </p:txBody>
      </p:sp>
    </p:spTree>
    <p:extLst>
      <p:ext uri="{BB962C8B-B14F-4D97-AF65-F5344CB8AC3E}">
        <p14:creationId xmlns:p14="http://schemas.microsoft.com/office/powerpoint/2010/main" val="2532653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535" y="312056"/>
            <a:ext cx="10476964" cy="1143920"/>
          </a:xfrm>
        </p:spPr>
        <p:txBody>
          <a:bodyPr>
            <a:normAutofit/>
          </a:bodyPr>
          <a:lstStyle/>
          <a:p>
            <a:r>
              <a:rPr lang="en-US" sz="5400" spc="60" dirty="0">
                <a:solidFill>
                  <a:srgbClr val="FF574B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What’s it for?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9CC273-9F35-0200-947A-45150A9C16FF}"/>
              </a:ext>
            </a:extLst>
          </p:cNvPr>
          <p:cNvSpPr txBox="1"/>
          <p:nvPr/>
        </p:nvSpPr>
        <p:spPr>
          <a:xfrm>
            <a:off x="740535" y="1545464"/>
            <a:ext cx="10476964" cy="4428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3200" b="1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Preprocessing</a:t>
            </a:r>
            <a:endParaRPr lang="en-GB" sz="3200" b="1" dirty="0">
              <a:solidFill>
                <a:schemeClr val="tx1">
                  <a:lumMod val="95000"/>
                  <a:lumOff val="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algn="l">
              <a:lnSpc>
                <a:spcPct val="150000"/>
              </a:lnSpc>
            </a:pPr>
            <a:r>
              <a:rPr lang="en-GB" sz="3200" cap="all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CSS</a:t>
            </a:r>
            <a:r>
              <a:rPr lang="en-GB" sz="3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 stylesheets are getting larger, more complex, and harder to maintain. This is where a </a:t>
            </a:r>
            <a:r>
              <a:rPr lang="en-GB" sz="32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preprocessor</a:t>
            </a:r>
            <a:r>
              <a:rPr lang="en-GB" sz="3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 can help. Sass has features that don’t exist in </a:t>
            </a:r>
            <a:r>
              <a:rPr lang="en-GB" sz="3200" cap="all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CSS</a:t>
            </a:r>
            <a:r>
              <a:rPr lang="en-GB" sz="3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 yet like nested rules, </a:t>
            </a:r>
            <a:r>
              <a:rPr lang="en-GB" sz="32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mixins</a:t>
            </a:r>
            <a:r>
              <a:rPr lang="en-GB" sz="3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, imports, inheritance, built-in functions, and other stuff that help you write robust, </a:t>
            </a:r>
            <a:r>
              <a:rPr lang="en-GB" sz="3200" dirty="0">
                <a:solidFill>
                  <a:srgbClr val="D3473F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maintainable</a:t>
            </a:r>
            <a:r>
              <a:rPr lang="en-GB" sz="3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 </a:t>
            </a:r>
            <a:r>
              <a:rPr lang="en-GB" sz="3200" cap="all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CSS</a:t>
            </a:r>
            <a:r>
              <a:rPr lang="en-GB" sz="3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37180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535" y="131088"/>
            <a:ext cx="10476964" cy="1143920"/>
          </a:xfrm>
        </p:spPr>
        <p:txBody>
          <a:bodyPr>
            <a:normAutofit/>
          </a:bodyPr>
          <a:lstStyle/>
          <a:p>
            <a:r>
              <a:rPr lang="en-US" spc="60" dirty="0">
                <a:solidFill>
                  <a:srgbClr val="FF574B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For example…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9CC273-9F35-0200-947A-45150A9C16FF}"/>
              </a:ext>
            </a:extLst>
          </p:cNvPr>
          <p:cNvSpPr txBox="1"/>
          <p:nvPr/>
        </p:nvSpPr>
        <p:spPr>
          <a:xfrm>
            <a:off x="789904" y="973513"/>
            <a:ext cx="3408609" cy="1879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If we have a site with 3 main colours, we may end up typing out these HEX values many times.</a:t>
            </a:r>
            <a:endParaRPr lang="en-GB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pic>
        <p:nvPicPr>
          <p:cNvPr id="7" name="Picture 6" descr="A group of text on a color palette&#10;&#10;Description automatically generated with medium confidence">
            <a:extLst>
              <a:ext uri="{FF2B5EF4-FFF2-40B4-BE49-F238E27FC236}">
                <a16:creationId xmlns:a16="http://schemas.microsoft.com/office/drawing/2014/main" id="{C42F7F50-2F12-576D-8013-FE896912B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056" y="2994453"/>
            <a:ext cx="2429814" cy="26571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7EA5D7-E0B3-6347-6F49-50C1B2C85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9640" y="1566751"/>
            <a:ext cx="4827698" cy="39126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B57B0EA-C179-2C53-A3E9-D440568CE5C5}"/>
              </a:ext>
            </a:extLst>
          </p:cNvPr>
          <p:cNvSpPr txBox="1"/>
          <p:nvPr/>
        </p:nvSpPr>
        <p:spPr>
          <a:xfrm>
            <a:off x="5535769" y="495626"/>
            <a:ext cx="5731099" cy="955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0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Instead of typing these values a lot of times, we can use Sass and write this:</a:t>
            </a:r>
            <a:endParaRPr lang="en-GB" sz="20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564102-9646-D818-8604-5A09AE80308A}"/>
              </a:ext>
            </a:extLst>
          </p:cNvPr>
          <p:cNvSpPr txBox="1"/>
          <p:nvPr/>
        </p:nvSpPr>
        <p:spPr>
          <a:xfrm>
            <a:off x="5579640" y="5651618"/>
            <a:ext cx="6098146" cy="955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So, when using Sass, and the primary colour changes, you only need to change it in one place.</a:t>
            </a:r>
            <a:endParaRPr lang="en-US" sz="20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D9DB6FC-671C-C8D1-30DC-4CD20943EF3B}"/>
              </a:ext>
            </a:extLst>
          </p:cNvPr>
          <p:cNvCxnSpPr/>
          <p:nvPr/>
        </p:nvCxnSpPr>
        <p:spPr>
          <a:xfrm flipV="1">
            <a:off x="3090930" y="1913065"/>
            <a:ext cx="2888087" cy="151593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5DD5427-1F48-35C1-BCD7-033BB7C18142}"/>
              </a:ext>
            </a:extLst>
          </p:cNvPr>
          <p:cNvCxnSpPr>
            <a:cxnSpLocks/>
          </p:cNvCxnSpPr>
          <p:nvPr/>
        </p:nvCxnSpPr>
        <p:spPr>
          <a:xfrm flipV="1">
            <a:off x="3090930" y="2156866"/>
            <a:ext cx="2888087" cy="21210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1F4E16F-C0F8-1FA9-0666-8EBC5F6CD70C}"/>
              </a:ext>
            </a:extLst>
          </p:cNvPr>
          <p:cNvCxnSpPr>
            <a:cxnSpLocks/>
          </p:cNvCxnSpPr>
          <p:nvPr/>
        </p:nvCxnSpPr>
        <p:spPr>
          <a:xfrm flipV="1">
            <a:off x="3090930" y="2421228"/>
            <a:ext cx="2888087" cy="26959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4245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535" y="131088"/>
            <a:ext cx="10476964" cy="1143920"/>
          </a:xfrm>
        </p:spPr>
        <p:txBody>
          <a:bodyPr>
            <a:normAutofit/>
          </a:bodyPr>
          <a:lstStyle/>
          <a:p>
            <a:r>
              <a:rPr lang="en-US" spc="60" dirty="0">
                <a:solidFill>
                  <a:srgbClr val="FF574B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How dose it work?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9CC273-9F35-0200-947A-45150A9C16FF}"/>
              </a:ext>
            </a:extLst>
          </p:cNvPr>
          <p:cNvSpPr txBox="1"/>
          <p:nvPr/>
        </p:nvSpPr>
        <p:spPr>
          <a:xfrm>
            <a:off x="740535" y="1076948"/>
            <a:ext cx="10476964" cy="3898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4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A browser does not understand Sass code. Therefore, you will need a Sass pre-processor to convert Sass code into standard CSS.</a:t>
            </a:r>
          </a:p>
          <a:p>
            <a:pPr algn="l">
              <a:lnSpc>
                <a:spcPct val="150000"/>
              </a:lnSpc>
            </a:pPr>
            <a:r>
              <a:rPr lang="en-GB" sz="24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This process is called transpiling.</a:t>
            </a:r>
          </a:p>
          <a:p>
            <a:pPr algn="l">
              <a:lnSpc>
                <a:spcPct val="150000"/>
              </a:lnSpc>
            </a:pPr>
            <a:r>
              <a:rPr lang="en-GB" sz="24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So, you need to give a transpiler (some kind of program) some Sass code and then get some CSS code back.</a:t>
            </a:r>
            <a:endParaRPr lang="en-GB" sz="2400" dirty="0">
              <a:solidFill>
                <a:srgbClr val="000000"/>
              </a:solidFill>
              <a:latin typeface="Verdana" panose="020B0604030504040204" pitchFamily="34" charset="0"/>
              <a:ea typeface="Helvetica Neue Light" panose="02000403000000020004" pitchFamily="2" charset="0"/>
            </a:endParaRPr>
          </a:p>
          <a:p>
            <a:pPr algn="l">
              <a:lnSpc>
                <a:spcPct val="150000"/>
              </a:lnSpc>
            </a:pPr>
            <a:r>
              <a:rPr lang="en-GB" sz="24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Sass files have the </a:t>
            </a:r>
            <a:r>
              <a:rPr lang="en-GB" sz="24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".</a:t>
            </a:r>
            <a:r>
              <a:rPr lang="en-GB" sz="2400" b="1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scss</a:t>
            </a:r>
            <a:r>
              <a:rPr lang="en-GB" sz="24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" </a:t>
            </a:r>
            <a:r>
              <a:rPr lang="en-GB" sz="24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file extension.</a:t>
            </a:r>
          </a:p>
          <a:p>
            <a:pPr algn="l">
              <a:lnSpc>
                <a:spcPct val="150000"/>
              </a:lnSpc>
            </a:pPr>
            <a:endParaRPr lang="en-GB" sz="2400" dirty="0">
              <a:solidFill>
                <a:srgbClr val="000000"/>
              </a:solidFill>
              <a:effectLst/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C93EAE-F7A0-E095-85FB-C1CADE8FE717}"/>
              </a:ext>
            </a:extLst>
          </p:cNvPr>
          <p:cNvSpPr txBox="1"/>
          <p:nvPr/>
        </p:nvSpPr>
        <p:spPr>
          <a:xfrm>
            <a:off x="740535" y="5546329"/>
            <a:ext cx="10927724" cy="96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Transpiling is a term for taking a source code written in one language and transform/translate it into another language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92443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C2AC81E-5657-4B8E-8163-C1C869BF7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069" y="608009"/>
            <a:ext cx="10797862" cy="515435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7A96CF-CC39-6090-04BF-E04A000F49CE}"/>
              </a:ext>
            </a:extLst>
          </p:cNvPr>
          <p:cNvSpPr txBox="1"/>
          <p:nvPr/>
        </p:nvSpPr>
        <p:spPr>
          <a:xfrm>
            <a:off x="3046927" y="6086721"/>
            <a:ext cx="60981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https://sass-lang.com/install/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981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B963F2-05B0-B030-91DF-3FD60CC8326F}"/>
              </a:ext>
            </a:extLst>
          </p:cNvPr>
          <p:cNvSpPr txBox="1"/>
          <p:nvPr/>
        </p:nvSpPr>
        <p:spPr>
          <a:xfrm>
            <a:off x="676140" y="240947"/>
            <a:ext cx="10476964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4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Later in this module we will look at using the command line and node </a:t>
            </a:r>
            <a:r>
              <a:rPr lang="en-GB" sz="2400" dirty="0" err="1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npm</a:t>
            </a:r>
            <a:r>
              <a:rPr lang="en-GB" sz="24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 to install and run Sass but for now we can also use this VS Code extension</a:t>
            </a:r>
          </a:p>
          <a:p>
            <a:pPr algn="l">
              <a:lnSpc>
                <a:spcPct val="150000"/>
              </a:lnSpc>
            </a:pPr>
            <a:endParaRPr lang="en-GB" sz="2400" dirty="0">
              <a:solidFill>
                <a:srgbClr val="000000"/>
              </a:solidFill>
              <a:effectLst/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C12CFB-1580-5A3E-1A55-F4907FCFB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39" y="1480141"/>
            <a:ext cx="10781705" cy="479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906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B963F2-05B0-B030-91DF-3FD60CC8326F}"/>
              </a:ext>
            </a:extLst>
          </p:cNvPr>
          <p:cNvSpPr txBox="1"/>
          <p:nvPr/>
        </p:nvSpPr>
        <p:spPr>
          <a:xfrm>
            <a:off x="547352" y="957543"/>
            <a:ext cx="5199994" cy="112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4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Click the Extensions icon in VS code</a:t>
            </a:r>
          </a:p>
          <a:p>
            <a:pPr algn="l">
              <a:lnSpc>
                <a:spcPct val="150000"/>
              </a:lnSpc>
            </a:pPr>
            <a:endParaRPr lang="en-GB" sz="2400" dirty="0">
              <a:solidFill>
                <a:srgbClr val="000000"/>
              </a:solidFill>
              <a:effectLst/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D57857-47D4-A50A-B322-113E907FB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624" y="957543"/>
            <a:ext cx="5199994" cy="5378863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71EFCC5-4D9B-FA62-0E89-3C15AECBB807}"/>
              </a:ext>
            </a:extLst>
          </p:cNvPr>
          <p:cNvCxnSpPr/>
          <p:nvPr/>
        </p:nvCxnSpPr>
        <p:spPr>
          <a:xfrm>
            <a:off x="5396248" y="1571223"/>
            <a:ext cx="1068946" cy="36318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BD06A97-1B2D-B4B8-4658-85C9A7B57D2C}"/>
              </a:ext>
            </a:extLst>
          </p:cNvPr>
          <p:cNvSpPr txBox="1"/>
          <p:nvPr/>
        </p:nvSpPr>
        <p:spPr>
          <a:xfrm>
            <a:off x="547352" y="2699737"/>
            <a:ext cx="5199994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4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Search for Live Sass Complier and install it</a:t>
            </a:r>
          </a:p>
          <a:p>
            <a:pPr algn="l">
              <a:lnSpc>
                <a:spcPct val="150000"/>
              </a:lnSpc>
            </a:pPr>
            <a:endParaRPr lang="en-GB" sz="2400" dirty="0">
              <a:solidFill>
                <a:srgbClr val="000000"/>
              </a:solidFill>
              <a:effectLst/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DF76D9F-CEFC-A05A-0728-94E04FF338A1}"/>
              </a:ext>
            </a:extLst>
          </p:cNvPr>
          <p:cNvCxnSpPr>
            <a:cxnSpLocks/>
          </p:cNvCxnSpPr>
          <p:nvPr/>
        </p:nvCxnSpPr>
        <p:spPr>
          <a:xfrm flipV="1">
            <a:off x="5241701" y="2318197"/>
            <a:ext cx="1918953" cy="73409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44FE192-22D6-9E7F-CD4E-3BAE8BC16110}"/>
              </a:ext>
            </a:extLst>
          </p:cNvPr>
          <p:cNvCxnSpPr>
            <a:cxnSpLocks/>
          </p:cNvCxnSpPr>
          <p:nvPr/>
        </p:nvCxnSpPr>
        <p:spPr>
          <a:xfrm>
            <a:off x="2187872" y="3646654"/>
            <a:ext cx="4972782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3837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535" y="131088"/>
            <a:ext cx="10476964" cy="1143920"/>
          </a:xfrm>
        </p:spPr>
        <p:txBody>
          <a:bodyPr>
            <a:normAutofit/>
          </a:bodyPr>
          <a:lstStyle/>
          <a:p>
            <a:r>
              <a:rPr lang="en-US" spc="60" dirty="0">
                <a:solidFill>
                  <a:srgbClr val="FF574B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Setting up a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9CC273-9F35-0200-947A-45150A9C16FF}"/>
              </a:ext>
            </a:extLst>
          </p:cNvPr>
          <p:cNvSpPr txBox="1"/>
          <p:nvPr/>
        </p:nvSpPr>
        <p:spPr>
          <a:xfrm>
            <a:off x="629186" y="1193400"/>
            <a:ext cx="6235253" cy="2236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4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On your G drive, perhaps in a COMP1842 / week 3 folder create a new empty directory called sass-test</a:t>
            </a:r>
          </a:p>
          <a:p>
            <a:pPr algn="l">
              <a:lnSpc>
                <a:spcPct val="150000"/>
              </a:lnSpc>
            </a:pPr>
            <a:endParaRPr lang="en-GB" sz="2400" dirty="0">
              <a:solidFill>
                <a:srgbClr val="000000"/>
              </a:solidFill>
              <a:effectLst/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FD51BC-A3DF-309A-0532-17526CF8D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3154" y="1275008"/>
            <a:ext cx="3955694" cy="265228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0DF96DD-5553-7DCB-4BC7-8F79360ADEB5}"/>
              </a:ext>
            </a:extLst>
          </p:cNvPr>
          <p:cNvCxnSpPr>
            <a:cxnSpLocks/>
          </p:cNvCxnSpPr>
          <p:nvPr/>
        </p:nvCxnSpPr>
        <p:spPr>
          <a:xfrm>
            <a:off x="3915178" y="2576156"/>
            <a:ext cx="3181081" cy="59204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2C319FA7-10ED-D93B-0417-9365E500A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3154" y="4290301"/>
            <a:ext cx="4095482" cy="210505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520A3FB-C194-E340-2CEF-45551D50DCB7}"/>
              </a:ext>
            </a:extLst>
          </p:cNvPr>
          <p:cNvSpPr txBox="1"/>
          <p:nvPr/>
        </p:nvSpPr>
        <p:spPr>
          <a:xfrm>
            <a:off x="629185" y="4224574"/>
            <a:ext cx="6235253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4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From within VS Code open your new empty folder</a:t>
            </a:r>
          </a:p>
          <a:p>
            <a:pPr algn="l">
              <a:lnSpc>
                <a:spcPct val="150000"/>
              </a:lnSpc>
            </a:pPr>
            <a:endParaRPr lang="en-GB" sz="2400" dirty="0">
              <a:solidFill>
                <a:srgbClr val="000000"/>
              </a:solidFill>
              <a:effectLst/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01D3C6B-E4F3-9F74-EA92-3EEA9F92B74C}"/>
              </a:ext>
            </a:extLst>
          </p:cNvPr>
          <p:cNvCxnSpPr>
            <a:cxnSpLocks/>
          </p:cNvCxnSpPr>
          <p:nvPr/>
        </p:nvCxnSpPr>
        <p:spPr>
          <a:xfrm>
            <a:off x="3915177" y="5072553"/>
            <a:ext cx="3457977" cy="51043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0822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535" y="131088"/>
            <a:ext cx="10476964" cy="1143920"/>
          </a:xfrm>
        </p:spPr>
        <p:txBody>
          <a:bodyPr>
            <a:normAutofit/>
          </a:bodyPr>
          <a:lstStyle/>
          <a:p>
            <a:r>
              <a:rPr lang="en-US" spc="60" dirty="0">
                <a:solidFill>
                  <a:srgbClr val="FF574B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Creating our </a:t>
            </a:r>
            <a:r>
              <a:rPr lang="en-US" spc="60" dirty="0" err="1">
                <a:solidFill>
                  <a:srgbClr val="FF574B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scss</a:t>
            </a:r>
            <a:r>
              <a:rPr lang="en-US" spc="60" dirty="0">
                <a:solidFill>
                  <a:srgbClr val="FF574B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 file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9CC273-9F35-0200-947A-45150A9C16FF}"/>
              </a:ext>
            </a:extLst>
          </p:cNvPr>
          <p:cNvSpPr txBox="1"/>
          <p:nvPr/>
        </p:nvSpPr>
        <p:spPr>
          <a:xfrm>
            <a:off x="629186" y="1193400"/>
            <a:ext cx="11270893" cy="2790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4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For our live sass complier extension to work we need an “</a:t>
            </a:r>
            <a:r>
              <a:rPr lang="en-GB" sz="2400" dirty="0" err="1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scss</a:t>
            </a:r>
            <a:r>
              <a:rPr lang="en-GB" sz="24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” file and an html doc.</a:t>
            </a:r>
          </a:p>
          <a:p>
            <a:pPr algn="l">
              <a:lnSpc>
                <a:spcPct val="150000"/>
              </a:lnSpc>
            </a:pPr>
            <a:r>
              <a:rPr lang="en-GB" sz="2400" dirty="0">
                <a:solidFill>
                  <a:srgbClr val="0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Create the following files from within </a:t>
            </a:r>
            <a:r>
              <a:rPr lang="en-GB" sz="2400" dirty="0" err="1">
                <a:solidFill>
                  <a:srgbClr val="0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VSCode</a:t>
            </a:r>
            <a:r>
              <a:rPr lang="en-GB" sz="2400" dirty="0">
                <a:solidFill>
                  <a:srgbClr val="0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into your new folder</a:t>
            </a:r>
          </a:p>
          <a:p>
            <a:pPr algn="l">
              <a:lnSpc>
                <a:spcPct val="150000"/>
              </a:lnSpc>
            </a:pPr>
            <a:r>
              <a:rPr lang="en-GB" sz="2400" dirty="0" err="1">
                <a:solidFill>
                  <a:srgbClr val="0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i</a:t>
            </a:r>
            <a:r>
              <a:rPr lang="en-GB" sz="2400" dirty="0" err="1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nde</a:t>
            </a:r>
            <a:r>
              <a:rPr lang="en-GB" sz="2400" dirty="0" err="1">
                <a:solidFill>
                  <a:srgbClr val="0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x.html</a:t>
            </a:r>
            <a:r>
              <a:rPr lang="en-GB" sz="2400" dirty="0">
                <a:solidFill>
                  <a:srgbClr val="0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and </a:t>
            </a:r>
            <a:r>
              <a:rPr lang="en-GB" sz="2400" dirty="0" err="1">
                <a:solidFill>
                  <a:srgbClr val="0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main.scss</a:t>
            </a:r>
            <a:endParaRPr lang="en-GB" sz="2400" dirty="0">
              <a:solidFill>
                <a:srgbClr val="000000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algn="l">
              <a:lnSpc>
                <a:spcPct val="150000"/>
              </a:lnSpc>
            </a:pPr>
            <a:r>
              <a:rPr lang="en-GB" sz="24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We are not creating a </a:t>
            </a:r>
            <a:r>
              <a:rPr lang="en-GB" sz="2400" dirty="0" err="1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css</a:t>
            </a:r>
            <a:r>
              <a:rPr lang="en-GB" sz="24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GB" sz="2400" dirty="0">
                <a:solidFill>
                  <a:srgbClr val="0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file</a:t>
            </a:r>
            <a:r>
              <a:rPr lang="en-GB" sz="24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, the complier will do that for us.</a:t>
            </a:r>
          </a:p>
          <a:p>
            <a:pPr algn="l">
              <a:lnSpc>
                <a:spcPct val="150000"/>
              </a:lnSpc>
            </a:pPr>
            <a:endParaRPr lang="en-GB" sz="2400" dirty="0">
              <a:solidFill>
                <a:srgbClr val="000000"/>
              </a:solidFill>
              <a:effectLst/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023A09-AE7F-C104-B613-18CE93159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86" y="3847815"/>
            <a:ext cx="10205680" cy="238556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A967759-9804-2DD9-1F87-784CA2A63688}"/>
              </a:ext>
            </a:extLst>
          </p:cNvPr>
          <p:cNvCxnSpPr>
            <a:cxnSpLocks/>
          </p:cNvCxnSpPr>
          <p:nvPr/>
        </p:nvCxnSpPr>
        <p:spPr>
          <a:xfrm flipH="1">
            <a:off x="4250028" y="2265388"/>
            <a:ext cx="1030310" cy="204903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4080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D654796A-5696-42E7-8924-DB08CCB3D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639" y="2299744"/>
            <a:ext cx="4261834" cy="1760323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535" y="131088"/>
            <a:ext cx="10476964" cy="1143920"/>
          </a:xfrm>
        </p:spPr>
        <p:txBody>
          <a:bodyPr>
            <a:normAutofit/>
          </a:bodyPr>
          <a:lstStyle/>
          <a:p>
            <a:r>
              <a:rPr lang="en-US" spc="60" dirty="0">
                <a:solidFill>
                  <a:srgbClr val="FF574B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Basic index content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A967759-9804-2DD9-1F87-784CA2A63688}"/>
              </a:ext>
            </a:extLst>
          </p:cNvPr>
          <p:cNvCxnSpPr>
            <a:cxnSpLocks/>
          </p:cNvCxnSpPr>
          <p:nvPr/>
        </p:nvCxnSpPr>
        <p:spPr>
          <a:xfrm flipH="1">
            <a:off x="2975556" y="1666604"/>
            <a:ext cx="1622202" cy="191372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3E23A9E-C07E-E1B7-C01C-F79B6BD3A290}"/>
              </a:ext>
            </a:extLst>
          </p:cNvPr>
          <p:cNvSpPr txBox="1"/>
          <p:nvPr/>
        </p:nvSpPr>
        <p:spPr>
          <a:xfrm>
            <a:off x="740535" y="1132291"/>
            <a:ext cx="11133786" cy="534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2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Begin typing html and select html:5 from the drop down to create our basic boiler plate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C000BDD-803A-B1D2-1992-AEB4C528A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377" y="2299744"/>
            <a:ext cx="6253925" cy="3598627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6372465-7E53-AF8E-E681-131F411B6FDA}"/>
              </a:ext>
            </a:extLst>
          </p:cNvPr>
          <p:cNvCxnSpPr>
            <a:cxnSpLocks/>
          </p:cNvCxnSpPr>
          <p:nvPr/>
        </p:nvCxnSpPr>
        <p:spPr>
          <a:xfrm flipH="1">
            <a:off x="9015211" y="1666603"/>
            <a:ext cx="680435" cy="176239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944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A3E27FF-0DED-88B4-ACFA-0368B4216B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8832"/>
          <a:stretch/>
        </p:blipFill>
        <p:spPr>
          <a:xfrm>
            <a:off x="740535" y="1824286"/>
            <a:ext cx="5531476" cy="4295273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535" y="131088"/>
            <a:ext cx="10476964" cy="1143920"/>
          </a:xfrm>
        </p:spPr>
        <p:txBody>
          <a:bodyPr>
            <a:normAutofit/>
          </a:bodyPr>
          <a:lstStyle/>
          <a:p>
            <a:r>
              <a:rPr lang="en-US" spc="60" dirty="0">
                <a:solidFill>
                  <a:srgbClr val="FF574B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Basic index content </a:t>
            </a:r>
            <a:r>
              <a:rPr lang="en-US" spc="60" dirty="0" err="1">
                <a:solidFill>
                  <a:srgbClr val="FF574B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cont</a:t>
            </a:r>
            <a:r>
              <a:rPr lang="en-US" spc="60" dirty="0">
                <a:solidFill>
                  <a:srgbClr val="FF574B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E23A9E-C07E-E1B7-C01C-F79B6BD3A290}"/>
              </a:ext>
            </a:extLst>
          </p:cNvPr>
          <p:cNvSpPr txBox="1"/>
          <p:nvPr/>
        </p:nvSpPr>
        <p:spPr>
          <a:xfrm>
            <a:off x="740535" y="1042702"/>
            <a:ext cx="4320862" cy="534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2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Edit your index to match this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CC570D-3BF2-EACF-B3EA-C7FCF6431C90}"/>
              </a:ext>
            </a:extLst>
          </p:cNvPr>
          <p:cNvSpPr txBox="1"/>
          <p:nvPr/>
        </p:nvSpPr>
        <p:spPr>
          <a:xfrm>
            <a:off x="6755503" y="2386531"/>
            <a:ext cx="5183211" cy="1042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2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Notice line 6 is connecting to </a:t>
            </a:r>
            <a:r>
              <a:rPr lang="en-GB" sz="2200" dirty="0" err="1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main.css</a:t>
            </a:r>
            <a:r>
              <a:rPr lang="en-GB" sz="22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 which has not been created yet.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C7DEC5-98FA-DB64-A63A-EE47499A0A57}"/>
              </a:ext>
            </a:extLst>
          </p:cNvPr>
          <p:cNvSpPr txBox="1"/>
          <p:nvPr/>
        </p:nvSpPr>
        <p:spPr>
          <a:xfrm>
            <a:off x="6755503" y="4076560"/>
            <a:ext cx="5183211" cy="1549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2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Lines 10-12 contain some placeholder </a:t>
            </a:r>
            <a:r>
              <a:rPr lang="en-GB" sz="2200" dirty="0" err="1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divs</a:t>
            </a:r>
            <a:r>
              <a:rPr lang="en-GB" sz="22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 with class names and some text content</a:t>
            </a:r>
          </a:p>
        </p:txBody>
      </p:sp>
    </p:spTree>
    <p:extLst>
      <p:ext uri="{BB962C8B-B14F-4D97-AF65-F5344CB8AC3E}">
        <p14:creationId xmlns:p14="http://schemas.microsoft.com/office/powerpoint/2010/main" val="3677766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535" y="131088"/>
            <a:ext cx="4694350" cy="924146"/>
          </a:xfrm>
        </p:spPr>
        <p:txBody>
          <a:bodyPr>
            <a:normAutofit/>
          </a:bodyPr>
          <a:lstStyle/>
          <a:p>
            <a:r>
              <a:rPr lang="en-US" spc="60" dirty="0" err="1">
                <a:solidFill>
                  <a:srgbClr val="FF574B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main.scss</a:t>
            </a:r>
            <a:endParaRPr lang="en-US" spc="60" dirty="0">
              <a:solidFill>
                <a:srgbClr val="FF574B"/>
              </a:solidFill>
              <a:latin typeface="American Typewriter" panose="02090604020004020304" pitchFamily="18" charset="77"/>
              <a:ea typeface="Helvetica Neue Thin" panose="020B0403020202020204" pitchFamily="34" charset="0"/>
              <a:cs typeface="Georgia Pro Cond Black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E23A9E-C07E-E1B7-C01C-F79B6BD3A290}"/>
              </a:ext>
            </a:extLst>
          </p:cNvPr>
          <p:cNvSpPr txBox="1"/>
          <p:nvPr/>
        </p:nvSpPr>
        <p:spPr>
          <a:xfrm>
            <a:off x="5636819" y="291234"/>
            <a:ext cx="6797737" cy="453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You don’t need to copy the comments if you don’t want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CC570D-3BF2-EACF-B3EA-C7FCF6431C90}"/>
              </a:ext>
            </a:extLst>
          </p:cNvPr>
          <p:cNvSpPr txBox="1"/>
          <p:nvPr/>
        </p:nvSpPr>
        <p:spPr>
          <a:xfrm>
            <a:off x="6594524" y="1231464"/>
            <a:ext cx="5183211" cy="1549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2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Line 2 - 4 we are setting our variables</a:t>
            </a:r>
          </a:p>
          <a:p>
            <a:pPr algn="l">
              <a:lnSpc>
                <a:spcPct val="150000"/>
              </a:lnSpc>
            </a:pPr>
            <a:r>
              <a:rPr lang="en-GB" sz="2200" dirty="0">
                <a:solidFill>
                  <a:srgbClr val="0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Name value pairs, colon separated </a:t>
            </a:r>
          </a:p>
          <a:p>
            <a:pPr algn="l">
              <a:lnSpc>
                <a:spcPct val="150000"/>
              </a:lnSpc>
            </a:pPr>
            <a:r>
              <a:rPr lang="en-GB" sz="2200" dirty="0">
                <a:solidFill>
                  <a:srgbClr val="0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$ sign to begin the variable</a:t>
            </a:r>
            <a:endParaRPr lang="en-GB" sz="2200" dirty="0">
              <a:solidFill>
                <a:srgbClr val="000000"/>
              </a:solidFill>
              <a:effectLst/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C7DEC5-98FA-DB64-A63A-EE47499A0A57}"/>
              </a:ext>
            </a:extLst>
          </p:cNvPr>
          <p:cNvSpPr txBox="1"/>
          <p:nvPr/>
        </p:nvSpPr>
        <p:spPr>
          <a:xfrm>
            <a:off x="6594524" y="3267763"/>
            <a:ext cx="5183211" cy="2057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2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Lines 7 to 17. we are using the class names from the html page, a standard </a:t>
            </a:r>
            <a:r>
              <a:rPr lang="en-GB" sz="2200" dirty="0" err="1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css</a:t>
            </a:r>
            <a:r>
              <a:rPr lang="en-GB" sz="22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 selector such as background-</a:t>
            </a:r>
            <a:r>
              <a:rPr lang="en-GB" sz="2200" dirty="0" err="1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color</a:t>
            </a:r>
            <a:r>
              <a:rPr lang="en-GB" sz="22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 and then our newly created variables.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F5777E-0BC1-3DBA-D960-FAB30F897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35" y="1055234"/>
            <a:ext cx="5526324" cy="530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63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535" y="131088"/>
            <a:ext cx="8442102" cy="924146"/>
          </a:xfrm>
        </p:spPr>
        <p:txBody>
          <a:bodyPr>
            <a:normAutofit/>
          </a:bodyPr>
          <a:lstStyle/>
          <a:p>
            <a:r>
              <a:rPr lang="en-US" spc="60" dirty="0">
                <a:solidFill>
                  <a:srgbClr val="FF574B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Watch and save the </a:t>
            </a:r>
            <a:r>
              <a:rPr lang="en-US" spc="60" dirty="0" err="1">
                <a:solidFill>
                  <a:srgbClr val="FF574B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scss</a:t>
            </a:r>
            <a:r>
              <a:rPr lang="en-US" spc="60" dirty="0">
                <a:solidFill>
                  <a:srgbClr val="FF574B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 file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C7DEC5-98FA-DB64-A63A-EE47499A0A57}"/>
              </a:ext>
            </a:extLst>
          </p:cNvPr>
          <p:cNvSpPr txBox="1"/>
          <p:nvPr/>
        </p:nvSpPr>
        <p:spPr>
          <a:xfrm>
            <a:off x="740535" y="2552700"/>
            <a:ext cx="9807262" cy="1042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2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At the bottom of the screen is a watch sass button. Click this and you should get something like this. Save the </a:t>
            </a:r>
            <a:r>
              <a:rPr lang="en-GB" sz="2200" dirty="0" err="1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scss</a:t>
            </a:r>
            <a:r>
              <a:rPr lang="en-GB" sz="22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 file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2DE1A8-6C2C-435C-E6F2-965786B9E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35" y="1211002"/>
            <a:ext cx="6826798" cy="10421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DD85B6-65B3-EAA6-F129-B4EFB602C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535" y="3796346"/>
            <a:ext cx="8648715" cy="230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680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535" y="131088"/>
            <a:ext cx="8442102" cy="924146"/>
          </a:xfrm>
        </p:spPr>
        <p:txBody>
          <a:bodyPr>
            <a:normAutofit/>
          </a:bodyPr>
          <a:lstStyle/>
          <a:p>
            <a:r>
              <a:rPr lang="en-US" spc="60" dirty="0">
                <a:solidFill>
                  <a:srgbClr val="FF574B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CSS file is compiled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C7DEC5-98FA-DB64-A63A-EE47499A0A57}"/>
              </a:ext>
            </a:extLst>
          </p:cNvPr>
          <p:cNvSpPr txBox="1"/>
          <p:nvPr/>
        </p:nvSpPr>
        <p:spPr>
          <a:xfrm>
            <a:off x="740535" y="1055234"/>
            <a:ext cx="9807262" cy="1549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2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If all has gone well a new </a:t>
            </a:r>
            <a:r>
              <a:rPr lang="en-GB" sz="2200" dirty="0" err="1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css</a:t>
            </a:r>
            <a:r>
              <a:rPr lang="en-GB" sz="22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 file called </a:t>
            </a:r>
            <a:r>
              <a:rPr lang="en-GB" sz="2200" dirty="0" err="1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main.css</a:t>
            </a:r>
            <a:r>
              <a:rPr lang="en-GB" sz="22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 should appear in your folder, we can see that the SASS code has been transpiled into pure CSS, no variables  are present just the values we assigned.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BD0006-B99F-5449-D8A5-99BE61B6E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35" y="2803378"/>
            <a:ext cx="7772400" cy="382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002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535" y="131088"/>
            <a:ext cx="8442102" cy="924146"/>
          </a:xfrm>
        </p:spPr>
        <p:txBody>
          <a:bodyPr>
            <a:normAutofit/>
          </a:bodyPr>
          <a:lstStyle/>
          <a:p>
            <a:r>
              <a:rPr lang="en-US" spc="60" dirty="0">
                <a:solidFill>
                  <a:srgbClr val="FF574B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View in browser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C7DEC5-98FA-DB64-A63A-EE47499A0A57}"/>
              </a:ext>
            </a:extLst>
          </p:cNvPr>
          <p:cNvSpPr txBox="1"/>
          <p:nvPr/>
        </p:nvSpPr>
        <p:spPr>
          <a:xfrm>
            <a:off x="740534" y="1054400"/>
            <a:ext cx="10000445" cy="1042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2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If have also installed the ”open in bowser” extension, this gives me th</a:t>
            </a:r>
            <a:r>
              <a:rPr lang="en-GB" sz="2200" dirty="0">
                <a:solidFill>
                  <a:srgbClr val="0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e option to right click in an html doc and open it in a browser.</a:t>
            </a:r>
            <a:endParaRPr lang="en-GB" sz="2200" dirty="0">
              <a:solidFill>
                <a:srgbClr val="000000"/>
              </a:solidFill>
              <a:effectLst/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01FB56-8A2F-B868-E062-048AA6654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34" y="2283032"/>
            <a:ext cx="7772400" cy="4222851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4EDC9CE-F138-9252-DB4F-CD02C085F9FD}"/>
              </a:ext>
            </a:extLst>
          </p:cNvPr>
          <p:cNvCxnSpPr>
            <a:cxnSpLocks/>
          </p:cNvCxnSpPr>
          <p:nvPr/>
        </p:nvCxnSpPr>
        <p:spPr>
          <a:xfrm>
            <a:off x="6096000" y="2096545"/>
            <a:ext cx="1064654" cy="370705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C7E0239-8530-CF81-448D-C1DF5D444A43}"/>
              </a:ext>
            </a:extLst>
          </p:cNvPr>
          <p:cNvCxnSpPr>
            <a:cxnSpLocks/>
          </p:cNvCxnSpPr>
          <p:nvPr/>
        </p:nvCxnSpPr>
        <p:spPr>
          <a:xfrm flipH="1">
            <a:off x="2202287" y="1575472"/>
            <a:ext cx="2226972" cy="23746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504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535" y="131088"/>
            <a:ext cx="8442102" cy="924146"/>
          </a:xfrm>
        </p:spPr>
        <p:txBody>
          <a:bodyPr>
            <a:normAutofit/>
          </a:bodyPr>
          <a:lstStyle/>
          <a:p>
            <a:r>
              <a:rPr lang="en-US" spc="60" dirty="0">
                <a:solidFill>
                  <a:srgbClr val="FF574B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Our basic page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C7DEC5-98FA-DB64-A63A-EE47499A0A57}"/>
              </a:ext>
            </a:extLst>
          </p:cNvPr>
          <p:cNvSpPr txBox="1"/>
          <p:nvPr/>
        </p:nvSpPr>
        <p:spPr>
          <a:xfrm>
            <a:off x="4537463" y="1055234"/>
            <a:ext cx="7213239" cy="1549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2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Now that we are ‘watching’ the </a:t>
            </a:r>
            <a:r>
              <a:rPr lang="en-GB" sz="2200" dirty="0" err="1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scss</a:t>
            </a:r>
            <a:r>
              <a:rPr lang="en-GB" sz="22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 file if I make a change to the colour in line 2 and simply save the </a:t>
            </a:r>
            <a:r>
              <a:rPr lang="en-GB" sz="2200" dirty="0" err="1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scss</a:t>
            </a:r>
            <a:r>
              <a:rPr lang="en-GB" sz="22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 file the </a:t>
            </a:r>
            <a:r>
              <a:rPr lang="en-GB" sz="2200" dirty="0" err="1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css</a:t>
            </a:r>
            <a:r>
              <a:rPr lang="en-GB" sz="22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 file auto updates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C1DF8F-3B78-A7BD-CD97-7AE68212E7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7664"/>
          <a:stretch/>
        </p:blipFill>
        <p:spPr>
          <a:xfrm>
            <a:off x="740534" y="1055234"/>
            <a:ext cx="3290554" cy="182663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C13D07-AA9E-91E8-1F28-0BC16D7E5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535" y="3058487"/>
            <a:ext cx="7772400" cy="20521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F06DB9-10A7-F1DF-F3EB-AEC16AA38A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534" y="5395754"/>
            <a:ext cx="7403549" cy="115959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D1CE9E7-8917-9910-0F71-A2A8758DF62A}"/>
              </a:ext>
            </a:extLst>
          </p:cNvPr>
          <p:cNvCxnSpPr>
            <a:cxnSpLocks/>
          </p:cNvCxnSpPr>
          <p:nvPr/>
        </p:nvCxnSpPr>
        <p:spPr>
          <a:xfrm flipH="1">
            <a:off x="7006107" y="2116384"/>
            <a:ext cx="848932" cy="213640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3083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442" y="723515"/>
            <a:ext cx="11017876" cy="445379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7200" spc="60" dirty="0">
                <a:solidFill>
                  <a:srgbClr val="FF574B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That was an absolute basic intro to SASS.</a:t>
            </a:r>
            <a:br>
              <a:rPr lang="en-US" sz="7200" spc="60" dirty="0">
                <a:solidFill>
                  <a:srgbClr val="FF574B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</a:br>
            <a:r>
              <a:rPr lang="en-US" sz="7200" spc="60" dirty="0">
                <a:solidFill>
                  <a:srgbClr val="FF574B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What else can it do ?</a:t>
            </a:r>
          </a:p>
        </p:txBody>
      </p:sp>
    </p:spTree>
    <p:extLst>
      <p:ext uri="{BB962C8B-B14F-4D97-AF65-F5344CB8AC3E}">
        <p14:creationId xmlns:p14="http://schemas.microsoft.com/office/powerpoint/2010/main" val="1951870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062" y="2605901"/>
            <a:ext cx="11017876" cy="1646198"/>
          </a:xfrm>
        </p:spPr>
        <p:txBody>
          <a:bodyPr>
            <a:noAutofit/>
          </a:bodyPr>
          <a:lstStyle/>
          <a:p>
            <a:pPr algn="ctr"/>
            <a:r>
              <a:rPr lang="en-US" sz="9600" spc="600" dirty="0">
                <a:solidFill>
                  <a:srgbClr val="FF574B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MIXINS</a:t>
            </a:r>
          </a:p>
        </p:txBody>
      </p:sp>
    </p:spTree>
    <p:extLst>
      <p:ext uri="{BB962C8B-B14F-4D97-AF65-F5344CB8AC3E}">
        <p14:creationId xmlns:p14="http://schemas.microsoft.com/office/powerpoint/2010/main" val="2280210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6C7DEC5-98FA-DB64-A63A-EE47499A0A57}"/>
              </a:ext>
            </a:extLst>
          </p:cNvPr>
          <p:cNvSpPr txBox="1"/>
          <p:nvPr/>
        </p:nvSpPr>
        <p:spPr>
          <a:xfrm>
            <a:off x="893472" y="1214740"/>
            <a:ext cx="10405056" cy="4428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32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The </a:t>
            </a:r>
            <a:r>
              <a:rPr lang="en-GB" sz="3200" dirty="0">
                <a:solidFill>
                  <a:srgbClr val="FF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@</a:t>
            </a:r>
            <a:r>
              <a:rPr lang="en-GB" sz="3200" dirty="0" err="1">
                <a:solidFill>
                  <a:srgbClr val="FF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mixin</a:t>
            </a:r>
            <a:r>
              <a:rPr lang="en-GB" sz="3200" dirty="0">
                <a:solidFill>
                  <a:srgbClr val="FF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GB" sz="32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directive lets you make groups of CSS declarations that you want to reuse throughout your site. It helps keep your Sass very DRY.</a:t>
            </a:r>
          </a:p>
          <a:p>
            <a:pPr algn="l">
              <a:lnSpc>
                <a:spcPct val="150000"/>
              </a:lnSpc>
            </a:pPr>
            <a:endParaRPr lang="en-GB" sz="32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algn="l">
              <a:lnSpc>
                <a:spcPct val="150000"/>
              </a:lnSpc>
            </a:pPr>
            <a:r>
              <a:rPr lang="en-GB" sz="32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The </a:t>
            </a:r>
            <a:r>
              <a:rPr lang="en-GB" sz="3200" dirty="0">
                <a:solidFill>
                  <a:srgbClr val="FF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@include </a:t>
            </a:r>
            <a:r>
              <a:rPr lang="en-GB" sz="32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directive is created to let you use (include) the </a:t>
            </a:r>
            <a:r>
              <a:rPr lang="en-GB" sz="32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mixin</a:t>
            </a:r>
            <a:r>
              <a:rPr lang="en-GB" sz="32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739279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B5F82A-3573-8EEB-F315-52F9D756D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449" y="2927182"/>
            <a:ext cx="9992572" cy="3151646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535" y="131088"/>
            <a:ext cx="8442102" cy="924146"/>
          </a:xfrm>
        </p:spPr>
        <p:txBody>
          <a:bodyPr>
            <a:normAutofit/>
          </a:bodyPr>
          <a:lstStyle/>
          <a:p>
            <a:r>
              <a:rPr lang="en-US" spc="60" dirty="0">
                <a:solidFill>
                  <a:srgbClr val="FF574B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For 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C7DEC5-98FA-DB64-A63A-EE47499A0A57}"/>
              </a:ext>
            </a:extLst>
          </p:cNvPr>
          <p:cNvSpPr txBox="1"/>
          <p:nvPr/>
        </p:nvSpPr>
        <p:spPr>
          <a:xfrm>
            <a:off x="762449" y="1055234"/>
            <a:ext cx="10689016" cy="1549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2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We can create a </a:t>
            </a:r>
            <a:r>
              <a:rPr lang="en-GB" sz="2200" dirty="0" err="1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mixin</a:t>
            </a:r>
            <a:r>
              <a:rPr lang="en-GB" sz="22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 called “card” and assign various CSS properties to it</a:t>
            </a:r>
          </a:p>
          <a:p>
            <a:pPr algn="l">
              <a:lnSpc>
                <a:spcPct val="150000"/>
              </a:lnSpc>
            </a:pPr>
            <a:r>
              <a:rPr lang="en-GB" sz="2200" dirty="0">
                <a:solidFill>
                  <a:srgbClr val="0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This acts a little like a very basic function. We can assign values to the parameters when we use it.</a:t>
            </a:r>
            <a:endParaRPr lang="en-GB" sz="2200" dirty="0">
              <a:solidFill>
                <a:srgbClr val="000000"/>
              </a:solidFill>
              <a:effectLst/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4FC542E-8FEE-E0C5-3337-3E864F7981B4}"/>
              </a:ext>
            </a:extLst>
          </p:cNvPr>
          <p:cNvCxnSpPr>
            <a:cxnSpLocks/>
          </p:cNvCxnSpPr>
          <p:nvPr/>
        </p:nvCxnSpPr>
        <p:spPr>
          <a:xfrm flipH="1">
            <a:off x="6928834" y="2199811"/>
            <a:ext cx="1145146" cy="81079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993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E8CFDA-0DE3-9DBD-2304-FA16089D2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35" y="3379417"/>
            <a:ext cx="7772400" cy="166878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535" y="131088"/>
            <a:ext cx="8442102" cy="924146"/>
          </a:xfrm>
        </p:spPr>
        <p:txBody>
          <a:bodyPr>
            <a:normAutofit/>
          </a:bodyPr>
          <a:lstStyle/>
          <a:p>
            <a:r>
              <a:rPr lang="en-US" spc="60" dirty="0">
                <a:solidFill>
                  <a:srgbClr val="FF574B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For 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C7DEC5-98FA-DB64-A63A-EE47499A0A57}"/>
              </a:ext>
            </a:extLst>
          </p:cNvPr>
          <p:cNvSpPr txBox="1"/>
          <p:nvPr/>
        </p:nvSpPr>
        <p:spPr>
          <a:xfrm>
            <a:off x="740535" y="1055233"/>
            <a:ext cx="10710930" cy="1301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8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Now we can make </a:t>
            </a:r>
            <a:r>
              <a:rPr lang="en-GB" sz="2800" dirty="0" err="1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css</a:t>
            </a:r>
            <a:r>
              <a:rPr lang="en-GB" sz="28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 classes and “include” the card </a:t>
            </a:r>
            <a:r>
              <a:rPr lang="en-GB" sz="2800" dirty="0" err="1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mixin</a:t>
            </a:r>
            <a:r>
              <a:rPr lang="en-GB" sz="28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 and pass in our arguments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4FC542E-8FEE-E0C5-3337-3E864F7981B4}"/>
              </a:ext>
            </a:extLst>
          </p:cNvPr>
          <p:cNvCxnSpPr>
            <a:cxnSpLocks/>
          </p:cNvCxnSpPr>
          <p:nvPr/>
        </p:nvCxnSpPr>
        <p:spPr>
          <a:xfrm flipH="1">
            <a:off x="2511380" y="1705795"/>
            <a:ext cx="3799268" cy="187104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7280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1637" y="3114768"/>
            <a:ext cx="5341474" cy="924146"/>
          </a:xfrm>
        </p:spPr>
        <p:txBody>
          <a:bodyPr>
            <a:normAutofit/>
          </a:bodyPr>
          <a:lstStyle/>
          <a:p>
            <a:pPr algn="r"/>
            <a:r>
              <a:rPr lang="en-US" sz="4000" spc="60" dirty="0">
                <a:solidFill>
                  <a:srgbClr val="FF574B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The transpiled CSS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4FC542E-8FEE-E0C5-3337-3E864F7981B4}"/>
              </a:ext>
            </a:extLst>
          </p:cNvPr>
          <p:cNvCxnSpPr>
            <a:cxnSpLocks/>
          </p:cNvCxnSpPr>
          <p:nvPr/>
        </p:nvCxnSpPr>
        <p:spPr>
          <a:xfrm flipH="1">
            <a:off x="2511380" y="1705795"/>
            <a:ext cx="3799268" cy="187104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AF938F7E-79C7-61E4-561D-CB853F2E9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3487"/>
            <a:ext cx="6661638" cy="6861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828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3298" y="3101889"/>
            <a:ext cx="5341474" cy="924146"/>
          </a:xfrm>
        </p:spPr>
        <p:txBody>
          <a:bodyPr>
            <a:normAutofit/>
          </a:bodyPr>
          <a:lstStyle/>
          <a:p>
            <a:pPr algn="r"/>
            <a:r>
              <a:rPr lang="en-US" sz="4000" spc="60" dirty="0">
                <a:solidFill>
                  <a:srgbClr val="FF574B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The html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17F83A-7B39-30CE-C32F-F321F348A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303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198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062" y="1008921"/>
            <a:ext cx="11017876" cy="1646198"/>
          </a:xfrm>
        </p:spPr>
        <p:txBody>
          <a:bodyPr>
            <a:noAutofit/>
          </a:bodyPr>
          <a:lstStyle/>
          <a:p>
            <a:pPr algn="ctr"/>
            <a:r>
              <a:rPr lang="en-US" sz="9600" spc="600" dirty="0">
                <a:solidFill>
                  <a:srgbClr val="FF574B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EXTEND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CC0A0B-973D-F90C-F2E7-F077290B48A0}"/>
              </a:ext>
            </a:extLst>
          </p:cNvPr>
          <p:cNvSpPr txBox="1"/>
          <p:nvPr/>
        </p:nvSpPr>
        <p:spPr>
          <a:xfrm>
            <a:off x="893472" y="3084627"/>
            <a:ext cx="10405056" cy="2593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8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The </a:t>
            </a:r>
            <a:r>
              <a:rPr lang="en-GB" sz="2800" dirty="0">
                <a:solidFill>
                  <a:srgbClr val="FF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@extend </a:t>
            </a:r>
            <a:r>
              <a:rPr lang="en-GB" sz="28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directive lets you share a set of CSS properties from one selector to another.</a:t>
            </a:r>
          </a:p>
          <a:p>
            <a:pPr algn="l">
              <a:lnSpc>
                <a:spcPct val="150000"/>
              </a:lnSpc>
            </a:pPr>
            <a:r>
              <a:rPr lang="en-GB" sz="28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The </a:t>
            </a:r>
            <a:r>
              <a:rPr lang="en-GB" sz="2800" dirty="0">
                <a:solidFill>
                  <a:srgbClr val="FF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@extend </a:t>
            </a:r>
            <a:r>
              <a:rPr lang="en-GB" sz="28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directive is useful if you have almost identically styled elements that only differ in some small details.</a:t>
            </a:r>
          </a:p>
        </p:txBody>
      </p:sp>
    </p:spTree>
    <p:extLst>
      <p:ext uri="{BB962C8B-B14F-4D97-AF65-F5344CB8AC3E}">
        <p14:creationId xmlns:p14="http://schemas.microsoft.com/office/powerpoint/2010/main" val="3004385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535" y="350028"/>
            <a:ext cx="8442102" cy="924146"/>
          </a:xfrm>
        </p:spPr>
        <p:txBody>
          <a:bodyPr>
            <a:normAutofit/>
          </a:bodyPr>
          <a:lstStyle/>
          <a:p>
            <a:r>
              <a:rPr lang="en-US" spc="60" dirty="0">
                <a:solidFill>
                  <a:srgbClr val="FF574B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For 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C7DEC5-98FA-DB64-A63A-EE47499A0A57}"/>
              </a:ext>
            </a:extLst>
          </p:cNvPr>
          <p:cNvSpPr txBox="1"/>
          <p:nvPr/>
        </p:nvSpPr>
        <p:spPr>
          <a:xfrm>
            <a:off x="5640946" y="1274174"/>
            <a:ext cx="5810519" cy="1042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2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We can create a class for a basic CSS button lines 24 - 30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B3565B-E6DD-3282-141C-BF10B56D4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35" y="1274174"/>
            <a:ext cx="4381500" cy="5168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4136B7-6F04-2DB4-7DA2-862B6D602DBB}"/>
              </a:ext>
            </a:extLst>
          </p:cNvPr>
          <p:cNvSpPr txBox="1"/>
          <p:nvPr/>
        </p:nvSpPr>
        <p:spPr>
          <a:xfrm>
            <a:off x="5640945" y="2719392"/>
            <a:ext cx="5810519" cy="3073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2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Then we can create 2 versions o</a:t>
            </a:r>
            <a:r>
              <a:rPr lang="en-GB" sz="2200" dirty="0">
                <a:solidFill>
                  <a:srgbClr val="0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f </a:t>
            </a:r>
            <a:r>
              <a:rPr lang="en-GB" sz="22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the button</a:t>
            </a:r>
          </a:p>
          <a:p>
            <a:pPr algn="l">
              <a:lnSpc>
                <a:spcPct val="150000"/>
              </a:lnSpc>
            </a:pPr>
            <a:r>
              <a:rPr lang="en-GB" sz="2200" dirty="0">
                <a:solidFill>
                  <a:srgbClr val="0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That have minor changes. Button report EXTENDS button-basic.</a:t>
            </a:r>
          </a:p>
          <a:p>
            <a:pPr algn="l">
              <a:lnSpc>
                <a:spcPct val="150000"/>
              </a:lnSpc>
            </a:pPr>
            <a:r>
              <a:rPr lang="en-GB" sz="22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Thi</a:t>
            </a:r>
            <a:r>
              <a:rPr lang="en-GB" sz="2200" dirty="0">
                <a:solidFill>
                  <a:srgbClr val="0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 </a:t>
            </a:r>
            <a:r>
              <a:rPr lang="en-GB" sz="22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is a little like inheritance in programming where we get all the properties of the parent button and add some </a:t>
            </a:r>
            <a:r>
              <a:rPr lang="en-GB" sz="2200" dirty="0">
                <a:solidFill>
                  <a:srgbClr val="00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changes.</a:t>
            </a:r>
            <a:r>
              <a:rPr lang="en-GB" sz="22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38188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535" y="350028"/>
            <a:ext cx="8442102" cy="924146"/>
          </a:xfrm>
        </p:spPr>
        <p:txBody>
          <a:bodyPr>
            <a:normAutofit/>
          </a:bodyPr>
          <a:lstStyle/>
          <a:p>
            <a:r>
              <a:rPr lang="en-US" spc="60" dirty="0">
                <a:solidFill>
                  <a:srgbClr val="FF574B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The transpiled CSS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4136B7-6F04-2DB4-7DA2-862B6D602DBB}"/>
              </a:ext>
            </a:extLst>
          </p:cNvPr>
          <p:cNvSpPr txBox="1"/>
          <p:nvPr/>
        </p:nvSpPr>
        <p:spPr>
          <a:xfrm>
            <a:off x="7096259" y="1465150"/>
            <a:ext cx="4355205" cy="3898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4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We can see that all 3 classes have the basic button code lines 22-28.</a:t>
            </a:r>
          </a:p>
          <a:p>
            <a:pPr algn="l">
              <a:lnSpc>
                <a:spcPct val="150000"/>
              </a:lnSpc>
            </a:pPr>
            <a:endParaRPr lang="en-GB" sz="2400" dirty="0">
              <a:solidFill>
                <a:srgbClr val="000000"/>
              </a:solidFill>
              <a:effectLst/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algn="l">
              <a:lnSpc>
                <a:spcPct val="150000"/>
              </a:lnSpc>
            </a:pPr>
            <a:r>
              <a:rPr lang="en-GB" sz="2400" dirty="0">
                <a:solidFill>
                  <a:srgbClr val="00000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Then we get our other 2 classes just with the additional CSS rules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FF2992-9568-F17C-AA19-A90198952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35" y="1465150"/>
            <a:ext cx="6045200" cy="459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411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534" y="350028"/>
            <a:ext cx="10386811" cy="924146"/>
          </a:xfrm>
        </p:spPr>
        <p:txBody>
          <a:bodyPr>
            <a:normAutofit/>
          </a:bodyPr>
          <a:lstStyle/>
          <a:p>
            <a:r>
              <a:rPr lang="en-US" spc="60" dirty="0">
                <a:solidFill>
                  <a:srgbClr val="FF574B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Add the classes to our html buttons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EDEBC9-D94D-B6FD-079A-482A33E44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34" y="1555567"/>
            <a:ext cx="6235700" cy="2578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3E3F5D-CD75-CB59-057D-AB89DFAADB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71"/>
          <a:stretch/>
        </p:blipFill>
        <p:spPr>
          <a:xfrm>
            <a:off x="740534" y="4415060"/>
            <a:ext cx="6235700" cy="195558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65559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535" y="131088"/>
            <a:ext cx="10515600" cy="821949"/>
          </a:xfrm>
        </p:spPr>
        <p:txBody>
          <a:bodyPr>
            <a:normAutofit/>
          </a:bodyPr>
          <a:lstStyle/>
          <a:p>
            <a:pPr algn="ctr"/>
            <a:r>
              <a:rPr lang="en-US" sz="2800" spc="60" dirty="0">
                <a:solidFill>
                  <a:srgbClr val="FF574B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https://getbootstrap.com/docs/5.0/customize/overview/</a:t>
            </a:r>
            <a:endParaRPr lang="en-US" sz="2800" spc="60" dirty="0">
              <a:solidFill>
                <a:srgbClr val="FF574B"/>
              </a:solidFill>
              <a:latin typeface="American Typewriter" panose="02090604020004020304" pitchFamily="18" charset="77"/>
              <a:ea typeface="Helvetica Neue Thin" panose="020B0403020202020204" pitchFamily="34" charset="0"/>
              <a:cs typeface="Georgia Pro Cond Black" panose="020F0502020204030204" pitchFamily="34" charset="0"/>
            </a:endParaRP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2021668F-5D48-1BF5-E6C7-2FBF62F89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068" y="1074205"/>
            <a:ext cx="9975864" cy="536159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79499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36148"/>
            <a:ext cx="10515600" cy="35349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000" spc="60" dirty="0">
                <a:solidFill>
                  <a:srgbClr val="FF574B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  <a:hlinkClick r:id="rId2"/>
              </a:rPr>
              <a:t>https://www.w3schools.com/</a:t>
            </a:r>
            <a:r>
              <a:rPr lang="en-US" sz="2000" spc="60" dirty="0" err="1">
                <a:solidFill>
                  <a:srgbClr val="FF574B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  <a:hlinkClick r:id="rId2"/>
              </a:rPr>
              <a:t>css</a:t>
            </a:r>
            <a:r>
              <a:rPr lang="en-US" sz="2000" spc="60" dirty="0">
                <a:solidFill>
                  <a:srgbClr val="FF574B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  <a:hlinkClick r:id="rId2"/>
              </a:rPr>
              <a:t>/css3_variables.asp</a:t>
            </a:r>
            <a:endParaRPr lang="en-US" sz="2000" spc="60" dirty="0">
              <a:solidFill>
                <a:srgbClr val="FF574B"/>
              </a:solidFill>
              <a:latin typeface="American Typewriter" panose="02090604020004020304" pitchFamily="18" charset="77"/>
              <a:ea typeface="Helvetica Neue Thin" panose="020B0403020202020204" pitchFamily="34" charset="0"/>
              <a:cs typeface="Georgia Pro Cond Black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D98555-9D28-5440-AB9C-C3A95C3F458B}"/>
              </a:ext>
            </a:extLst>
          </p:cNvPr>
          <p:cNvSpPr txBox="1"/>
          <p:nvPr/>
        </p:nvSpPr>
        <p:spPr>
          <a:xfrm>
            <a:off x="0" y="160525"/>
            <a:ext cx="1163977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400" dirty="0">
                <a:solidFill>
                  <a:srgbClr val="FF5B50"/>
                </a:solidFill>
                <a:effectLst/>
                <a:latin typeface="American Typewriter" panose="02090604020004020304" pitchFamily="18" charset="77"/>
              </a:rPr>
              <a:t>CSS var</a:t>
            </a:r>
            <a:endParaRPr lang="en-US" sz="4400" dirty="0">
              <a:solidFill>
                <a:srgbClr val="FF5B50"/>
              </a:solidFill>
              <a:latin typeface="American Typewriter" panose="02090604020004020304" pitchFamily="18" charset="77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0346C01F-E434-1B1B-AA8F-C149FAD019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468" b="4881"/>
          <a:stretch/>
        </p:blipFill>
        <p:spPr>
          <a:xfrm>
            <a:off x="838200" y="1081559"/>
            <a:ext cx="10849047" cy="4694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354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96830"/>
            <a:ext cx="10515600" cy="353496"/>
          </a:xfrm>
        </p:spPr>
        <p:txBody>
          <a:bodyPr>
            <a:noAutofit/>
          </a:bodyPr>
          <a:lstStyle/>
          <a:p>
            <a:r>
              <a:rPr lang="en-US" sz="3200" spc="60" dirty="0">
                <a:solidFill>
                  <a:srgbClr val="FF574B"/>
                </a:solidFill>
                <a:latin typeface="+mn-lt"/>
                <a:ea typeface="Helvetica Neue Thin" panose="020B0403020202020204" pitchFamily="34" charset="0"/>
                <a:cs typeface="Georgia Pro Cond Black" panose="020F0502020204030204" pitchFamily="34" charset="0"/>
                <a:hlinkClick r:id="rId2"/>
              </a:rPr>
              <a:t>https://www.w3schools.com/sass/</a:t>
            </a:r>
            <a:r>
              <a:rPr lang="en-US" sz="3200" spc="60" dirty="0" err="1">
                <a:solidFill>
                  <a:srgbClr val="FF574B"/>
                </a:solidFill>
                <a:latin typeface="+mn-lt"/>
                <a:ea typeface="Helvetica Neue Thin" panose="020B0403020202020204" pitchFamily="34" charset="0"/>
                <a:cs typeface="Georgia Pro Cond Black" panose="020F0502020204030204" pitchFamily="34" charset="0"/>
                <a:hlinkClick r:id="rId2"/>
              </a:rPr>
              <a:t>default.php</a:t>
            </a:r>
            <a:endParaRPr lang="en-US" sz="3200" spc="60" dirty="0">
              <a:solidFill>
                <a:srgbClr val="FF574B"/>
              </a:solidFill>
              <a:latin typeface="+mn-lt"/>
              <a:ea typeface="Helvetica Neue Thin" panose="020B0403020202020204" pitchFamily="34" charset="0"/>
              <a:cs typeface="Georgia Pro Cond Black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D98555-9D28-5440-AB9C-C3A95C3F458B}"/>
              </a:ext>
            </a:extLst>
          </p:cNvPr>
          <p:cNvSpPr txBox="1"/>
          <p:nvPr/>
        </p:nvSpPr>
        <p:spPr>
          <a:xfrm>
            <a:off x="0" y="342113"/>
            <a:ext cx="1163977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400" dirty="0">
                <a:solidFill>
                  <a:srgbClr val="FF5B50"/>
                </a:solidFill>
                <a:effectLst/>
                <a:latin typeface="American Typewriter" panose="02090604020004020304" pitchFamily="18" charset="77"/>
              </a:rPr>
              <a:t>Further SASS </a:t>
            </a:r>
            <a:endParaRPr lang="en-US" sz="4400" dirty="0">
              <a:solidFill>
                <a:srgbClr val="FF5B50"/>
              </a:solidFill>
              <a:latin typeface="American Typewriter" panose="02090604020004020304" pitchFamily="18" charset="77"/>
            </a:endParaRPr>
          </a:p>
        </p:txBody>
      </p:sp>
      <p:sp>
        <p:nvSpPr>
          <p:cNvPr id="5" name="TextBox 4">
            <a:hlinkClick r:id="rId3"/>
            <a:extLst>
              <a:ext uri="{FF2B5EF4-FFF2-40B4-BE49-F238E27FC236}">
                <a16:creationId xmlns:a16="http://schemas.microsoft.com/office/drawing/2014/main" id="{C523309F-64CF-3FF8-26AE-AD50DF87A8D8}"/>
              </a:ext>
            </a:extLst>
          </p:cNvPr>
          <p:cNvSpPr txBox="1"/>
          <p:nvPr/>
        </p:nvSpPr>
        <p:spPr>
          <a:xfrm>
            <a:off x="838200" y="3244334"/>
            <a:ext cx="80095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hlinkClick r:id="rId3"/>
              </a:rPr>
              <a:t>https://sass-</a:t>
            </a:r>
            <a:r>
              <a:rPr lang="en-US" sz="3200" dirty="0" err="1">
                <a:hlinkClick r:id="rId3"/>
              </a:rPr>
              <a:t>lang.com</a:t>
            </a:r>
            <a:r>
              <a:rPr lang="en-US" sz="3200" dirty="0">
                <a:hlinkClick r:id="rId3"/>
              </a:rPr>
              <a:t>/guide/#inheritance</a:t>
            </a:r>
            <a:endParaRPr lang="en-US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842504-EE9E-2104-0B7F-0E65B305CA75}"/>
              </a:ext>
            </a:extLst>
          </p:cNvPr>
          <p:cNvSpPr txBox="1"/>
          <p:nvPr/>
        </p:nvSpPr>
        <p:spPr>
          <a:xfrm>
            <a:off x="838200" y="4823117"/>
            <a:ext cx="102505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hlinkClick r:id="rId4"/>
              </a:rPr>
              <a:t>https://</a:t>
            </a:r>
            <a:r>
              <a:rPr lang="en-US" sz="3200" dirty="0" err="1">
                <a:hlinkClick r:id="rId4"/>
              </a:rPr>
              <a:t>blog.logrocket.com</a:t>
            </a:r>
            <a:r>
              <a:rPr lang="en-US" sz="3200" dirty="0">
                <a:hlinkClick r:id="rId4"/>
              </a:rPr>
              <a:t>/the-definitive-guide-to-</a:t>
            </a:r>
            <a:r>
              <a:rPr lang="en-US" sz="3200" dirty="0" err="1">
                <a:hlinkClick r:id="rId4"/>
              </a:rPr>
              <a:t>scss</a:t>
            </a:r>
            <a:r>
              <a:rPr lang="en-US" sz="3200" dirty="0">
                <a:hlinkClick r:id="rId4"/>
              </a:rPr>
              <a:t>/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09626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1D98555-9D28-5440-AB9C-C3A95C3F458B}"/>
              </a:ext>
            </a:extLst>
          </p:cNvPr>
          <p:cNvSpPr txBox="1"/>
          <p:nvPr/>
        </p:nvSpPr>
        <p:spPr>
          <a:xfrm>
            <a:off x="276113" y="305068"/>
            <a:ext cx="11639774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0" dirty="0">
                <a:solidFill>
                  <a:srgbClr val="FF5B50"/>
                </a:solidFill>
                <a:effectLst/>
                <a:latin typeface="American Typewriter" panose="02090604020004020304" pitchFamily="18" charset="77"/>
              </a:rPr>
              <a:t>?</a:t>
            </a:r>
            <a:endParaRPr lang="en-US" sz="40000" dirty="0">
              <a:solidFill>
                <a:srgbClr val="FF5B50"/>
              </a:solidFill>
              <a:latin typeface="American Typewriter" panose="020906040200040203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63111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2908</TotalTime>
  <Words>1041</Words>
  <Application>Microsoft Macintosh PowerPoint</Application>
  <PresentationFormat>Widescreen</PresentationFormat>
  <Paragraphs>90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American Typewriter</vt:lpstr>
      <vt:lpstr>Arial</vt:lpstr>
      <vt:lpstr>Calibri</vt:lpstr>
      <vt:lpstr>Calibri Light</vt:lpstr>
      <vt:lpstr>HELVETICA NEUE LIGHT</vt:lpstr>
      <vt:lpstr>HELVETICA NEUE LIGHT</vt:lpstr>
      <vt:lpstr>Helvetica Neue Thin</vt:lpstr>
      <vt:lpstr>Verdana</vt:lpstr>
      <vt:lpstr>Office Theme</vt:lpstr>
      <vt:lpstr>COMP 1842</vt:lpstr>
      <vt:lpstr>https://sass-lang.com</vt:lpstr>
      <vt:lpstr>What’s it all about then ?</vt:lpstr>
      <vt:lpstr>What’s it for?</vt:lpstr>
      <vt:lpstr>For example…</vt:lpstr>
      <vt:lpstr>How dose it work?</vt:lpstr>
      <vt:lpstr>PowerPoint Presentation</vt:lpstr>
      <vt:lpstr>PowerPoint Presentation</vt:lpstr>
      <vt:lpstr>PowerPoint Presentation</vt:lpstr>
      <vt:lpstr>Setting up a project</vt:lpstr>
      <vt:lpstr>Creating our scss file</vt:lpstr>
      <vt:lpstr>Basic index content</vt:lpstr>
      <vt:lpstr>Basic index content cont…</vt:lpstr>
      <vt:lpstr>main.scss</vt:lpstr>
      <vt:lpstr>Watch and save the scss file</vt:lpstr>
      <vt:lpstr>CSS file is compiled</vt:lpstr>
      <vt:lpstr>View in browser</vt:lpstr>
      <vt:lpstr>Our basic page</vt:lpstr>
      <vt:lpstr>That was an absolute basic intro to SASS. What else can it do ?</vt:lpstr>
      <vt:lpstr>MIXINS</vt:lpstr>
      <vt:lpstr>PowerPoint Presentation</vt:lpstr>
      <vt:lpstr>For example</vt:lpstr>
      <vt:lpstr>For example</vt:lpstr>
      <vt:lpstr>The transpiled CSS</vt:lpstr>
      <vt:lpstr>The html output</vt:lpstr>
      <vt:lpstr>EXTEND</vt:lpstr>
      <vt:lpstr>For example</vt:lpstr>
      <vt:lpstr>The transpiled CSS</vt:lpstr>
      <vt:lpstr>Add the classes to our html buttons</vt:lpstr>
      <vt:lpstr>https://getbootstrap.com/docs/5.0/customize/overview/</vt:lpstr>
      <vt:lpstr>https://www.w3schools.com/css/css3_variables.asp</vt:lpstr>
      <vt:lpstr>https://www.w3schools.com/sass/default.php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 1321</dc:title>
  <dc:creator>Matthew Prichard</dc:creator>
  <cp:lastModifiedBy>Matthew Prichard</cp:lastModifiedBy>
  <cp:revision>45</cp:revision>
  <dcterms:created xsi:type="dcterms:W3CDTF">2020-06-28T01:46:05Z</dcterms:created>
  <dcterms:modified xsi:type="dcterms:W3CDTF">2025-01-27T14:57:07Z</dcterms:modified>
</cp:coreProperties>
</file>