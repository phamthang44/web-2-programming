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9" r:id="rId4"/>
    <p:sldId id="263" r:id="rId5"/>
    <p:sldId id="260" r:id="rId6"/>
    <p:sldId id="268" r:id="rId7"/>
    <p:sldId id="269" r:id="rId8"/>
    <p:sldId id="264" r:id="rId9"/>
    <p:sldId id="265" r:id="rId10"/>
    <p:sldId id="266" r:id="rId11"/>
    <p:sldId id="270" r:id="rId12"/>
    <p:sldId id="271" r:id="rId13"/>
    <p:sldId id="274" r:id="rId14"/>
    <p:sldId id="275" r:id="rId15"/>
    <p:sldId id="276" r:id="rId16"/>
    <p:sldId id="277" r:id="rId17"/>
    <p:sldId id="278" r:id="rId18"/>
    <p:sldId id="281" r:id="rId19"/>
    <p:sldId id="279" r:id="rId20"/>
    <p:sldId id="267" r:id="rId21"/>
    <p:sldId id="283" r:id="rId22"/>
    <p:sldId id="284" r:id="rId23"/>
    <p:sldId id="285" r:id="rId24"/>
    <p:sldId id="286" r:id="rId25"/>
    <p:sldId id="287" r:id="rId26"/>
    <p:sldId id="288" r:id="rId27"/>
    <p:sldId id="280" r:id="rId28"/>
    <p:sldId id="273" r:id="rId29"/>
    <p:sldId id="262"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3473F"/>
    <a:srgbClr val="FF5B50"/>
    <a:srgbClr val="FF57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947"/>
    <p:restoredTop sz="86395"/>
  </p:normalViewPr>
  <p:slideViewPr>
    <p:cSldViewPr snapToGrid="0" snapToObjects="1">
      <p:cViewPr varScale="1">
        <p:scale>
          <a:sx n="123" d="100"/>
          <a:sy n="123" d="100"/>
        </p:scale>
        <p:origin x="224" y="28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14.141"/>
    </inkml:context>
    <inkml:brush xml:id="br0">
      <inkml:brushProperty name="width" value="0.05" units="cm"/>
      <inkml:brushProperty name="height" value="0.05" units="cm"/>
      <inkml:brushProperty name="color" value="#E71224"/>
    </inkml:brush>
  </inkml:definitions>
  <inkml:trace contextRef="#ctx0" brushRef="#br0">1 10 24575,'0'-6'0,"0"2"0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15.093"/>
    </inkml:context>
    <inkml:brush xml:id="br0">
      <inkml:brushProperty name="width" value="0.05" units="cm"/>
      <inkml:brushProperty name="height" value="0.05" units="cm"/>
      <inkml:brushProperty name="color" value="#E71224"/>
    </inkml:brush>
  </inkml:definitions>
  <inkml:trace contextRef="#ctx0" brushRef="#br0">1 1 24575,'5'5'0,"-1"-1"0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0.298"/>
    </inkml:context>
    <inkml:brush xml:id="br0">
      <inkml:brushProperty name="width" value="0.05" units="cm"/>
      <inkml:brushProperty name="height" value="0.05" units="cm"/>
      <inkml:brushProperty name="color" value="#E71224"/>
    </inkml:brush>
  </inkml:definitions>
  <inkml:trace contextRef="#ctx0" brushRef="#br0">1 10 24575,'0'-5'0,"0"1"0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6.089"/>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8.710"/>
    </inkml:context>
    <inkml:brush xml:id="br0">
      <inkml:brushProperty name="width" value="0.05" units="cm"/>
      <inkml:brushProperty name="height" value="0.05" units="cm"/>
      <inkml:brushProperty name="color" value="#E71224"/>
    </inkml:brush>
  </inkml:definitions>
  <inkml:trace contextRef="#ctx0" brushRef="#br0">0 1 24575,'5'0'0,"-1"0"0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FF539-EFFE-4545-8560-8B85D420C59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A27E099-A4CF-C148-8D5A-DC7DCE6EA0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614F13F-321A-6C44-A529-3C63949C72C6}"/>
              </a:ext>
            </a:extLst>
          </p:cNvPr>
          <p:cNvSpPr>
            <a:spLocks noGrp="1"/>
          </p:cNvSpPr>
          <p:nvPr>
            <p:ph type="dt" sz="half" idx="10"/>
          </p:nvPr>
        </p:nvSpPr>
        <p:spPr/>
        <p:txBody>
          <a:bodyPr/>
          <a:lstStyle/>
          <a:p>
            <a:fld id="{BDE38E33-E634-164E-9160-E9D257145221}" type="datetimeFigureOut">
              <a:rPr lang="en-US" smtClean="0"/>
              <a:t>1/20/25</a:t>
            </a:fld>
            <a:endParaRPr lang="en-US"/>
          </a:p>
        </p:txBody>
      </p:sp>
      <p:sp>
        <p:nvSpPr>
          <p:cNvPr id="5" name="Footer Placeholder 4">
            <a:extLst>
              <a:ext uri="{FF2B5EF4-FFF2-40B4-BE49-F238E27FC236}">
                <a16:creationId xmlns:a16="http://schemas.microsoft.com/office/drawing/2014/main" id="{97777D4B-E972-3F48-8AB6-BC30D35A46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F37F83-FC1F-964D-9D14-71EC1C06AE71}"/>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263798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88E1E-8C7B-BF49-ADDF-0DBF11C19E5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196981E-8F9B-D64C-9D10-A1DF590341E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6020193-341C-E347-A42A-A1A21E43FF77}"/>
              </a:ext>
            </a:extLst>
          </p:cNvPr>
          <p:cNvSpPr>
            <a:spLocks noGrp="1"/>
          </p:cNvSpPr>
          <p:nvPr>
            <p:ph type="dt" sz="half" idx="10"/>
          </p:nvPr>
        </p:nvSpPr>
        <p:spPr/>
        <p:txBody>
          <a:bodyPr/>
          <a:lstStyle/>
          <a:p>
            <a:fld id="{BDE38E33-E634-164E-9160-E9D257145221}" type="datetimeFigureOut">
              <a:rPr lang="en-US" smtClean="0"/>
              <a:t>1/20/25</a:t>
            </a:fld>
            <a:endParaRPr lang="en-US"/>
          </a:p>
        </p:txBody>
      </p:sp>
      <p:sp>
        <p:nvSpPr>
          <p:cNvPr id="5" name="Footer Placeholder 4">
            <a:extLst>
              <a:ext uri="{FF2B5EF4-FFF2-40B4-BE49-F238E27FC236}">
                <a16:creationId xmlns:a16="http://schemas.microsoft.com/office/drawing/2014/main" id="{2B618F1D-D2AE-3E45-9684-41082CDD0F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C77C00-9FE2-D644-877F-E440C7FDB26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1126447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9FB7A-866B-8144-B7A1-B3D2CE8B4D3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EA9333F-7620-324C-821F-9AD4629D80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841DDB4-466A-D142-8FFA-437B8B3B2108}"/>
              </a:ext>
            </a:extLst>
          </p:cNvPr>
          <p:cNvSpPr>
            <a:spLocks noGrp="1"/>
          </p:cNvSpPr>
          <p:nvPr>
            <p:ph type="dt" sz="half" idx="10"/>
          </p:nvPr>
        </p:nvSpPr>
        <p:spPr/>
        <p:txBody>
          <a:bodyPr/>
          <a:lstStyle/>
          <a:p>
            <a:fld id="{BDE38E33-E634-164E-9160-E9D257145221}" type="datetimeFigureOut">
              <a:rPr lang="en-US" smtClean="0"/>
              <a:t>1/20/25</a:t>
            </a:fld>
            <a:endParaRPr lang="en-US"/>
          </a:p>
        </p:txBody>
      </p:sp>
      <p:sp>
        <p:nvSpPr>
          <p:cNvPr id="5" name="Footer Placeholder 4">
            <a:extLst>
              <a:ext uri="{FF2B5EF4-FFF2-40B4-BE49-F238E27FC236}">
                <a16:creationId xmlns:a16="http://schemas.microsoft.com/office/drawing/2014/main" id="{0E5B42E0-284F-5746-B82C-C36E036E5B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EC5C72-09E6-E047-BEF5-956CDC65F70E}"/>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632786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B2E35-2AE7-6F47-B4DA-83DE0DF4746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6FCAD58-35EE-E345-9223-93C0D708CAE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64EF8E7-11C7-6E44-9C23-E6F8B255FA0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1588C67-D211-A347-94D3-2566B042CEAC}"/>
              </a:ext>
            </a:extLst>
          </p:cNvPr>
          <p:cNvSpPr>
            <a:spLocks noGrp="1"/>
          </p:cNvSpPr>
          <p:nvPr>
            <p:ph type="dt" sz="half" idx="10"/>
          </p:nvPr>
        </p:nvSpPr>
        <p:spPr/>
        <p:txBody>
          <a:bodyPr/>
          <a:lstStyle/>
          <a:p>
            <a:fld id="{BDE38E33-E634-164E-9160-E9D257145221}" type="datetimeFigureOut">
              <a:rPr lang="en-US" smtClean="0"/>
              <a:t>1/20/25</a:t>
            </a:fld>
            <a:endParaRPr lang="en-US"/>
          </a:p>
        </p:txBody>
      </p:sp>
      <p:sp>
        <p:nvSpPr>
          <p:cNvPr id="6" name="Footer Placeholder 5">
            <a:extLst>
              <a:ext uri="{FF2B5EF4-FFF2-40B4-BE49-F238E27FC236}">
                <a16:creationId xmlns:a16="http://schemas.microsoft.com/office/drawing/2014/main" id="{BF3FAA6E-E7CE-1B4F-A78D-8055C20FF5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6079D9-12B3-A149-9192-6D6EE5E58F8C}"/>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1696109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17B05-85DB-5A4D-931F-231EBBA1129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6F10373-280F-CA46-BE02-633860BE99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50A25CD-D56D-9749-8FA7-012A6FFB1AD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1940AEA-A232-8E45-B81D-24868FB2C4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2DB3D5C-B45E-294F-899C-37B8ABB4452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7F43D68E-FDF7-C045-8CAA-189B56B2E697}"/>
              </a:ext>
            </a:extLst>
          </p:cNvPr>
          <p:cNvSpPr>
            <a:spLocks noGrp="1"/>
          </p:cNvSpPr>
          <p:nvPr>
            <p:ph type="dt" sz="half" idx="10"/>
          </p:nvPr>
        </p:nvSpPr>
        <p:spPr/>
        <p:txBody>
          <a:bodyPr/>
          <a:lstStyle/>
          <a:p>
            <a:fld id="{BDE38E33-E634-164E-9160-E9D257145221}" type="datetimeFigureOut">
              <a:rPr lang="en-US" smtClean="0"/>
              <a:t>1/20/25</a:t>
            </a:fld>
            <a:endParaRPr lang="en-US"/>
          </a:p>
        </p:txBody>
      </p:sp>
      <p:sp>
        <p:nvSpPr>
          <p:cNvPr id="8" name="Footer Placeholder 7">
            <a:extLst>
              <a:ext uri="{FF2B5EF4-FFF2-40B4-BE49-F238E27FC236}">
                <a16:creationId xmlns:a16="http://schemas.microsoft.com/office/drawing/2014/main" id="{7C413D46-B78B-B34E-A26D-1E905B740BF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D8BDADF-5108-CD45-9618-15BBE06090DB}"/>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994929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59E0C-142B-1A4D-89C5-B127E3184B4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98F2823E-3DFF-BC40-A52F-4043983FB2DD}"/>
              </a:ext>
            </a:extLst>
          </p:cNvPr>
          <p:cNvSpPr>
            <a:spLocks noGrp="1"/>
          </p:cNvSpPr>
          <p:nvPr>
            <p:ph type="dt" sz="half" idx="10"/>
          </p:nvPr>
        </p:nvSpPr>
        <p:spPr/>
        <p:txBody>
          <a:bodyPr/>
          <a:lstStyle/>
          <a:p>
            <a:fld id="{BDE38E33-E634-164E-9160-E9D257145221}" type="datetimeFigureOut">
              <a:rPr lang="en-US" smtClean="0"/>
              <a:t>1/20/25</a:t>
            </a:fld>
            <a:endParaRPr lang="en-US"/>
          </a:p>
        </p:txBody>
      </p:sp>
      <p:sp>
        <p:nvSpPr>
          <p:cNvPr id="4" name="Footer Placeholder 3">
            <a:extLst>
              <a:ext uri="{FF2B5EF4-FFF2-40B4-BE49-F238E27FC236}">
                <a16:creationId xmlns:a16="http://schemas.microsoft.com/office/drawing/2014/main" id="{124D8986-40E4-9C4C-9000-D7F27294F60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6A2C31-69A8-2541-8800-BF6093390D3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2805145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E6F4BA-B7C3-0B40-A517-3063895B03DF}"/>
              </a:ext>
            </a:extLst>
          </p:cNvPr>
          <p:cNvSpPr>
            <a:spLocks noGrp="1"/>
          </p:cNvSpPr>
          <p:nvPr>
            <p:ph type="dt" sz="half" idx="10"/>
          </p:nvPr>
        </p:nvSpPr>
        <p:spPr/>
        <p:txBody>
          <a:bodyPr/>
          <a:lstStyle/>
          <a:p>
            <a:fld id="{BDE38E33-E634-164E-9160-E9D257145221}" type="datetimeFigureOut">
              <a:rPr lang="en-US" smtClean="0"/>
              <a:t>1/20/25</a:t>
            </a:fld>
            <a:endParaRPr lang="en-US"/>
          </a:p>
        </p:txBody>
      </p:sp>
      <p:sp>
        <p:nvSpPr>
          <p:cNvPr id="3" name="Footer Placeholder 2">
            <a:extLst>
              <a:ext uri="{FF2B5EF4-FFF2-40B4-BE49-F238E27FC236}">
                <a16:creationId xmlns:a16="http://schemas.microsoft.com/office/drawing/2014/main" id="{4797E2D8-25FE-5D4E-AA84-54C5D96B6F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73C8086-56AB-5846-9B21-24E9FACF9EE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564853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5128B-CB7D-4949-BDCD-CEA57AD6536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4C22BEB-180F-2C4F-AD00-7398A27FFD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D449D24-1922-914E-8AE1-EDB93293A8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6CC72B2-DD18-5848-8941-A617E3E7920F}"/>
              </a:ext>
            </a:extLst>
          </p:cNvPr>
          <p:cNvSpPr>
            <a:spLocks noGrp="1"/>
          </p:cNvSpPr>
          <p:nvPr>
            <p:ph type="dt" sz="half" idx="10"/>
          </p:nvPr>
        </p:nvSpPr>
        <p:spPr/>
        <p:txBody>
          <a:bodyPr/>
          <a:lstStyle/>
          <a:p>
            <a:fld id="{BDE38E33-E634-164E-9160-E9D257145221}" type="datetimeFigureOut">
              <a:rPr lang="en-US" smtClean="0"/>
              <a:t>1/20/25</a:t>
            </a:fld>
            <a:endParaRPr lang="en-US"/>
          </a:p>
        </p:txBody>
      </p:sp>
      <p:sp>
        <p:nvSpPr>
          <p:cNvPr id="6" name="Footer Placeholder 5">
            <a:extLst>
              <a:ext uri="{FF2B5EF4-FFF2-40B4-BE49-F238E27FC236}">
                <a16:creationId xmlns:a16="http://schemas.microsoft.com/office/drawing/2014/main" id="{688227D4-8A18-8847-B7F4-B294D0E212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41A7C-E471-BB41-A5AE-D7F2A5EF524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012060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8BA7A-65F6-804A-9941-BCE8970B95F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A38F054-1226-C841-8344-D63DBC0215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C11DC94-414C-3F41-B393-D969AAC6A3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DDE8132-7D31-F647-A931-5987A506D35F}"/>
              </a:ext>
            </a:extLst>
          </p:cNvPr>
          <p:cNvSpPr>
            <a:spLocks noGrp="1"/>
          </p:cNvSpPr>
          <p:nvPr>
            <p:ph type="dt" sz="half" idx="10"/>
          </p:nvPr>
        </p:nvSpPr>
        <p:spPr/>
        <p:txBody>
          <a:bodyPr/>
          <a:lstStyle/>
          <a:p>
            <a:fld id="{BDE38E33-E634-164E-9160-E9D257145221}" type="datetimeFigureOut">
              <a:rPr lang="en-US" smtClean="0"/>
              <a:t>1/20/25</a:t>
            </a:fld>
            <a:endParaRPr lang="en-US"/>
          </a:p>
        </p:txBody>
      </p:sp>
      <p:sp>
        <p:nvSpPr>
          <p:cNvPr id="6" name="Footer Placeholder 5">
            <a:extLst>
              <a:ext uri="{FF2B5EF4-FFF2-40B4-BE49-F238E27FC236}">
                <a16:creationId xmlns:a16="http://schemas.microsoft.com/office/drawing/2014/main" id="{59DF137E-B2CD-DD4D-BF38-E08630C9F6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EF7E92-EA36-7B48-A10F-1F43EE78FE1D}"/>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384561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E4E04-9F9F-AB48-88B1-E1883CD3317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2657EA1-F037-8B4E-9A3A-2DE41A3DEF8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8DB8C3C-2D4F-BE41-8BC7-084B83BEFA84}"/>
              </a:ext>
            </a:extLst>
          </p:cNvPr>
          <p:cNvSpPr>
            <a:spLocks noGrp="1"/>
          </p:cNvSpPr>
          <p:nvPr>
            <p:ph type="dt" sz="half" idx="10"/>
          </p:nvPr>
        </p:nvSpPr>
        <p:spPr/>
        <p:txBody>
          <a:bodyPr/>
          <a:lstStyle/>
          <a:p>
            <a:fld id="{BDE38E33-E634-164E-9160-E9D257145221}" type="datetimeFigureOut">
              <a:rPr lang="en-US" smtClean="0"/>
              <a:t>1/20/25</a:t>
            </a:fld>
            <a:endParaRPr lang="en-US"/>
          </a:p>
        </p:txBody>
      </p:sp>
      <p:sp>
        <p:nvSpPr>
          <p:cNvPr id="5" name="Footer Placeholder 4">
            <a:extLst>
              <a:ext uri="{FF2B5EF4-FFF2-40B4-BE49-F238E27FC236}">
                <a16:creationId xmlns:a16="http://schemas.microsoft.com/office/drawing/2014/main" id="{D612D0DE-14FE-1D40-BE53-A452852B6E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71D8C1-DBB4-6047-9F3A-27574BE70FD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181895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A564D8-A2EB-6040-A321-450F2B3B531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FE19CC6-DE46-8941-A1E0-A043207418B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84B8749-56EB-B24A-9291-4EBB8B556CFA}"/>
              </a:ext>
            </a:extLst>
          </p:cNvPr>
          <p:cNvSpPr>
            <a:spLocks noGrp="1"/>
          </p:cNvSpPr>
          <p:nvPr>
            <p:ph type="dt" sz="half" idx="10"/>
          </p:nvPr>
        </p:nvSpPr>
        <p:spPr/>
        <p:txBody>
          <a:bodyPr/>
          <a:lstStyle/>
          <a:p>
            <a:fld id="{BDE38E33-E634-164E-9160-E9D257145221}" type="datetimeFigureOut">
              <a:rPr lang="en-US" smtClean="0"/>
              <a:t>1/20/25</a:t>
            </a:fld>
            <a:endParaRPr lang="en-US"/>
          </a:p>
        </p:txBody>
      </p:sp>
      <p:sp>
        <p:nvSpPr>
          <p:cNvPr id="5" name="Footer Placeholder 4">
            <a:extLst>
              <a:ext uri="{FF2B5EF4-FFF2-40B4-BE49-F238E27FC236}">
                <a16:creationId xmlns:a16="http://schemas.microsoft.com/office/drawing/2014/main" id="{527ABE29-13B7-C144-9FE6-C43F1BC65D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9BD64-DA0B-7445-BB80-5A502968ADB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689319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A0518A-80A7-B946-A2C0-357FF80B48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66F8D-B95D-3748-A8C1-B613B61AC5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801E4AA-0008-E746-A8C3-917D9ECC1F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E38E33-E634-164E-9160-E9D257145221}" type="datetimeFigureOut">
              <a:rPr lang="en-US" smtClean="0"/>
              <a:t>1/20/25</a:t>
            </a:fld>
            <a:endParaRPr lang="en-US"/>
          </a:p>
        </p:txBody>
      </p:sp>
      <p:sp>
        <p:nvSpPr>
          <p:cNvPr id="5" name="Footer Placeholder 4">
            <a:extLst>
              <a:ext uri="{FF2B5EF4-FFF2-40B4-BE49-F238E27FC236}">
                <a16:creationId xmlns:a16="http://schemas.microsoft.com/office/drawing/2014/main" id="{32A644B1-065E-4C4F-8DD6-AB21405884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471CFFB-C884-9249-B66F-52213D9049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8301A9-E266-4A4D-81C0-23C5428F31B4}" type="slidenum">
              <a:rPr lang="en-US" smtClean="0"/>
              <a:t>‹#›</a:t>
            </a:fld>
            <a:endParaRPr lang="en-US"/>
          </a:p>
        </p:txBody>
      </p:sp>
    </p:spTree>
    <p:extLst>
      <p:ext uri="{BB962C8B-B14F-4D97-AF65-F5344CB8AC3E}">
        <p14:creationId xmlns:p14="http://schemas.microsoft.com/office/powerpoint/2010/main" val="18321462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customXml" Target="../ink/ink4.xml"/><Relationship Id="rId2" Type="http://schemas.openxmlformats.org/officeDocument/2006/relationships/customXml" Target="../ink/ink1.xml"/><Relationship Id="rId1" Type="http://schemas.openxmlformats.org/officeDocument/2006/relationships/slideLayout" Target="../slideLayouts/slideLayout1.xml"/><Relationship Id="rId6" Type="http://schemas.openxmlformats.org/officeDocument/2006/relationships/customXml" Target="../ink/ink3.xml"/><Relationship Id="rId5" Type="http://schemas.openxmlformats.org/officeDocument/2006/relationships/image" Target="../media/image2.png"/><Relationship Id="rId10" Type="http://schemas.openxmlformats.org/officeDocument/2006/relationships/image" Target="../media/image4.png"/><Relationship Id="rId4" Type="http://schemas.openxmlformats.org/officeDocument/2006/relationships/customXml" Target="../ink/ink2.xml"/><Relationship Id="rId9" Type="http://schemas.openxmlformats.org/officeDocument/2006/relationships/customXml" Target="../ink/ink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eveloper.mozilla.org/en-US/docs/Web/HTTP/Basics_of_HTTP/MIME_types" TargetMode="External"/><Relationship Id="rId2" Type="http://schemas.openxmlformats.org/officeDocument/2006/relationships/hyperlink" Target="https://www.sitepoint.com/mime-types-complete-list/"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code.tutsplus.com/tutorials/http-headers-for-dummies--net-8039"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tutorialspoint.com/http/http_header_fields.htm"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bit.ly/"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en.wikipedia.org/wiki/List_of_HTTP_status_codes"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gre.cloud.panopto.eu/Panopto/Pages/Viewer.aspx?id=a4f9e3d2-ed7e-4bf1-b603-ae2900fe0e1c" TargetMode="External"/><Relationship Id="rId1" Type="http://schemas.openxmlformats.org/officeDocument/2006/relationships/slideLayout" Target="../slideLayouts/slideLayout2.xml"/><Relationship Id="rId5" Type="http://schemas.openxmlformats.org/officeDocument/2006/relationships/hyperlink" Target="http://localhost:8000/uni/code_examples/ajax1.html" TargetMode="External"/><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574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C8B91-A0EF-6441-AC27-9667FD447C0F}"/>
              </a:ext>
            </a:extLst>
          </p:cNvPr>
          <p:cNvSpPr>
            <a:spLocks noGrp="1"/>
          </p:cNvSpPr>
          <p:nvPr>
            <p:ph type="ctrTitle"/>
          </p:nvPr>
        </p:nvSpPr>
        <p:spPr>
          <a:xfrm>
            <a:off x="0" y="1355692"/>
            <a:ext cx="12192000" cy="2472633"/>
          </a:xfrm>
          <a:ln>
            <a:noFill/>
          </a:ln>
          <a:effectLst>
            <a:outerShdw blurRad="165100" dist="101600" dir="5400000" algn="t" rotWithShape="0">
              <a:prstClr val="black">
                <a:alpha val="40000"/>
              </a:prstClr>
            </a:outerShdw>
          </a:effectLst>
        </p:spPr>
        <p:txBody>
          <a:bodyPr>
            <a:noAutofit/>
          </a:bodyPr>
          <a:lstStyle/>
          <a:p>
            <a:r>
              <a:rPr lang="en-US" sz="1500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COMP 1842</a:t>
            </a:r>
          </a:p>
        </p:txBody>
      </p:sp>
      <p:sp>
        <p:nvSpPr>
          <p:cNvPr id="3" name="Subtitle 2">
            <a:extLst>
              <a:ext uri="{FF2B5EF4-FFF2-40B4-BE49-F238E27FC236}">
                <a16:creationId xmlns:a16="http://schemas.microsoft.com/office/drawing/2014/main" id="{7CC15634-394B-C140-BAEF-ABAB8B4926C9}"/>
              </a:ext>
            </a:extLst>
          </p:cNvPr>
          <p:cNvSpPr>
            <a:spLocks noGrp="1"/>
          </p:cNvSpPr>
          <p:nvPr>
            <p:ph type="subTitle" idx="1"/>
          </p:nvPr>
        </p:nvSpPr>
        <p:spPr>
          <a:xfrm>
            <a:off x="0" y="4640041"/>
            <a:ext cx="12192000" cy="1216229"/>
          </a:xfrm>
        </p:spPr>
        <p:txBody>
          <a:bodyPr>
            <a:normAutofit/>
          </a:bodyPr>
          <a:lstStyle/>
          <a:p>
            <a:r>
              <a:rPr lang="en-US" dirty="0">
                <a:solidFill>
                  <a:schemeClr val="bg1"/>
                </a:solidFill>
                <a:latin typeface="Helvetica Neue Thin" panose="020B0403020202020204" pitchFamily="34" charset="0"/>
                <a:ea typeface="Helvetica Neue Thin" panose="020B0403020202020204" pitchFamily="34" charset="0"/>
              </a:rPr>
              <a:t>Week </a:t>
            </a:r>
            <a:r>
              <a:rPr lang="en-US">
                <a:solidFill>
                  <a:schemeClr val="bg1"/>
                </a:solidFill>
                <a:latin typeface="Helvetica Neue Thin" panose="020B0403020202020204" pitchFamily="34" charset="0"/>
                <a:ea typeface="Helvetica Neue Thin" panose="020B0403020202020204" pitchFamily="34" charset="0"/>
              </a:rPr>
              <a:t>1 - </a:t>
            </a:r>
            <a:r>
              <a:rPr lang="en-US" dirty="0">
                <a:solidFill>
                  <a:schemeClr val="bg1"/>
                </a:solidFill>
                <a:latin typeface="Helvetica Neue Thin" panose="020B0403020202020204" pitchFamily="34" charset="0"/>
                <a:ea typeface="Helvetica Neue Thin" panose="020B0403020202020204" pitchFamily="34" charset="0"/>
              </a:rPr>
              <a:t>HTTP</a:t>
            </a:r>
          </a:p>
          <a:p>
            <a:r>
              <a:rPr lang="en-US" dirty="0">
                <a:solidFill>
                  <a:schemeClr val="bg1"/>
                </a:solidFill>
                <a:latin typeface="Helvetica Neue Thin" panose="020B0403020202020204" pitchFamily="34" charset="0"/>
                <a:ea typeface="Helvetica Neue Thin" panose="020B0403020202020204" pitchFamily="34" charset="0"/>
              </a:rPr>
              <a:t>Matt Prichard</a:t>
            </a: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DD7C0677-BBE1-414B-814E-FB526796BABE}"/>
                  </a:ext>
                </a:extLst>
              </p14:cNvPr>
              <p14:cNvContentPartPr/>
              <p14:nvPr/>
            </p14:nvContentPartPr>
            <p14:xfrm>
              <a:off x="8651014" y="2840692"/>
              <a:ext cx="360" cy="3600"/>
            </p14:xfrm>
          </p:contentPart>
        </mc:Choice>
        <mc:Fallback xmlns="">
          <p:pic>
            <p:nvPicPr>
              <p:cNvPr id="5" name="Ink 4">
                <a:extLst>
                  <a:ext uri="{FF2B5EF4-FFF2-40B4-BE49-F238E27FC236}">
                    <a16:creationId xmlns:a16="http://schemas.microsoft.com/office/drawing/2014/main" id="{DD7C0677-BBE1-414B-814E-FB526796BABE}"/>
                  </a:ext>
                </a:extLst>
              </p:cNvPr>
              <p:cNvPicPr/>
              <p:nvPr/>
            </p:nvPicPr>
            <p:blipFill>
              <a:blip r:embed="rId3"/>
              <a:stretch>
                <a:fillRect/>
              </a:stretch>
            </p:blipFill>
            <p:spPr>
              <a:xfrm>
                <a:off x="8642374" y="2831692"/>
                <a:ext cx="180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2850E275-2940-D64F-8F9D-8FEA90F263CD}"/>
                  </a:ext>
                </a:extLst>
              </p14:cNvPr>
              <p14:cNvContentPartPr/>
              <p14:nvPr/>
            </p14:nvContentPartPr>
            <p14:xfrm>
              <a:off x="7568494" y="1355692"/>
              <a:ext cx="3600" cy="3600"/>
            </p14:xfrm>
          </p:contentPart>
        </mc:Choice>
        <mc:Fallback xmlns="">
          <p:pic>
            <p:nvPicPr>
              <p:cNvPr id="6" name="Ink 5">
                <a:extLst>
                  <a:ext uri="{FF2B5EF4-FFF2-40B4-BE49-F238E27FC236}">
                    <a16:creationId xmlns:a16="http://schemas.microsoft.com/office/drawing/2014/main" id="{2850E275-2940-D64F-8F9D-8FEA90F263CD}"/>
                  </a:ext>
                </a:extLst>
              </p:cNvPr>
              <p:cNvPicPr/>
              <p:nvPr/>
            </p:nvPicPr>
            <p:blipFill>
              <a:blip r:embed="rId5"/>
              <a:stretch>
                <a:fillRect/>
              </a:stretch>
            </p:blipFill>
            <p:spPr>
              <a:xfrm>
                <a:off x="7559854" y="1347052"/>
                <a:ext cx="2124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3C9CF2D3-71F9-664F-83A1-4ACBF7039607}"/>
                  </a:ext>
                </a:extLst>
              </p14:cNvPr>
              <p14:cNvContentPartPr/>
              <p14:nvPr/>
            </p14:nvContentPartPr>
            <p14:xfrm>
              <a:off x="5078734" y="3049852"/>
              <a:ext cx="360" cy="3600"/>
            </p14:xfrm>
          </p:contentPart>
        </mc:Choice>
        <mc:Fallback xmlns="">
          <p:pic>
            <p:nvPicPr>
              <p:cNvPr id="7" name="Ink 6">
                <a:extLst>
                  <a:ext uri="{FF2B5EF4-FFF2-40B4-BE49-F238E27FC236}">
                    <a16:creationId xmlns:a16="http://schemas.microsoft.com/office/drawing/2014/main" id="{3C9CF2D3-71F9-664F-83A1-4ACBF7039607}"/>
                  </a:ext>
                </a:extLst>
              </p:cNvPr>
              <p:cNvPicPr/>
              <p:nvPr/>
            </p:nvPicPr>
            <p:blipFill>
              <a:blip r:embed="rId3"/>
              <a:stretch>
                <a:fillRect/>
              </a:stretch>
            </p:blipFill>
            <p:spPr>
              <a:xfrm>
                <a:off x="5070094" y="3041212"/>
                <a:ext cx="180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8FDACCB0-A54B-354A-A3EC-60B7525CDF0A}"/>
                  </a:ext>
                </a:extLst>
              </p14:cNvPr>
              <p14:cNvContentPartPr/>
              <p14:nvPr/>
            </p14:nvContentPartPr>
            <p14:xfrm>
              <a:off x="5525854" y="1776532"/>
              <a:ext cx="360" cy="360"/>
            </p14:xfrm>
          </p:contentPart>
        </mc:Choice>
        <mc:Fallback xmlns="">
          <p:pic>
            <p:nvPicPr>
              <p:cNvPr id="8" name="Ink 7">
                <a:extLst>
                  <a:ext uri="{FF2B5EF4-FFF2-40B4-BE49-F238E27FC236}">
                    <a16:creationId xmlns:a16="http://schemas.microsoft.com/office/drawing/2014/main" id="{8FDACCB0-A54B-354A-A3EC-60B7525CDF0A}"/>
                  </a:ext>
                </a:extLst>
              </p:cNvPr>
              <p:cNvPicPr/>
              <p:nvPr/>
            </p:nvPicPr>
            <p:blipFill>
              <a:blip r:embed="rId8"/>
              <a:stretch>
                <a:fillRect/>
              </a:stretch>
            </p:blipFill>
            <p:spPr>
              <a:xfrm>
                <a:off x="5517214" y="176753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6465448C-44AF-1340-8608-65DF607A0667}"/>
                  </a:ext>
                </a:extLst>
              </p14:cNvPr>
              <p14:cNvContentPartPr/>
              <p14:nvPr/>
            </p14:nvContentPartPr>
            <p14:xfrm>
              <a:off x="768814" y="1290172"/>
              <a:ext cx="3600" cy="360"/>
            </p14:xfrm>
          </p:contentPart>
        </mc:Choice>
        <mc:Fallback xmlns="">
          <p:pic>
            <p:nvPicPr>
              <p:cNvPr id="9" name="Ink 8">
                <a:extLst>
                  <a:ext uri="{FF2B5EF4-FFF2-40B4-BE49-F238E27FC236}">
                    <a16:creationId xmlns:a16="http://schemas.microsoft.com/office/drawing/2014/main" id="{6465448C-44AF-1340-8608-65DF607A0667}"/>
                  </a:ext>
                </a:extLst>
              </p:cNvPr>
              <p:cNvPicPr/>
              <p:nvPr/>
            </p:nvPicPr>
            <p:blipFill>
              <a:blip r:embed="rId10"/>
              <a:stretch>
                <a:fillRect/>
              </a:stretch>
            </p:blipFill>
            <p:spPr>
              <a:xfrm>
                <a:off x="759814" y="1281532"/>
                <a:ext cx="21240" cy="18000"/>
              </a:xfrm>
              <a:prstGeom prst="rect">
                <a:avLst/>
              </a:prstGeom>
            </p:spPr>
          </p:pic>
        </mc:Fallback>
      </mc:AlternateContent>
    </p:spTree>
    <p:extLst>
      <p:ext uri="{BB962C8B-B14F-4D97-AF65-F5344CB8AC3E}">
        <p14:creationId xmlns:p14="http://schemas.microsoft.com/office/powerpoint/2010/main" val="1634206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Introduction</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p:txBody>
          <a:bodyPr>
            <a:normAutofit/>
          </a:bodyPr>
          <a:lstStyle/>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Clients and Servers</a:t>
            </a:r>
          </a:p>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HTTP</a:t>
            </a:r>
          </a:p>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View headers  - plug in</a:t>
            </a:r>
          </a:p>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Error codes</a:t>
            </a:r>
          </a:p>
        </p:txBody>
      </p:sp>
    </p:spTree>
    <p:extLst>
      <p:ext uri="{BB962C8B-B14F-4D97-AF65-F5344CB8AC3E}">
        <p14:creationId xmlns:p14="http://schemas.microsoft.com/office/powerpoint/2010/main" val="359136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5B50">
                <a:alpha val="83137"/>
              </a:srgbClr>
            </a:gs>
            <a:gs pos="41000">
              <a:srgbClr val="FF574B">
                <a:lumMod val="87000"/>
                <a:lumOff val="13000"/>
              </a:srgbClr>
            </a:gs>
            <a:gs pos="100000">
              <a:srgbClr val="FF574B"/>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745679"/>
            <a:ext cx="10515600" cy="3744538"/>
          </a:xfrm>
          <a:ln>
            <a:noFill/>
          </a:ln>
          <a:effectLst/>
        </p:spPr>
        <p:txBody>
          <a:bodyPr>
            <a:noAutofit/>
          </a:bodyPr>
          <a:lstStyle/>
          <a:p>
            <a:pPr algn="ctr"/>
            <a:r>
              <a:rPr lang="en-US" sz="20000" spc="50" dirty="0">
                <a:solidFill>
                  <a:schemeClr val="tx1">
                    <a:lumMod val="85000"/>
                    <a:lumOff val="15000"/>
                  </a:schemeClr>
                </a:solidFill>
                <a:latin typeface="American Typewriter" panose="02090604020004020304" pitchFamily="18" charset="77"/>
                <a:ea typeface="Helvetica Neue Thin" panose="020B0403020202020204" pitchFamily="34" charset="0"/>
                <a:cs typeface="Georgia Pro Cond Black" panose="020F0502020204030204" pitchFamily="34" charset="0"/>
              </a:rPr>
              <a:t>HTTP</a:t>
            </a:r>
          </a:p>
        </p:txBody>
      </p:sp>
      <p:sp>
        <p:nvSpPr>
          <p:cNvPr id="3" name="Content Placeholder 2">
            <a:extLst>
              <a:ext uri="{FF2B5EF4-FFF2-40B4-BE49-F238E27FC236}">
                <a16:creationId xmlns:a16="http://schemas.microsoft.com/office/drawing/2014/main" id="{34D6423F-A9A0-824E-B99E-2046896833A7}"/>
              </a:ext>
            </a:extLst>
          </p:cNvPr>
          <p:cNvSpPr>
            <a:spLocks noGrp="1"/>
          </p:cNvSpPr>
          <p:nvPr>
            <p:ph idx="1"/>
          </p:nvPr>
        </p:nvSpPr>
        <p:spPr>
          <a:xfrm>
            <a:off x="838200" y="4784582"/>
            <a:ext cx="10515600" cy="989494"/>
          </a:xfrm>
        </p:spPr>
        <p:txBody>
          <a:bodyPr>
            <a:normAutofit/>
          </a:bodyPr>
          <a:lstStyle/>
          <a:p>
            <a:pPr marL="0" indent="0" algn="ctr">
              <a:buNone/>
            </a:pPr>
            <a:r>
              <a:rPr lang="en-US" sz="5400" dirty="0">
                <a:latin typeface="Helvetica Neue Light" panose="02000403000000020004" pitchFamily="2" charset="0"/>
                <a:ea typeface="Helvetica Neue Light" panose="02000403000000020004" pitchFamily="2" charset="0"/>
              </a:rPr>
              <a:t>Hypertext Transfer Protocol</a:t>
            </a:r>
          </a:p>
        </p:txBody>
      </p:sp>
    </p:spTree>
    <p:extLst>
      <p:ext uri="{BB962C8B-B14F-4D97-AF65-F5344CB8AC3E}">
        <p14:creationId xmlns:p14="http://schemas.microsoft.com/office/powerpoint/2010/main" val="2356891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5B50">
                <a:alpha val="83137"/>
              </a:srgbClr>
            </a:gs>
            <a:gs pos="41000">
              <a:srgbClr val="FF574B">
                <a:lumMod val="87000"/>
                <a:lumOff val="13000"/>
              </a:srgbClr>
            </a:gs>
            <a:gs pos="100000">
              <a:srgbClr val="FF574B"/>
            </a:gs>
          </a:gsLst>
          <a:path path="circle">
            <a:fillToRect l="100000" b="100000"/>
          </a:path>
          <a:tileRect t="-100000" r="-100000"/>
        </a:gra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85CAEA6-BB99-7341-980D-4B0E78D63157}"/>
              </a:ext>
            </a:extLst>
          </p:cNvPr>
          <p:cNvPicPr>
            <a:picLocks noChangeAspect="1"/>
          </p:cNvPicPr>
          <p:nvPr/>
        </p:nvPicPr>
        <p:blipFill>
          <a:blip r:embed="rId2"/>
          <a:stretch>
            <a:fillRect/>
          </a:stretch>
        </p:blipFill>
        <p:spPr>
          <a:xfrm>
            <a:off x="451536" y="278625"/>
            <a:ext cx="6018802" cy="6138809"/>
          </a:xfrm>
          <a:prstGeom prst="rect">
            <a:avLst/>
          </a:prstGeom>
        </p:spPr>
      </p:pic>
      <p:sp>
        <p:nvSpPr>
          <p:cNvPr id="11" name="Rounded Rectangular Callout 10">
            <a:extLst>
              <a:ext uri="{FF2B5EF4-FFF2-40B4-BE49-F238E27FC236}">
                <a16:creationId xmlns:a16="http://schemas.microsoft.com/office/drawing/2014/main" id="{90218D45-C8B6-8E4B-8525-BB886031C455}"/>
              </a:ext>
            </a:extLst>
          </p:cNvPr>
          <p:cNvSpPr/>
          <p:nvPr/>
        </p:nvSpPr>
        <p:spPr>
          <a:xfrm>
            <a:off x="7030727" y="278625"/>
            <a:ext cx="4866514" cy="2867713"/>
          </a:xfrm>
          <a:prstGeom prst="wedgeRoundRectCallout">
            <a:avLst>
              <a:gd name="adj1" fmla="val -78145"/>
              <a:gd name="adj2" fmla="val -19386"/>
              <a:gd name="adj3" fmla="val 16667"/>
            </a:avLst>
          </a:prstGeom>
          <a:effectLst>
            <a:outerShdw blurRad="152400" dir="18900000" sy="23000" kx="-1200000" algn="bl" rotWithShape="0">
              <a:prstClr val="black">
                <a:alpha val="20000"/>
              </a:prstClr>
            </a:outerShdw>
          </a:effectLst>
        </p:spPr>
        <p:style>
          <a:lnRef idx="2">
            <a:schemeClr val="dk1"/>
          </a:lnRef>
          <a:fillRef idx="1">
            <a:schemeClr val="lt1"/>
          </a:fillRef>
          <a:effectRef idx="0">
            <a:schemeClr val="dk1"/>
          </a:effectRef>
          <a:fontRef idx="minor">
            <a:schemeClr val="dk1"/>
          </a:fontRef>
        </p:style>
        <p:txBody>
          <a:bodyPr rtlCol="0" anchor="ctr"/>
          <a:lstStyle/>
          <a:p>
            <a:pPr>
              <a:lnSpc>
                <a:spcPct val="150000"/>
              </a:lnSpc>
            </a:pPr>
            <a:r>
              <a:rPr lang="en-GB" b="1" dirty="0">
                <a:solidFill>
                  <a:schemeClr val="tx1"/>
                </a:solidFill>
                <a:latin typeface="HELVETICA NEUE LIGHT" panose="02000403000000020004" pitchFamily="2" charset="0"/>
                <a:ea typeface="HELVETICA NEUE LIGHT" panose="02000403000000020004" pitchFamily="2" charset="0"/>
              </a:rPr>
              <a:t>Client: </a:t>
            </a:r>
            <a:r>
              <a:rPr lang="en-GB" dirty="0">
                <a:latin typeface="Helvetica Neue Light" panose="02000403000000020004" pitchFamily="2" charset="0"/>
                <a:ea typeface="Helvetica Neue Light" panose="02000403000000020004" pitchFamily="2" charset="0"/>
              </a:rPr>
              <a:t>The HTTP client sends a request to the server in the form of a request method, URI, and protocol version, followed by a MIME-like message containing request modifiers, client information, and possible body content over a TCP/IP connection.</a:t>
            </a:r>
          </a:p>
        </p:txBody>
      </p:sp>
      <p:sp>
        <p:nvSpPr>
          <p:cNvPr id="12" name="Rounded Rectangular Callout 11">
            <a:extLst>
              <a:ext uri="{FF2B5EF4-FFF2-40B4-BE49-F238E27FC236}">
                <a16:creationId xmlns:a16="http://schemas.microsoft.com/office/drawing/2014/main" id="{8D3D5A4F-4222-214D-89AE-91BE1E5151D7}"/>
              </a:ext>
            </a:extLst>
          </p:cNvPr>
          <p:cNvSpPr/>
          <p:nvPr/>
        </p:nvSpPr>
        <p:spPr>
          <a:xfrm>
            <a:off x="7030727" y="3348029"/>
            <a:ext cx="4866514" cy="2867714"/>
          </a:xfrm>
          <a:prstGeom prst="wedgeRoundRectCallout">
            <a:avLst>
              <a:gd name="adj1" fmla="val -78145"/>
              <a:gd name="adj2" fmla="val -19386"/>
              <a:gd name="adj3" fmla="val 16667"/>
            </a:avLst>
          </a:prstGeom>
          <a:effectLst>
            <a:outerShdw blurRad="152400" dir="18900000" sy="23000" kx="-1200000" algn="bl" rotWithShape="0">
              <a:prstClr val="black">
                <a:alpha val="20000"/>
              </a:prstClr>
            </a:outerShdw>
          </a:effectLst>
        </p:spPr>
        <p:style>
          <a:lnRef idx="2">
            <a:schemeClr val="dk1"/>
          </a:lnRef>
          <a:fillRef idx="1">
            <a:schemeClr val="lt1"/>
          </a:fillRef>
          <a:effectRef idx="0">
            <a:schemeClr val="dk1"/>
          </a:effectRef>
          <a:fontRef idx="minor">
            <a:schemeClr val="dk1"/>
          </a:fontRef>
        </p:style>
        <p:txBody>
          <a:bodyPr rtlCol="0" anchor="ctr"/>
          <a:lstStyle/>
          <a:p>
            <a:pPr>
              <a:lnSpc>
                <a:spcPct val="150000"/>
              </a:lnSpc>
            </a:pPr>
            <a:r>
              <a:rPr lang="en-GB" b="1" dirty="0">
                <a:latin typeface="HELVETICA NEUE LIGHT" panose="02000403000000020004" pitchFamily="2" charset="0"/>
                <a:ea typeface="HELVETICA NEUE LIGHT" panose="02000403000000020004" pitchFamily="2" charset="0"/>
              </a:rPr>
              <a:t>Server: </a:t>
            </a:r>
            <a:r>
              <a:rPr lang="en-GB" dirty="0">
                <a:latin typeface="Helvetica Neue Light" panose="02000403000000020004" pitchFamily="2" charset="0"/>
                <a:ea typeface="Helvetica Neue Light" panose="02000403000000020004" pitchFamily="2" charset="0"/>
              </a:rPr>
              <a:t>The HTTP server responds with a status line, including the message's protocol version and a success or error code, followed by a MIME-like message containing server information, entity meta information, and possible entity-body content.</a:t>
            </a:r>
          </a:p>
        </p:txBody>
      </p:sp>
    </p:spTree>
    <p:extLst>
      <p:ext uri="{BB962C8B-B14F-4D97-AF65-F5344CB8AC3E}">
        <p14:creationId xmlns:p14="http://schemas.microsoft.com/office/powerpoint/2010/main" val="2502283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186222"/>
            <a:ext cx="10515600" cy="1036292"/>
          </a:xfrm>
        </p:spPr>
        <p:txBody>
          <a:bodyPr>
            <a:normAutofit/>
          </a:bodyPr>
          <a:lstStyle/>
          <a:p>
            <a:r>
              <a:rPr lang="en-GB" sz="5400" dirty="0">
                <a:solidFill>
                  <a:srgbClr val="D3473F"/>
                </a:solidFill>
                <a:latin typeface="American Typewriter" panose="02090604020004020304" pitchFamily="18" charset="77"/>
              </a:rPr>
              <a:t>Client: the user-agent</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728869" y="1388302"/>
            <a:ext cx="10515600" cy="5032375"/>
          </a:xfrm>
        </p:spPr>
        <p:txBody>
          <a:bodyPr>
            <a:normAutofit fontScale="77500" lnSpcReduction="20000"/>
          </a:bodyPr>
          <a:lstStyle/>
          <a:p>
            <a:pPr>
              <a:lnSpc>
                <a:spcPct val="160000"/>
              </a:lnSpc>
            </a:pPr>
            <a:r>
              <a:rPr lang="en-GB" dirty="0">
                <a:latin typeface="Helvetica Neue Light" panose="02000403000000020004" pitchFamily="2" charset="0"/>
                <a:ea typeface="Helvetica Neue Light" panose="02000403000000020004" pitchFamily="2" charset="0"/>
              </a:rPr>
              <a:t>The user-agent is any tool that acts on behalf of the user. This role is primarily performed by the Web browser.</a:t>
            </a:r>
          </a:p>
          <a:p>
            <a:pPr>
              <a:lnSpc>
                <a:spcPct val="160000"/>
              </a:lnSpc>
            </a:pPr>
            <a:r>
              <a:rPr lang="en-GB" dirty="0">
                <a:latin typeface="Helvetica Neue Light" panose="02000403000000020004" pitchFamily="2" charset="0"/>
                <a:ea typeface="Helvetica Neue Light" panose="02000403000000020004" pitchFamily="2" charset="0"/>
              </a:rPr>
              <a:t>To display a Web page, the browser sends an original request to fetch the HTML document that represents the page. It then makes additional requests corresponding to execution scripts, layout information (CSS) to display, and sub-resources contained within the page (usually images and videos).</a:t>
            </a:r>
          </a:p>
          <a:p>
            <a:pPr>
              <a:lnSpc>
                <a:spcPct val="160000"/>
              </a:lnSpc>
            </a:pPr>
            <a:r>
              <a:rPr lang="en-GB" dirty="0">
                <a:latin typeface="Helvetica Neue Light" panose="02000403000000020004" pitchFamily="2" charset="0"/>
                <a:ea typeface="Helvetica Neue Light" panose="02000403000000020004" pitchFamily="2" charset="0"/>
              </a:rPr>
              <a:t>The Web browser then combines these resources to present the complete document, the Web page. Scripts executed by the browser can fetch more resources in later phases and the browser updates the Web page accordingly.</a:t>
            </a:r>
          </a:p>
        </p:txBody>
      </p:sp>
    </p:spTree>
    <p:extLst>
      <p:ext uri="{BB962C8B-B14F-4D97-AF65-F5344CB8AC3E}">
        <p14:creationId xmlns:p14="http://schemas.microsoft.com/office/powerpoint/2010/main" val="2881972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The web server</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457877"/>
            <a:ext cx="10515600" cy="4724261"/>
          </a:xfrm>
        </p:spPr>
        <p:txBody>
          <a:bodyPr>
            <a:normAutofit fontScale="70000" lnSpcReduction="20000"/>
          </a:bodyPr>
          <a:lstStyle/>
          <a:p>
            <a:pPr>
              <a:lnSpc>
                <a:spcPct val="160000"/>
              </a:lnSpc>
            </a:pPr>
            <a:r>
              <a:rPr lang="en-GB" sz="3400" dirty="0">
                <a:latin typeface="Helvetica Neue Light" panose="02000403000000020004" pitchFamily="2" charset="0"/>
                <a:ea typeface="Helvetica Neue Light" panose="02000403000000020004" pitchFamily="2" charset="0"/>
              </a:rPr>
              <a:t>On the opposite side of the communication channel is the server, which serves the document as requested by the client. </a:t>
            </a:r>
          </a:p>
          <a:p>
            <a:pPr>
              <a:lnSpc>
                <a:spcPct val="160000"/>
              </a:lnSpc>
            </a:pPr>
            <a:r>
              <a:rPr lang="en-GB" sz="3400" dirty="0">
                <a:latin typeface="Helvetica Neue Light" panose="02000403000000020004" pitchFamily="2" charset="0"/>
                <a:ea typeface="Helvetica Neue Light" panose="02000403000000020004" pitchFamily="2" charset="0"/>
              </a:rPr>
              <a:t>A server appears as only a single machine virtually; but it may actually be a collection of servers sharing the load (load balancing), or a complex piece of software interrogating other computers (like cache, a DB server, or e-commerce servers), totally or partially generating the document on demand.</a:t>
            </a:r>
          </a:p>
          <a:p>
            <a:pPr>
              <a:lnSpc>
                <a:spcPct val="160000"/>
              </a:lnSpc>
            </a:pPr>
            <a:r>
              <a:rPr lang="en-GB" sz="3400" dirty="0">
                <a:latin typeface="Helvetica Neue Light" panose="02000403000000020004" pitchFamily="2" charset="0"/>
                <a:ea typeface="Helvetica Neue Light" panose="02000403000000020004" pitchFamily="2" charset="0"/>
              </a:rPr>
              <a:t>A server is not necessarily a single machine, but several server software instances can be hosted on the same machine. </a:t>
            </a:r>
            <a:endParaRPr lang="en-GB"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550538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132314"/>
            <a:ext cx="10515600" cy="1325563"/>
          </a:xfrm>
        </p:spPr>
        <p:txBody>
          <a:bodyPr>
            <a:normAutofit/>
          </a:bodyPr>
          <a:lstStyle/>
          <a:p>
            <a:r>
              <a:rPr lang="en-US" sz="54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Proxies</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152939"/>
            <a:ext cx="10515600" cy="5277678"/>
          </a:xfrm>
        </p:spPr>
        <p:txBody>
          <a:bodyPr>
            <a:normAutofit/>
          </a:bodyPr>
          <a:lstStyle/>
          <a:p>
            <a:pPr marL="0" indent="0">
              <a:lnSpc>
                <a:spcPct val="150000"/>
              </a:lnSpc>
              <a:buNone/>
            </a:pPr>
            <a:r>
              <a:rPr lang="en-GB" sz="2000" dirty="0">
                <a:latin typeface="Helvetica Neue Light" panose="02000403000000020004" pitchFamily="2" charset="0"/>
                <a:ea typeface="Helvetica Neue Light" panose="02000403000000020004" pitchFamily="2" charset="0"/>
              </a:rPr>
              <a:t>Between the Web browser and the server, numerous computers and machines relay the HTTP messages. Those operating at the application layers are generally called </a:t>
            </a:r>
            <a:r>
              <a:rPr lang="en-GB" sz="2000" b="1" dirty="0">
                <a:latin typeface="Helvetica Neue Light" panose="02000403000000020004" pitchFamily="2" charset="0"/>
                <a:ea typeface="Helvetica Neue Light" panose="02000403000000020004" pitchFamily="2" charset="0"/>
              </a:rPr>
              <a:t>proxies</a:t>
            </a:r>
            <a:r>
              <a:rPr lang="en-GB" sz="2000" dirty="0">
                <a:latin typeface="Helvetica Neue Light" panose="02000403000000020004" pitchFamily="2" charset="0"/>
                <a:ea typeface="Helvetica Neue Light" panose="02000403000000020004" pitchFamily="2" charset="0"/>
              </a:rPr>
              <a:t>. These can be transparent, forwarding on the requests they receive without altering them in any way, or non-transparent, in which case they will change the request in some way before passing it along to the server. </a:t>
            </a:r>
            <a:r>
              <a:rPr lang="en-GB" sz="2000" b="1" dirty="0">
                <a:latin typeface="Helvetica Neue Light" panose="02000403000000020004" pitchFamily="2" charset="0"/>
                <a:ea typeface="Helvetica Neue Light" panose="02000403000000020004" pitchFamily="2" charset="0"/>
              </a:rPr>
              <a:t>Proxies </a:t>
            </a:r>
            <a:r>
              <a:rPr lang="en-GB" sz="2000" dirty="0">
                <a:latin typeface="Helvetica Neue Light" panose="02000403000000020004" pitchFamily="2" charset="0"/>
                <a:ea typeface="Helvetica Neue Light" panose="02000403000000020004" pitchFamily="2" charset="0"/>
              </a:rPr>
              <a:t>may perform numerous functions:</a:t>
            </a:r>
          </a:p>
          <a:p>
            <a:pPr>
              <a:lnSpc>
                <a:spcPct val="150000"/>
              </a:lnSpc>
            </a:pPr>
            <a:r>
              <a:rPr lang="en-GB" sz="2000" dirty="0">
                <a:latin typeface="Helvetica Neue Light" panose="02000403000000020004" pitchFamily="2" charset="0"/>
                <a:ea typeface="Helvetica Neue Light" panose="02000403000000020004" pitchFamily="2" charset="0"/>
              </a:rPr>
              <a:t>caching (the cache can be public or private, like the browser cache)</a:t>
            </a:r>
          </a:p>
          <a:p>
            <a:pPr>
              <a:lnSpc>
                <a:spcPct val="150000"/>
              </a:lnSpc>
            </a:pPr>
            <a:r>
              <a:rPr lang="en-GB" sz="2000" dirty="0">
                <a:latin typeface="Helvetica Neue Light" panose="02000403000000020004" pitchFamily="2" charset="0"/>
                <a:ea typeface="Helvetica Neue Light" panose="02000403000000020004" pitchFamily="2" charset="0"/>
              </a:rPr>
              <a:t>filtering (like an antivirus scan or parental controls)</a:t>
            </a:r>
          </a:p>
          <a:p>
            <a:pPr>
              <a:lnSpc>
                <a:spcPct val="150000"/>
              </a:lnSpc>
            </a:pPr>
            <a:r>
              <a:rPr lang="en-GB" sz="2000" dirty="0">
                <a:latin typeface="Helvetica Neue Light" panose="02000403000000020004" pitchFamily="2" charset="0"/>
                <a:ea typeface="Helvetica Neue Light" panose="02000403000000020004" pitchFamily="2" charset="0"/>
              </a:rPr>
              <a:t>authentication (to control access to different resources)</a:t>
            </a:r>
          </a:p>
          <a:p>
            <a:pPr>
              <a:lnSpc>
                <a:spcPct val="150000"/>
              </a:lnSpc>
            </a:pPr>
            <a:r>
              <a:rPr lang="en-GB" sz="2000" dirty="0">
                <a:latin typeface="Helvetica Neue Light" panose="02000403000000020004" pitchFamily="2" charset="0"/>
                <a:ea typeface="Helvetica Neue Light" panose="02000403000000020004" pitchFamily="2" charset="0"/>
              </a:rPr>
              <a:t>logging (allowing the storage of historical information)</a:t>
            </a:r>
          </a:p>
        </p:txBody>
      </p:sp>
    </p:spTree>
    <p:extLst>
      <p:ext uri="{BB962C8B-B14F-4D97-AF65-F5344CB8AC3E}">
        <p14:creationId xmlns:p14="http://schemas.microsoft.com/office/powerpoint/2010/main" val="2093862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HTTP Basic features</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p:txBody>
          <a:bodyPr>
            <a:normAutofit lnSpcReduction="10000"/>
          </a:bodyPr>
          <a:lstStyle/>
          <a:p>
            <a:pPr marL="0" indent="0">
              <a:lnSpc>
                <a:spcPct val="150000"/>
              </a:lnSpc>
              <a:buNone/>
            </a:pPr>
            <a:r>
              <a:rPr lang="en-GB" b="1" dirty="0">
                <a:latin typeface="Helvetica Neue Light" panose="02000403000000020004" pitchFamily="2" charset="0"/>
                <a:ea typeface="Helvetica Neue Light" panose="02000403000000020004" pitchFamily="2" charset="0"/>
              </a:rPr>
              <a:t>HTTP is connectionless: </a:t>
            </a:r>
            <a:r>
              <a:rPr lang="en-GB" dirty="0">
                <a:latin typeface="Helvetica Neue Light" panose="02000403000000020004" pitchFamily="2" charset="0"/>
                <a:ea typeface="Helvetica Neue Light" panose="02000403000000020004" pitchFamily="2" charset="0"/>
              </a:rPr>
              <a:t>The HTTP client, i.e., a browser initiates an HTTP request and after a request is made, the client waits for the response. The server processes the request and sends a response back after which the client disconnects the connection. So the client and server knows about each other during current request and response only. Further requests are made on new connections as if client and server are new to each other.</a:t>
            </a:r>
          </a:p>
          <a:p>
            <a:pPr marL="0" indent="0">
              <a:lnSpc>
                <a:spcPct val="150000"/>
              </a:lnSpc>
              <a:buNone/>
            </a:pPr>
            <a:endParaRPr lang="en-GB"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2824854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HTTP Basic features 2</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517399"/>
            <a:ext cx="10515600" cy="4975475"/>
          </a:xfrm>
        </p:spPr>
        <p:txBody>
          <a:bodyPr>
            <a:normAutofit fontScale="92500"/>
          </a:bodyPr>
          <a:lstStyle/>
          <a:p>
            <a:pPr marL="0" indent="0">
              <a:lnSpc>
                <a:spcPct val="150000"/>
              </a:lnSpc>
              <a:buNone/>
            </a:pPr>
            <a:r>
              <a:rPr lang="en-GB" sz="2400" b="1" dirty="0">
                <a:latin typeface="Helvetica Neue Light" panose="02000403000000020004" pitchFamily="2" charset="0"/>
                <a:ea typeface="Helvetica Neue Light" panose="02000403000000020004" pitchFamily="2" charset="0"/>
              </a:rPr>
              <a:t>HTTP is media independent: </a:t>
            </a:r>
            <a:r>
              <a:rPr lang="en-GB" sz="2400" dirty="0">
                <a:latin typeface="Helvetica Neue Light" panose="02000403000000020004" pitchFamily="2" charset="0"/>
                <a:ea typeface="Helvetica Neue Light" panose="02000403000000020004" pitchFamily="2" charset="0"/>
              </a:rPr>
              <a:t>It means, any type of data can be sent by HTTP as long as both the client and the server know how to handle the data content. It is required for the client as well as the server to specify the content type using appropriate MIME-type (see next slide).</a:t>
            </a:r>
          </a:p>
          <a:p>
            <a:pPr marL="0" indent="0">
              <a:lnSpc>
                <a:spcPct val="150000"/>
              </a:lnSpc>
              <a:buNone/>
            </a:pPr>
            <a:r>
              <a:rPr lang="en-GB" sz="2400" b="1" dirty="0">
                <a:latin typeface="Helvetica Neue Light" panose="02000403000000020004" pitchFamily="2" charset="0"/>
                <a:ea typeface="Helvetica Neue Light" panose="02000403000000020004" pitchFamily="2" charset="0"/>
              </a:rPr>
              <a:t>HTTP is stateless</a:t>
            </a:r>
            <a:r>
              <a:rPr lang="en-GB" sz="2400" dirty="0">
                <a:latin typeface="Helvetica Neue Light" panose="02000403000000020004" pitchFamily="2" charset="0"/>
                <a:ea typeface="Helvetica Neue Light" panose="02000403000000020004" pitchFamily="2" charset="0"/>
              </a:rPr>
              <a:t>: As mentioned above, HTTP is connectionless and as a direct result of HTTP being a stateless protocol. The server and client are aware of each other only during a current request. Afterwards, both of them forget about each other. Due to this nature of the protocol, neither the client nor the browser can retain information between different requests across the web pages.</a:t>
            </a:r>
          </a:p>
          <a:p>
            <a:pPr marL="0" indent="0">
              <a:lnSpc>
                <a:spcPct val="150000"/>
              </a:lnSpc>
              <a:buNone/>
            </a:pPr>
            <a:endParaRPr lang="en-GB"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026826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65126"/>
            <a:ext cx="10515600" cy="775306"/>
          </a:xfrm>
        </p:spPr>
        <p:txBody>
          <a:bodyPr>
            <a:normAutofit/>
          </a:bodyPr>
          <a:lstStyle/>
          <a:p>
            <a:r>
              <a:rPr lang="en-US" sz="4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MIME type</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140432"/>
            <a:ext cx="10515600" cy="4975475"/>
          </a:xfrm>
        </p:spPr>
        <p:txBody>
          <a:bodyPr>
            <a:normAutofit lnSpcReduction="10000"/>
          </a:bodyPr>
          <a:lstStyle/>
          <a:p>
            <a:pPr marL="0" indent="0">
              <a:lnSpc>
                <a:spcPct val="150000"/>
              </a:lnSpc>
              <a:buNone/>
            </a:pPr>
            <a:r>
              <a:rPr lang="en-GB" sz="2000" dirty="0">
                <a:latin typeface="Helvetica Neue Light" panose="02000403000000020004" pitchFamily="2" charset="0"/>
                <a:ea typeface="Helvetica Neue Light" panose="02000403000000020004" pitchFamily="2" charset="0"/>
              </a:rPr>
              <a:t>A media type (also known as a </a:t>
            </a:r>
            <a:r>
              <a:rPr lang="en-GB" sz="2000" b="1" dirty="0">
                <a:latin typeface="Helvetica Neue Light" panose="02000403000000020004" pitchFamily="2" charset="0"/>
                <a:ea typeface="Helvetica Neue Light" panose="02000403000000020004" pitchFamily="2" charset="0"/>
              </a:rPr>
              <a:t>Multipurpose Internet Mail Extensions </a:t>
            </a:r>
            <a:r>
              <a:rPr lang="en-GB" sz="2000" dirty="0">
                <a:latin typeface="Helvetica Neue Light" panose="02000403000000020004" pitchFamily="2" charset="0"/>
                <a:ea typeface="Helvetica Neue Light" panose="02000403000000020004" pitchFamily="2" charset="0"/>
              </a:rPr>
              <a:t>or </a:t>
            </a:r>
            <a:r>
              <a:rPr lang="en-GB" sz="2000" b="1" dirty="0">
                <a:latin typeface="Helvetica Neue Light" panose="02000403000000020004" pitchFamily="2" charset="0"/>
                <a:ea typeface="Helvetica Neue Light" panose="02000403000000020004" pitchFamily="2" charset="0"/>
              </a:rPr>
              <a:t>MIME type</a:t>
            </a:r>
            <a:r>
              <a:rPr lang="en-GB" sz="2000" dirty="0">
                <a:latin typeface="Helvetica Neue Light" panose="02000403000000020004" pitchFamily="2" charset="0"/>
                <a:ea typeface="Helvetica Neue Light" panose="02000403000000020004" pitchFamily="2" charset="0"/>
              </a:rPr>
              <a:t>) indicates the nature and format of a document, file, or assortment of bytes. </a:t>
            </a:r>
            <a:r>
              <a:rPr lang="en-GB" sz="2000" dirty="0">
                <a:latin typeface="Helvetica Neue Light" panose="02000403000000020004" pitchFamily="2" charset="0"/>
                <a:ea typeface="Helvetica Neue Light" panose="02000403000000020004" pitchFamily="2" charset="0"/>
                <a:hlinkClick r:id="rId2"/>
              </a:rPr>
              <a:t>https://www.sitepoint.com/mime-types-complete-list/</a:t>
            </a:r>
            <a:endParaRPr lang="en-GB" sz="2000" dirty="0">
              <a:latin typeface="Helvetica Neue Light" panose="02000403000000020004" pitchFamily="2" charset="0"/>
              <a:ea typeface="Helvetica Neue Light" panose="02000403000000020004" pitchFamily="2" charset="0"/>
            </a:endParaRPr>
          </a:p>
          <a:p>
            <a:pPr marL="0" indent="0">
              <a:lnSpc>
                <a:spcPct val="100000"/>
              </a:lnSpc>
              <a:buNone/>
            </a:pPr>
            <a:r>
              <a:rPr lang="en-GB" sz="2000" b="1" dirty="0">
                <a:latin typeface="HELVETICA NEUE LIGHT" panose="02000403000000020004" pitchFamily="2" charset="0"/>
                <a:ea typeface="HELVETICA NEUE LIGHT" panose="02000403000000020004" pitchFamily="2" charset="0"/>
              </a:rPr>
              <a:t>Important MIME types for Web developers include:</a:t>
            </a:r>
          </a:p>
          <a:p>
            <a:pPr marL="0" indent="0">
              <a:lnSpc>
                <a:spcPct val="100000"/>
              </a:lnSpc>
              <a:buNone/>
            </a:pPr>
            <a:r>
              <a:rPr lang="en-GB" sz="2200" dirty="0">
                <a:latin typeface="Helvetica Neue Light" panose="02000403000000020004" pitchFamily="2" charset="0"/>
                <a:ea typeface="Helvetica Neue Light" panose="02000403000000020004" pitchFamily="2" charset="0"/>
              </a:rPr>
              <a:t>text/plain</a:t>
            </a:r>
          </a:p>
          <a:p>
            <a:pPr marL="0" indent="0">
              <a:lnSpc>
                <a:spcPct val="100000"/>
              </a:lnSpc>
              <a:buNone/>
            </a:pPr>
            <a:r>
              <a:rPr lang="en-GB" sz="2200" dirty="0">
                <a:latin typeface="Helvetica Neue Light" panose="02000403000000020004" pitchFamily="2" charset="0"/>
                <a:ea typeface="Helvetica Neue Light" panose="02000403000000020004" pitchFamily="2" charset="0"/>
              </a:rPr>
              <a:t>text/html</a:t>
            </a:r>
          </a:p>
          <a:p>
            <a:pPr marL="0" indent="0">
              <a:lnSpc>
                <a:spcPct val="100000"/>
              </a:lnSpc>
              <a:buNone/>
            </a:pPr>
            <a:r>
              <a:rPr lang="en-GB" sz="2200" dirty="0">
                <a:latin typeface="Helvetica Neue Light" panose="02000403000000020004" pitchFamily="2" charset="0"/>
                <a:ea typeface="Helvetica Neue Light" panose="02000403000000020004" pitchFamily="2" charset="0"/>
              </a:rPr>
              <a:t>text/</a:t>
            </a:r>
            <a:r>
              <a:rPr lang="en-GB" sz="2200" dirty="0" err="1">
                <a:latin typeface="Helvetica Neue Light" panose="02000403000000020004" pitchFamily="2" charset="0"/>
                <a:ea typeface="Helvetica Neue Light" panose="02000403000000020004" pitchFamily="2" charset="0"/>
              </a:rPr>
              <a:t>css</a:t>
            </a:r>
            <a:endParaRPr lang="en-GB" sz="2200" dirty="0">
              <a:latin typeface="Helvetica Neue Light" panose="02000403000000020004" pitchFamily="2" charset="0"/>
              <a:ea typeface="Helvetica Neue Light" panose="02000403000000020004" pitchFamily="2" charset="0"/>
            </a:endParaRPr>
          </a:p>
          <a:p>
            <a:pPr marL="0" indent="0">
              <a:lnSpc>
                <a:spcPct val="100000"/>
              </a:lnSpc>
              <a:buNone/>
            </a:pPr>
            <a:r>
              <a:rPr lang="en-GB" sz="2200" dirty="0">
                <a:latin typeface="Helvetica Neue Light" panose="02000403000000020004" pitchFamily="2" charset="0"/>
                <a:ea typeface="Helvetica Neue Light" panose="02000403000000020004" pitchFamily="2" charset="0"/>
              </a:rPr>
              <a:t>text/</a:t>
            </a:r>
            <a:r>
              <a:rPr lang="en-GB" sz="2200" dirty="0" err="1">
                <a:latin typeface="Helvetica Neue Light" panose="02000403000000020004" pitchFamily="2" charset="0"/>
                <a:ea typeface="Helvetica Neue Light" panose="02000403000000020004" pitchFamily="2" charset="0"/>
              </a:rPr>
              <a:t>javascript</a:t>
            </a:r>
            <a:endParaRPr lang="en-GB" sz="2200" dirty="0">
              <a:latin typeface="Helvetica Neue Light" panose="02000403000000020004" pitchFamily="2" charset="0"/>
              <a:ea typeface="Helvetica Neue Light" panose="02000403000000020004" pitchFamily="2" charset="0"/>
            </a:endParaRPr>
          </a:p>
          <a:p>
            <a:pPr marL="0" indent="0">
              <a:lnSpc>
                <a:spcPct val="100000"/>
              </a:lnSpc>
              <a:buNone/>
            </a:pPr>
            <a:r>
              <a:rPr lang="en-GB" sz="2200" dirty="0">
                <a:latin typeface="Helvetica Neue Light" panose="02000403000000020004" pitchFamily="2" charset="0"/>
                <a:ea typeface="Helvetica Neue Light" panose="02000403000000020004" pitchFamily="2" charset="0"/>
              </a:rPr>
              <a:t>Image/jpeg</a:t>
            </a:r>
          </a:p>
          <a:p>
            <a:pPr marL="0" indent="0">
              <a:lnSpc>
                <a:spcPct val="100000"/>
              </a:lnSpc>
              <a:buNone/>
            </a:pPr>
            <a:r>
              <a:rPr lang="en-GB" sz="2200" dirty="0">
                <a:latin typeface="Helvetica Neue Light" panose="02000403000000020004" pitchFamily="2" charset="0"/>
                <a:ea typeface="Helvetica Neue Light" panose="02000403000000020004" pitchFamily="2" charset="0"/>
              </a:rPr>
              <a:t>image/</a:t>
            </a:r>
            <a:r>
              <a:rPr lang="en-GB" sz="2200" dirty="0" err="1">
                <a:latin typeface="Helvetica Neue Light" panose="02000403000000020004" pitchFamily="2" charset="0"/>
                <a:ea typeface="Helvetica Neue Light" panose="02000403000000020004" pitchFamily="2" charset="0"/>
              </a:rPr>
              <a:t>png</a:t>
            </a:r>
            <a:endParaRPr lang="en-GB" sz="2200" dirty="0">
              <a:latin typeface="Helvetica Neue Light" panose="02000403000000020004" pitchFamily="2" charset="0"/>
              <a:ea typeface="Helvetica Neue Light" panose="02000403000000020004" pitchFamily="2" charset="0"/>
            </a:endParaRPr>
          </a:p>
          <a:p>
            <a:pPr marL="0" indent="0">
              <a:lnSpc>
                <a:spcPct val="100000"/>
              </a:lnSpc>
              <a:buNone/>
            </a:pPr>
            <a:r>
              <a:rPr lang="en-GB" sz="2200" dirty="0">
                <a:latin typeface="Helvetica Neue Light" panose="02000403000000020004" pitchFamily="2" charset="0"/>
                <a:ea typeface="Helvetica Neue Light" panose="02000403000000020004" pitchFamily="2" charset="0"/>
              </a:rPr>
              <a:t>Audio/</a:t>
            </a:r>
            <a:r>
              <a:rPr lang="en-GB" sz="2200" dirty="0" err="1">
                <a:latin typeface="Helvetica Neue Light" panose="02000403000000020004" pitchFamily="2" charset="0"/>
                <a:ea typeface="Helvetica Neue Light" panose="02000403000000020004" pitchFamily="2" charset="0"/>
              </a:rPr>
              <a:t>aiff</a:t>
            </a:r>
            <a:r>
              <a:rPr lang="en-GB" sz="2200" dirty="0">
                <a:latin typeface="Helvetica Neue Light" panose="02000403000000020004" pitchFamily="2" charset="0"/>
                <a:ea typeface="Helvetica Neue Light" panose="02000403000000020004" pitchFamily="2" charset="0"/>
              </a:rPr>
              <a:t>…etc etc</a:t>
            </a:r>
          </a:p>
          <a:p>
            <a:pPr marL="0" indent="0">
              <a:lnSpc>
                <a:spcPct val="150000"/>
              </a:lnSpc>
              <a:buNone/>
            </a:pPr>
            <a:endParaRPr lang="en-GB" sz="2100" dirty="0">
              <a:latin typeface="Helvetica Neue Light" panose="02000403000000020004" pitchFamily="2" charset="0"/>
              <a:ea typeface="Helvetica Neue Light" panose="02000403000000020004" pitchFamily="2" charset="0"/>
            </a:endParaRPr>
          </a:p>
          <a:p>
            <a:pPr marL="0" indent="0">
              <a:lnSpc>
                <a:spcPct val="150000"/>
              </a:lnSpc>
              <a:buNone/>
            </a:pPr>
            <a:endParaRPr lang="en-GB" sz="2000" dirty="0">
              <a:latin typeface="Helvetica Neue Light" panose="02000403000000020004" pitchFamily="2" charset="0"/>
              <a:ea typeface="Helvetica Neue Light" panose="02000403000000020004" pitchFamily="2" charset="0"/>
            </a:endParaRPr>
          </a:p>
          <a:p>
            <a:pPr marL="0" indent="0">
              <a:lnSpc>
                <a:spcPct val="150000"/>
              </a:lnSpc>
              <a:buNone/>
            </a:pPr>
            <a:endParaRPr lang="en-GB" sz="2400" dirty="0">
              <a:latin typeface="Helvetica Neue Light" panose="02000403000000020004" pitchFamily="2" charset="0"/>
              <a:ea typeface="Helvetica Neue Light" panose="02000403000000020004" pitchFamily="2" charset="0"/>
            </a:endParaRPr>
          </a:p>
          <a:p>
            <a:pPr marL="0" indent="0">
              <a:lnSpc>
                <a:spcPct val="150000"/>
              </a:lnSpc>
              <a:buNone/>
            </a:pPr>
            <a:endParaRPr lang="en-GB" sz="2400" dirty="0">
              <a:latin typeface="Helvetica Neue Light" panose="02000403000000020004" pitchFamily="2" charset="0"/>
              <a:ea typeface="Helvetica Neue Light" panose="02000403000000020004" pitchFamily="2" charset="0"/>
            </a:endParaRPr>
          </a:p>
        </p:txBody>
      </p:sp>
      <p:sp>
        <p:nvSpPr>
          <p:cNvPr id="6" name="TextBox 5">
            <a:extLst>
              <a:ext uri="{FF2B5EF4-FFF2-40B4-BE49-F238E27FC236}">
                <a16:creationId xmlns:a16="http://schemas.microsoft.com/office/drawing/2014/main" id="{6B2EEE7B-83E8-7748-8EB1-86D91B728751}"/>
              </a:ext>
            </a:extLst>
          </p:cNvPr>
          <p:cNvSpPr txBox="1"/>
          <p:nvPr/>
        </p:nvSpPr>
        <p:spPr>
          <a:xfrm>
            <a:off x="838200" y="6115907"/>
            <a:ext cx="9641440" cy="453907"/>
          </a:xfrm>
          <a:prstGeom prst="rect">
            <a:avLst/>
          </a:prstGeom>
          <a:noFill/>
        </p:spPr>
        <p:txBody>
          <a:bodyPr wrap="square">
            <a:spAutoFit/>
          </a:bodyPr>
          <a:lstStyle/>
          <a:p>
            <a:pPr marL="0" indent="0">
              <a:lnSpc>
                <a:spcPct val="150000"/>
              </a:lnSpc>
              <a:buNone/>
            </a:pPr>
            <a:r>
              <a:rPr lang="en-GB" sz="1800" dirty="0">
                <a:latin typeface="Helvetica Neue Light" panose="02000403000000020004" pitchFamily="2" charset="0"/>
                <a:ea typeface="Helvetica Neue Light" panose="02000403000000020004" pitchFamily="2" charset="0"/>
                <a:hlinkClick r:id="rId3"/>
              </a:rPr>
              <a:t>https://developer.mozilla.org/en-US/docs/Web/HTTP/Basics_of_HTTP/MIME_types</a:t>
            </a:r>
            <a:endParaRPr lang="en-GB" sz="18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1051970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http flow</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199" y="1547329"/>
            <a:ext cx="10899913" cy="3541505"/>
          </a:xfrm>
        </p:spPr>
        <p:txBody>
          <a:bodyPr>
            <a:normAutofit fontScale="92500"/>
          </a:bodyPr>
          <a:lstStyle/>
          <a:p>
            <a:pPr marL="0" indent="0">
              <a:lnSpc>
                <a:spcPct val="150000"/>
              </a:lnSpc>
              <a:buNone/>
            </a:pPr>
            <a:r>
              <a:rPr lang="en-GB" sz="2400" b="1" dirty="0">
                <a:latin typeface="Helvetica Neue Light" panose="02000403000000020004" pitchFamily="2" charset="0"/>
                <a:ea typeface="Helvetica Neue Light" panose="02000403000000020004" pitchFamily="2" charset="0"/>
              </a:rPr>
              <a:t>When </a:t>
            </a:r>
            <a:r>
              <a:rPr lang="en-GB" sz="2400" b="1" dirty="0">
                <a:latin typeface="HELVETICA NEUE LIGHT" panose="02000403000000020004" pitchFamily="2" charset="0"/>
                <a:ea typeface="HELVETICA NEUE LIGHT" panose="02000403000000020004" pitchFamily="2" charset="0"/>
              </a:rPr>
              <a:t>a client wants to communicate with a server it performs the following steps:</a:t>
            </a:r>
          </a:p>
          <a:p>
            <a:pPr marL="457200" indent="-457200">
              <a:lnSpc>
                <a:spcPct val="150000"/>
              </a:lnSpc>
              <a:buFont typeface="+mj-lt"/>
              <a:buAutoNum type="arabicPeriod"/>
            </a:pPr>
            <a:r>
              <a:rPr lang="en-GB" sz="2400" dirty="0">
                <a:latin typeface="Helvetica Neue Light" panose="02000403000000020004" pitchFamily="2" charset="0"/>
                <a:ea typeface="Helvetica Neue Light" panose="02000403000000020004" pitchFamily="2" charset="0"/>
              </a:rPr>
              <a:t>Open a TCP connection: The TCP connection is used to send a request, or several, and receive an answer. </a:t>
            </a:r>
          </a:p>
          <a:p>
            <a:pPr marL="457200" indent="-457200">
              <a:lnSpc>
                <a:spcPct val="150000"/>
              </a:lnSpc>
              <a:buFont typeface="+mj-lt"/>
              <a:buAutoNum type="arabicPeriod"/>
            </a:pPr>
            <a:r>
              <a:rPr lang="en-GB" sz="2400" dirty="0">
                <a:latin typeface="Helvetica Neue Light" panose="02000403000000020004" pitchFamily="2" charset="0"/>
                <a:ea typeface="Helvetica Neue Light" panose="02000403000000020004" pitchFamily="2" charset="0"/>
              </a:rPr>
              <a:t>Send an HTTP message: HTTP messages (before HTTP/2) are human-readable. With HTTP/2, these simple messages are encapsulated in frames, making them impossible to read directly, but the principle remains the same. For example:</a:t>
            </a:r>
          </a:p>
          <a:p>
            <a:pPr marL="0" indent="0">
              <a:lnSpc>
                <a:spcPct val="150000"/>
              </a:lnSpc>
              <a:buNone/>
            </a:pPr>
            <a:endParaRPr lang="en-GB" dirty="0">
              <a:latin typeface="Helvetica Neue Light" panose="02000403000000020004" pitchFamily="2" charset="0"/>
              <a:ea typeface="Helvetica Neue Light" panose="02000403000000020004" pitchFamily="2" charset="0"/>
            </a:endParaRPr>
          </a:p>
        </p:txBody>
      </p:sp>
      <p:pic>
        <p:nvPicPr>
          <p:cNvPr id="6" name="Picture 5" descr="Graphical user interface, text&#10;&#10;Description automatically generated with medium confidence">
            <a:extLst>
              <a:ext uri="{FF2B5EF4-FFF2-40B4-BE49-F238E27FC236}">
                <a16:creationId xmlns:a16="http://schemas.microsoft.com/office/drawing/2014/main" id="{69F3D84B-D82C-7E42-B1C5-BB212525FCAE}"/>
              </a:ext>
            </a:extLst>
          </p:cNvPr>
          <p:cNvPicPr>
            <a:picLocks noChangeAspect="1"/>
          </p:cNvPicPr>
          <p:nvPr/>
        </p:nvPicPr>
        <p:blipFill>
          <a:blip r:embed="rId2"/>
          <a:stretch>
            <a:fillRect/>
          </a:stretch>
        </p:blipFill>
        <p:spPr>
          <a:xfrm>
            <a:off x="918541" y="4962938"/>
            <a:ext cx="5448385" cy="1716158"/>
          </a:xfrm>
          <a:prstGeom prst="rect">
            <a:avLst/>
          </a:prstGeom>
        </p:spPr>
      </p:pic>
    </p:spTree>
    <p:extLst>
      <p:ext uri="{BB962C8B-B14F-4D97-AF65-F5344CB8AC3E}">
        <p14:creationId xmlns:p14="http://schemas.microsoft.com/office/powerpoint/2010/main" val="1738938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http flow…</a:t>
            </a:r>
            <a:r>
              <a:rPr lang="en-US" sz="6000" spc="60" dirty="0" err="1">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cont</a:t>
            </a:r>
            <a:endPar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547330"/>
            <a:ext cx="10515600" cy="778428"/>
          </a:xfrm>
        </p:spPr>
        <p:txBody>
          <a:bodyPr>
            <a:normAutofit/>
          </a:bodyPr>
          <a:lstStyle/>
          <a:p>
            <a:pPr marL="0" indent="0">
              <a:lnSpc>
                <a:spcPct val="150000"/>
              </a:lnSpc>
              <a:buNone/>
            </a:pPr>
            <a:r>
              <a:rPr lang="en-GB" sz="2400" dirty="0">
                <a:latin typeface="Helvetica Neue Light" panose="02000403000000020004" pitchFamily="2" charset="0"/>
                <a:ea typeface="Helvetica Neue Light" panose="02000403000000020004" pitchFamily="2" charset="0"/>
              </a:rPr>
              <a:t>3. Read the response sent by the server, such as:</a:t>
            </a:r>
          </a:p>
        </p:txBody>
      </p:sp>
      <p:pic>
        <p:nvPicPr>
          <p:cNvPr id="2" name="Picture 1">
            <a:extLst>
              <a:ext uri="{FF2B5EF4-FFF2-40B4-BE49-F238E27FC236}">
                <a16:creationId xmlns:a16="http://schemas.microsoft.com/office/drawing/2014/main" id="{8003232B-441B-3A49-A531-C913F3F3DEEA}"/>
              </a:ext>
            </a:extLst>
          </p:cNvPr>
          <p:cNvPicPr>
            <a:picLocks noChangeAspect="1"/>
          </p:cNvPicPr>
          <p:nvPr/>
        </p:nvPicPr>
        <p:blipFill>
          <a:blip r:embed="rId2"/>
          <a:stretch>
            <a:fillRect/>
          </a:stretch>
        </p:blipFill>
        <p:spPr>
          <a:xfrm>
            <a:off x="944494" y="2303413"/>
            <a:ext cx="9800094" cy="3501038"/>
          </a:xfrm>
          <a:prstGeom prst="rect">
            <a:avLst/>
          </a:prstGeom>
        </p:spPr>
      </p:pic>
      <p:sp>
        <p:nvSpPr>
          <p:cNvPr id="7" name="TextBox 6">
            <a:extLst>
              <a:ext uri="{FF2B5EF4-FFF2-40B4-BE49-F238E27FC236}">
                <a16:creationId xmlns:a16="http://schemas.microsoft.com/office/drawing/2014/main" id="{902B6888-98AB-E948-9783-29B1206D24F1}"/>
              </a:ext>
            </a:extLst>
          </p:cNvPr>
          <p:cNvSpPr txBox="1"/>
          <p:nvPr/>
        </p:nvSpPr>
        <p:spPr>
          <a:xfrm>
            <a:off x="944494" y="6031210"/>
            <a:ext cx="8261903" cy="461665"/>
          </a:xfrm>
          <a:prstGeom prst="rect">
            <a:avLst/>
          </a:prstGeom>
          <a:noFill/>
        </p:spPr>
        <p:txBody>
          <a:bodyPr wrap="square">
            <a:spAutoFit/>
          </a:bodyPr>
          <a:lstStyle/>
          <a:p>
            <a:pPr algn="l"/>
            <a:r>
              <a:rPr lang="en-GB" sz="2400" dirty="0">
                <a:solidFill>
                  <a:srgbClr val="1B1B1B"/>
                </a:solidFill>
                <a:latin typeface="Helvetica Neue Light" panose="02000403000000020004" pitchFamily="2" charset="0"/>
                <a:ea typeface="Helvetica Neue Light" panose="02000403000000020004" pitchFamily="2" charset="0"/>
              </a:rPr>
              <a:t>4. </a:t>
            </a:r>
            <a:r>
              <a:rPr lang="en-GB" sz="2400" dirty="0">
                <a:solidFill>
                  <a:srgbClr val="1B1B1B"/>
                </a:solidFill>
                <a:effectLst/>
                <a:latin typeface="Helvetica Neue Light" panose="02000403000000020004" pitchFamily="2" charset="0"/>
                <a:ea typeface="Helvetica Neue Light" panose="02000403000000020004" pitchFamily="2" charset="0"/>
              </a:rPr>
              <a:t>Close or reuse the connection for further requests.</a:t>
            </a:r>
          </a:p>
        </p:txBody>
      </p:sp>
    </p:spTree>
    <p:extLst>
      <p:ext uri="{BB962C8B-B14F-4D97-AF65-F5344CB8AC3E}">
        <p14:creationId xmlns:p14="http://schemas.microsoft.com/office/powerpoint/2010/main" val="779309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Requests</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583887"/>
            <a:ext cx="10515600" cy="1325563"/>
          </a:xfrm>
        </p:spPr>
        <p:txBody>
          <a:bodyPr>
            <a:normAutofit fontScale="70000" lnSpcReduction="20000"/>
          </a:bodyPr>
          <a:lstStyle/>
          <a:p>
            <a:pPr marL="0" indent="0">
              <a:lnSpc>
                <a:spcPct val="150000"/>
              </a:lnSpc>
              <a:buNone/>
            </a:pPr>
            <a:r>
              <a:rPr lang="en-GB" dirty="0">
                <a:latin typeface="Helvetica Neue Light" panose="02000403000000020004" pitchFamily="2" charset="0"/>
                <a:ea typeface="Helvetica Neue Light" panose="02000403000000020004" pitchFamily="2" charset="0"/>
              </a:rPr>
              <a:t>There are two types of HTTP messages, requests and responses, each with its own format.</a:t>
            </a:r>
            <a:endParaRPr lang="en-GB" spc="80" dirty="0">
              <a:latin typeface="Helvetica Neue Light" panose="02000403000000020004" pitchFamily="2" charset="0"/>
              <a:ea typeface="Helvetica Neue Light" panose="02000403000000020004" pitchFamily="2" charset="0"/>
            </a:endParaRPr>
          </a:p>
          <a:p>
            <a:pPr marL="0" indent="0">
              <a:lnSpc>
                <a:spcPct val="150000"/>
              </a:lnSpc>
              <a:buNone/>
            </a:pPr>
            <a:r>
              <a:rPr lang="en-GB" dirty="0">
                <a:latin typeface="Helvetica Neue Light" panose="02000403000000020004" pitchFamily="2" charset="0"/>
                <a:ea typeface="Helvetica Neue Light" panose="02000403000000020004" pitchFamily="2" charset="0"/>
              </a:rPr>
              <a:t>An example HTTP request:</a:t>
            </a:r>
            <a:endParaRPr lang="en-GB" spc="80" dirty="0">
              <a:latin typeface="Helvetica Neue Light" panose="02000403000000020004" pitchFamily="2" charset="0"/>
              <a:ea typeface="Helvetica Neue Light" panose="02000403000000020004" pitchFamily="2" charset="0"/>
            </a:endParaRPr>
          </a:p>
          <a:p>
            <a:pPr marL="0" indent="0">
              <a:lnSpc>
                <a:spcPct val="150000"/>
              </a:lnSpc>
              <a:buNone/>
            </a:pPr>
            <a:endParaRPr lang="en-GB" dirty="0">
              <a:latin typeface="Helvetica Neue Light" panose="02000403000000020004" pitchFamily="2" charset="0"/>
              <a:ea typeface="Helvetica Neue Light" panose="02000403000000020004" pitchFamily="2" charset="0"/>
            </a:endParaRPr>
          </a:p>
        </p:txBody>
      </p:sp>
      <p:pic>
        <p:nvPicPr>
          <p:cNvPr id="3" name="Picture 2">
            <a:extLst>
              <a:ext uri="{FF2B5EF4-FFF2-40B4-BE49-F238E27FC236}">
                <a16:creationId xmlns:a16="http://schemas.microsoft.com/office/drawing/2014/main" id="{EC4D1C0D-7AF7-6A4B-94A2-67B47FB5B57B}"/>
              </a:ext>
            </a:extLst>
          </p:cNvPr>
          <p:cNvPicPr>
            <a:picLocks noChangeAspect="1"/>
          </p:cNvPicPr>
          <p:nvPr/>
        </p:nvPicPr>
        <p:blipFill>
          <a:blip r:embed="rId2"/>
          <a:stretch>
            <a:fillRect/>
          </a:stretch>
        </p:blipFill>
        <p:spPr>
          <a:xfrm>
            <a:off x="935422" y="2743200"/>
            <a:ext cx="9144000" cy="3975100"/>
          </a:xfrm>
          <a:prstGeom prst="rect">
            <a:avLst/>
          </a:prstGeom>
          <a:ln>
            <a:solidFill>
              <a:schemeClr val="bg1">
                <a:lumMod val="50000"/>
              </a:schemeClr>
            </a:solidFill>
          </a:ln>
        </p:spPr>
      </p:pic>
    </p:spTree>
    <p:extLst>
      <p:ext uri="{BB962C8B-B14F-4D97-AF65-F5344CB8AC3E}">
        <p14:creationId xmlns:p14="http://schemas.microsoft.com/office/powerpoint/2010/main" val="268223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Requests…</a:t>
            </a:r>
            <a:r>
              <a:rPr lang="en-US" sz="6000" spc="60" dirty="0" err="1">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cont</a:t>
            </a:r>
            <a:endPar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583887"/>
            <a:ext cx="10515600" cy="4908988"/>
          </a:xfrm>
        </p:spPr>
        <p:txBody>
          <a:bodyPr>
            <a:normAutofit/>
          </a:bodyPr>
          <a:lstStyle/>
          <a:p>
            <a:pPr>
              <a:lnSpc>
                <a:spcPct val="150000"/>
              </a:lnSpc>
            </a:pPr>
            <a:r>
              <a:rPr lang="en-GB" sz="2000" dirty="0">
                <a:latin typeface="Helvetica Neue Light" panose="02000403000000020004" pitchFamily="2" charset="0"/>
                <a:ea typeface="Helvetica Neue Light" panose="02000403000000020004" pitchFamily="2" charset="0"/>
              </a:rPr>
              <a:t>Requests consists of the following elements:</a:t>
            </a:r>
          </a:p>
          <a:p>
            <a:pPr>
              <a:lnSpc>
                <a:spcPct val="150000"/>
              </a:lnSpc>
            </a:pPr>
            <a:r>
              <a:rPr lang="en-GB" sz="2000" dirty="0">
                <a:latin typeface="Helvetica Neue Light" panose="02000403000000020004" pitchFamily="2" charset="0"/>
                <a:ea typeface="Helvetica Neue Light" panose="02000403000000020004" pitchFamily="2" charset="0"/>
              </a:rPr>
              <a:t>An HTTP method, usually a verb like GET, POST</a:t>
            </a:r>
            <a:r>
              <a:rPr lang="en-GB" sz="2000" u="sng" dirty="0">
                <a:latin typeface="Helvetica Neue Light" panose="02000403000000020004" pitchFamily="2" charset="0"/>
                <a:ea typeface="Helvetica Neue Light" panose="02000403000000020004" pitchFamily="2" charset="0"/>
              </a:rPr>
              <a:t> </a:t>
            </a:r>
            <a:r>
              <a:rPr lang="en-GB" sz="2000" dirty="0">
                <a:latin typeface="Helvetica Neue Light" panose="02000403000000020004" pitchFamily="2" charset="0"/>
                <a:ea typeface="Helvetica Neue Light" panose="02000403000000020004" pitchFamily="2" charset="0"/>
              </a:rPr>
              <a:t>that defines the operation the client wants to perform. Typically, a client wants to fetch a resource (using GET) or post the value of an HTML form (using POST), though more operations may be needed in other cases.</a:t>
            </a:r>
          </a:p>
          <a:p>
            <a:pPr>
              <a:lnSpc>
                <a:spcPct val="150000"/>
              </a:lnSpc>
            </a:pPr>
            <a:r>
              <a:rPr lang="en-GB" sz="2000" dirty="0">
                <a:latin typeface="Helvetica Neue Light" panose="02000403000000020004" pitchFamily="2" charset="0"/>
                <a:ea typeface="Helvetica Neue Light" panose="02000403000000020004" pitchFamily="2" charset="0"/>
              </a:rPr>
              <a:t>The path of the resource to fetch.</a:t>
            </a:r>
          </a:p>
          <a:p>
            <a:pPr>
              <a:lnSpc>
                <a:spcPct val="150000"/>
              </a:lnSpc>
            </a:pPr>
            <a:r>
              <a:rPr lang="en-GB" sz="2000" dirty="0">
                <a:latin typeface="Helvetica Neue Light" panose="02000403000000020004" pitchFamily="2" charset="0"/>
                <a:ea typeface="Helvetica Neue Light" panose="02000403000000020004" pitchFamily="2" charset="0"/>
              </a:rPr>
              <a:t>The version of the HTTP protocol.</a:t>
            </a:r>
          </a:p>
          <a:p>
            <a:pPr>
              <a:lnSpc>
                <a:spcPct val="150000"/>
              </a:lnSpc>
            </a:pPr>
            <a:r>
              <a:rPr lang="en-GB" sz="2000" dirty="0">
                <a:latin typeface="Helvetica Neue Light" panose="02000403000000020004" pitchFamily="2" charset="0"/>
                <a:ea typeface="Helvetica Neue Light" panose="02000403000000020004" pitchFamily="2" charset="0"/>
              </a:rPr>
              <a:t>Optional headers that convey additional information for the servers.</a:t>
            </a:r>
          </a:p>
          <a:p>
            <a:pPr>
              <a:lnSpc>
                <a:spcPct val="150000"/>
              </a:lnSpc>
            </a:pPr>
            <a:r>
              <a:rPr lang="en-GB" sz="2000" dirty="0">
                <a:latin typeface="Helvetica Neue Light" panose="02000403000000020004" pitchFamily="2" charset="0"/>
                <a:ea typeface="Helvetica Neue Light" panose="02000403000000020004" pitchFamily="2" charset="0"/>
              </a:rPr>
              <a:t>A body, for some methods like POST, similar to those in responses, which contain the resource sent.</a:t>
            </a:r>
          </a:p>
        </p:txBody>
      </p:sp>
    </p:spTree>
    <p:extLst>
      <p:ext uri="{BB962C8B-B14F-4D97-AF65-F5344CB8AC3E}">
        <p14:creationId xmlns:p14="http://schemas.microsoft.com/office/powerpoint/2010/main" val="2073878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Responses</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5788573" y="613491"/>
            <a:ext cx="4648200" cy="759263"/>
          </a:xfrm>
        </p:spPr>
        <p:txBody>
          <a:bodyPr>
            <a:normAutofit/>
          </a:bodyPr>
          <a:lstStyle/>
          <a:p>
            <a:pPr marL="0" indent="0">
              <a:lnSpc>
                <a:spcPct val="150000"/>
              </a:lnSpc>
              <a:buNone/>
            </a:pPr>
            <a:r>
              <a:rPr lang="en-GB" dirty="0">
                <a:latin typeface="Helvetica Neue Light" panose="02000403000000020004" pitchFamily="2" charset="0"/>
                <a:ea typeface="Helvetica Neue Light" panose="02000403000000020004" pitchFamily="2" charset="0"/>
              </a:rPr>
              <a:t>An example HTTP response:</a:t>
            </a:r>
            <a:endParaRPr lang="en-GB" spc="80" dirty="0">
              <a:latin typeface="Helvetica Neue Light" panose="02000403000000020004" pitchFamily="2" charset="0"/>
              <a:ea typeface="Helvetica Neue Light" panose="02000403000000020004" pitchFamily="2" charset="0"/>
            </a:endParaRPr>
          </a:p>
          <a:p>
            <a:pPr marL="0" indent="0">
              <a:lnSpc>
                <a:spcPct val="150000"/>
              </a:lnSpc>
              <a:buNone/>
            </a:pPr>
            <a:endParaRPr lang="en-GB" dirty="0">
              <a:latin typeface="Helvetica Neue Light" panose="02000403000000020004" pitchFamily="2" charset="0"/>
              <a:ea typeface="Helvetica Neue Light" panose="02000403000000020004" pitchFamily="2" charset="0"/>
            </a:endParaRPr>
          </a:p>
        </p:txBody>
      </p:sp>
      <p:pic>
        <p:nvPicPr>
          <p:cNvPr id="2" name="Picture 1">
            <a:extLst>
              <a:ext uri="{FF2B5EF4-FFF2-40B4-BE49-F238E27FC236}">
                <a16:creationId xmlns:a16="http://schemas.microsoft.com/office/drawing/2014/main" id="{BE0F6DEE-57C7-954C-A82B-8FF35906D8B6}"/>
              </a:ext>
            </a:extLst>
          </p:cNvPr>
          <p:cNvPicPr>
            <a:picLocks noChangeAspect="1"/>
          </p:cNvPicPr>
          <p:nvPr/>
        </p:nvPicPr>
        <p:blipFill>
          <a:blip r:embed="rId2"/>
          <a:stretch>
            <a:fillRect/>
          </a:stretch>
        </p:blipFill>
        <p:spPr>
          <a:xfrm>
            <a:off x="936625" y="1621120"/>
            <a:ext cx="8665594" cy="4871755"/>
          </a:xfrm>
          <a:prstGeom prst="rect">
            <a:avLst/>
          </a:prstGeom>
          <a:ln>
            <a:solidFill>
              <a:schemeClr val="bg1">
                <a:lumMod val="50000"/>
              </a:schemeClr>
            </a:solidFill>
          </a:ln>
        </p:spPr>
      </p:pic>
    </p:spTree>
    <p:extLst>
      <p:ext uri="{BB962C8B-B14F-4D97-AF65-F5344CB8AC3E}">
        <p14:creationId xmlns:p14="http://schemas.microsoft.com/office/powerpoint/2010/main" val="1016108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Responses…</a:t>
            </a:r>
            <a:r>
              <a:rPr lang="en-US" sz="6000" spc="60" dirty="0" err="1">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cont</a:t>
            </a:r>
            <a:endPar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583887"/>
            <a:ext cx="10515600" cy="4908988"/>
          </a:xfrm>
        </p:spPr>
        <p:txBody>
          <a:bodyPr>
            <a:normAutofit/>
          </a:bodyPr>
          <a:lstStyle/>
          <a:p>
            <a:pPr>
              <a:lnSpc>
                <a:spcPct val="150000"/>
              </a:lnSpc>
            </a:pPr>
            <a:r>
              <a:rPr lang="en-GB" sz="2400" dirty="0">
                <a:latin typeface="Helvetica Neue Light" panose="02000403000000020004" pitchFamily="2" charset="0"/>
                <a:ea typeface="Helvetica Neue Light" panose="02000403000000020004" pitchFamily="2" charset="0"/>
              </a:rPr>
              <a:t>Responses consist of the following elements:</a:t>
            </a:r>
          </a:p>
          <a:p>
            <a:pPr>
              <a:lnSpc>
                <a:spcPct val="150000"/>
              </a:lnSpc>
            </a:pPr>
            <a:r>
              <a:rPr lang="en-GB" sz="2400" dirty="0">
                <a:latin typeface="Helvetica Neue Light" panose="02000403000000020004" pitchFamily="2" charset="0"/>
                <a:ea typeface="Helvetica Neue Light" panose="02000403000000020004" pitchFamily="2" charset="0"/>
              </a:rPr>
              <a:t>The version of the HTTP protocol they follow.</a:t>
            </a:r>
          </a:p>
          <a:p>
            <a:pPr>
              <a:lnSpc>
                <a:spcPct val="150000"/>
              </a:lnSpc>
            </a:pPr>
            <a:r>
              <a:rPr lang="en-GB" sz="2400" dirty="0">
                <a:latin typeface="Helvetica Neue Light" panose="02000403000000020004" pitchFamily="2" charset="0"/>
                <a:ea typeface="Helvetica Neue Light" panose="02000403000000020004" pitchFamily="2" charset="0"/>
              </a:rPr>
              <a:t>A </a:t>
            </a:r>
            <a:r>
              <a:rPr lang="en-GB" sz="2400" b="1" dirty="0">
                <a:latin typeface="Helvetica Neue Light" panose="02000403000000020004" pitchFamily="2" charset="0"/>
                <a:ea typeface="Helvetica Neue Light" panose="02000403000000020004" pitchFamily="2" charset="0"/>
              </a:rPr>
              <a:t>status code</a:t>
            </a:r>
            <a:r>
              <a:rPr lang="en-GB" sz="2400" dirty="0">
                <a:latin typeface="Helvetica Neue Light" panose="02000403000000020004" pitchFamily="2" charset="0"/>
                <a:ea typeface="Helvetica Neue Light" panose="02000403000000020004" pitchFamily="2" charset="0"/>
              </a:rPr>
              <a:t>, indicating if the request was successful or not, and why.</a:t>
            </a:r>
          </a:p>
          <a:p>
            <a:pPr>
              <a:lnSpc>
                <a:spcPct val="150000"/>
              </a:lnSpc>
            </a:pPr>
            <a:r>
              <a:rPr lang="en-GB" sz="2400" dirty="0">
                <a:latin typeface="Helvetica Neue Light" panose="02000403000000020004" pitchFamily="2" charset="0"/>
                <a:ea typeface="Helvetica Neue Light" panose="02000403000000020004" pitchFamily="2" charset="0"/>
              </a:rPr>
              <a:t>A status message, a non-authoritative short description of the status code.</a:t>
            </a:r>
          </a:p>
          <a:p>
            <a:pPr>
              <a:lnSpc>
                <a:spcPct val="150000"/>
              </a:lnSpc>
            </a:pPr>
            <a:r>
              <a:rPr lang="en-GB" sz="2400" dirty="0">
                <a:latin typeface="Helvetica Neue Light" panose="02000403000000020004" pitchFamily="2" charset="0"/>
                <a:ea typeface="Helvetica Neue Light" panose="02000403000000020004" pitchFamily="2" charset="0"/>
              </a:rPr>
              <a:t>HTTP </a:t>
            </a:r>
            <a:r>
              <a:rPr lang="en-GB" sz="2400" b="1" dirty="0">
                <a:latin typeface="Helvetica Neue Light" panose="02000403000000020004" pitchFamily="2" charset="0"/>
                <a:ea typeface="Helvetica Neue Light" panose="02000403000000020004" pitchFamily="2" charset="0"/>
              </a:rPr>
              <a:t>headers</a:t>
            </a:r>
            <a:r>
              <a:rPr lang="en-GB" sz="2400" dirty="0">
                <a:latin typeface="Helvetica Neue Light" panose="02000403000000020004" pitchFamily="2" charset="0"/>
                <a:ea typeface="Helvetica Neue Light" panose="02000403000000020004" pitchFamily="2" charset="0"/>
              </a:rPr>
              <a:t>, like those for requests.</a:t>
            </a:r>
          </a:p>
          <a:p>
            <a:pPr>
              <a:lnSpc>
                <a:spcPct val="150000"/>
              </a:lnSpc>
            </a:pPr>
            <a:r>
              <a:rPr lang="en-GB" sz="2400" dirty="0">
                <a:latin typeface="Helvetica Neue Light" panose="02000403000000020004" pitchFamily="2" charset="0"/>
                <a:ea typeface="Helvetica Neue Light" panose="02000403000000020004" pitchFamily="2" charset="0"/>
              </a:rPr>
              <a:t>Optionally, a body containing the fetched resource.</a:t>
            </a:r>
          </a:p>
        </p:txBody>
      </p:sp>
    </p:spTree>
    <p:extLst>
      <p:ext uri="{BB962C8B-B14F-4D97-AF65-F5344CB8AC3E}">
        <p14:creationId xmlns:p14="http://schemas.microsoft.com/office/powerpoint/2010/main" val="2750322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HTTP request headers</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566041"/>
            <a:ext cx="10515600" cy="4610922"/>
          </a:xfrm>
        </p:spPr>
        <p:txBody>
          <a:bodyPr>
            <a:normAutofit fontScale="92500" lnSpcReduction="10000"/>
          </a:bodyPr>
          <a:lstStyle/>
          <a:p>
            <a:pPr marL="0" indent="0">
              <a:lnSpc>
                <a:spcPct val="150000"/>
              </a:lnSpc>
              <a:buNone/>
            </a:pPr>
            <a:r>
              <a:rPr lang="en-GB" sz="2000" b="1" dirty="0">
                <a:latin typeface="HELVETICA NEUE LIGHT" panose="02000403000000020004" pitchFamily="2" charset="0"/>
                <a:ea typeface="HELVETICA NEUE LIGHT" panose="02000403000000020004" pitchFamily="2" charset="0"/>
              </a:rPr>
              <a:t>Some of the most common HTTP headers found in HTTP requests.</a:t>
            </a:r>
          </a:p>
          <a:p>
            <a:pPr marL="0" indent="0">
              <a:lnSpc>
                <a:spcPct val="100000"/>
              </a:lnSpc>
              <a:buNone/>
            </a:pPr>
            <a:r>
              <a:rPr lang="en-GB" sz="2000" dirty="0">
                <a:latin typeface="Courier New" panose="02070309020205020404" pitchFamily="49" charset="0"/>
                <a:ea typeface="Helvetica Neue Light" panose="02000403000000020004" pitchFamily="2" charset="0"/>
                <a:cs typeface="Courier New" panose="02070309020205020404" pitchFamily="49" charset="0"/>
              </a:rPr>
              <a:t>Host: </a:t>
            </a:r>
            <a:r>
              <a:rPr lang="en-GB" sz="2000" dirty="0" err="1">
                <a:latin typeface="Courier New" panose="02070309020205020404" pitchFamily="49" charset="0"/>
                <a:ea typeface="Helvetica Neue Light" panose="02000403000000020004" pitchFamily="2" charset="0"/>
                <a:cs typeface="Courier New" panose="02070309020205020404" pitchFamily="49" charset="0"/>
              </a:rPr>
              <a:t>code.tutsplus.com</a:t>
            </a:r>
            <a:endParaRPr lang="en-GB" sz="2000" dirty="0">
              <a:latin typeface="Courier New" panose="02070309020205020404" pitchFamily="49" charset="0"/>
              <a:ea typeface="Helvetica Neue Light" panose="02000403000000020004" pitchFamily="2" charset="0"/>
              <a:cs typeface="Courier New" panose="02070309020205020404" pitchFamily="49" charset="0"/>
            </a:endParaRPr>
          </a:p>
          <a:p>
            <a:pPr marL="0" indent="0">
              <a:lnSpc>
                <a:spcPct val="100000"/>
              </a:lnSpc>
              <a:buNone/>
            </a:pPr>
            <a:r>
              <a:rPr lang="en-GB" sz="2000" dirty="0">
                <a:latin typeface="Helvetica Neue Light" panose="02000403000000020004" pitchFamily="2" charset="0"/>
                <a:ea typeface="Helvetica Neue Light" panose="02000403000000020004" pitchFamily="2" charset="0"/>
              </a:rPr>
              <a:t>	This is basically the host name, including the domain and the subdomain</a:t>
            </a:r>
            <a:r>
              <a:rPr lang="en-GB" dirty="0"/>
              <a:t>.</a:t>
            </a:r>
          </a:p>
          <a:p>
            <a:pPr marL="0" indent="0">
              <a:lnSpc>
                <a:spcPct val="150000"/>
              </a:lnSpc>
              <a:buNone/>
            </a:pPr>
            <a:r>
              <a:rPr lang="en-GB" sz="2000" dirty="0">
                <a:latin typeface="Courier New" panose="02070309020205020404" pitchFamily="49" charset="0"/>
                <a:cs typeface="Courier New" panose="02070309020205020404" pitchFamily="49" charset="0"/>
              </a:rPr>
              <a:t>User-Agent: Mozilla/5.0 (Windows; U; Windows NT 6.1;</a:t>
            </a:r>
          </a:p>
          <a:p>
            <a:pPr marL="0" indent="0">
              <a:buNone/>
            </a:pPr>
            <a:r>
              <a:rPr lang="en-GB" sz="2000" dirty="0">
                <a:latin typeface="Helvetica Neue Light" panose="02000403000000020004" pitchFamily="2" charset="0"/>
                <a:ea typeface="Helvetica Neue Light" panose="02000403000000020004" pitchFamily="2" charset="0"/>
              </a:rPr>
              <a:t>              Browser name and version, operating system name and version etc</a:t>
            </a:r>
          </a:p>
          <a:p>
            <a:pPr marL="0" indent="0">
              <a:buNone/>
            </a:pPr>
            <a:r>
              <a:rPr lang="en-GB" sz="2000" dirty="0">
                <a:latin typeface="Courier New" panose="02070309020205020404" pitchFamily="49" charset="0"/>
                <a:cs typeface="Courier New" panose="02070309020205020404" pitchFamily="49" charset="0"/>
              </a:rPr>
              <a:t>Accept-Language: </a:t>
            </a:r>
            <a:r>
              <a:rPr lang="en-GB" sz="2000" dirty="0" err="1">
                <a:latin typeface="Courier New" panose="02070309020205020404" pitchFamily="49" charset="0"/>
                <a:cs typeface="Courier New" panose="02070309020205020404" pitchFamily="49" charset="0"/>
              </a:rPr>
              <a:t>en-us,en;q</a:t>
            </a:r>
            <a:r>
              <a:rPr lang="en-GB" sz="2000" dirty="0">
                <a:latin typeface="Courier New" panose="02070309020205020404" pitchFamily="49" charset="0"/>
                <a:cs typeface="Courier New" panose="02070309020205020404" pitchFamily="49" charset="0"/>
              </a:rPr>
              <a:t>=0.5</a:t>
            </a:r>
          </a:p>
          <a:p>
            <a:pPr marL="0" indent="0">
              <a:buNone/>
            </a:pPr>
            <a:r>
              <a:rPr lang="en-GB" sz="2000" dirty="0">
                <a:latin typeface="Helvetica Neue Light" panose="02000403000000020004" pitchFamily="2" charset="0"/>
                <a:ea typeface="Helvetica Neue Light" panose="02000403000000020004" pitchFamily="2" charset="0"/>
              </a:rPr>
              <a:t>	This header displays the default language setting of the user.</a:t>
            </a:r>
          </a:p>
          <a:p>
            <a:pPr marL="0" indent="0">
              <a:buNone/>
            </a:pPr>
            <a:r>
              <a:rPr lang="en-GB" sz="2000" dirty="0">
                <a:latin typeface="Courier New" panose="02070309020205020404" pitchFamily="49" charset="0"/>
                <a:cs typeface="Courier New" panose="02070309020205020404" pitchFamily="49" charset="0"/>
              </a:rPr>
              <a:t>Accept-Encoding: </a:t>
            </a:r>
            <a:r>
              <a:rPr lang="en-GB" sz="2000" dirty="0" err="1">
                <a:latin typeface="Courier New" panose="02070309020205020404" pitchFamily="49" charset="0"/>
                <a:cs typeface="Courier New" panose="02070309020205020404" pitchFamily="49" charset="0"/>
              </a:rPr>
              <a:t>gzip,deflate</a:t>
            </a:r>
            <a:endParaRPr lang="en-GB" sz="2000" dirty="0">
              <a:latin typeface="Courier New" panose="02070309020205020404" pitchFamily="49" charset="0"/>
              <a:cs typeface="Courier New" panose="02070309020205020404" pitchFamily="49" charset="0"/>
            </a:endParaRPr>
          </a:p>
          <a:p>
            <a:pPr marL="0" indent="0">
              <a:buNone/>
            </a:pPr>
            <a:r>
              <a:rPr lang="en-GB" sz="2000" dirty="0">
                <a:latin typeface="Courier New" panose="02070309020205020404" pitchFamily="49" charset="0"/>
                <a:cs typeface="Courier New" panose="02070309020205020404" pitchFamily="49" charset="0"/>
              </a:rPr>
              <a:t>If-Modified-Since: Sat, 28 Nov 2009 06:38:19 GMT</a:t>
            </a:r>
          </a:p>
          <a:p>
            <a:pPr marL="0" indent="0">
              <a:buNone/>
            </a:pPr>
            <a:r>
              <a:rPr lang="en-GB" sz="2000" dirty="0">
                <a:latin typeface="Courier New" panose="02070309020205020404" pitchFamily="49" charset="0"/>
                <a:cs typeface="Courier New" panose="02070309020205020404" pitchFamily="49" charset="0"/>
              </a:rPr>
              <a:t>Cookie: PHPSESSID=r2t5uvjq435r4q7ib3vtdjq120; foo=bar</a:t>
            </a:r>
          </a:p>
          <a:p>
            <a:pPr marL="0" indent="0">
              <a:buNone/>
            </a:pPr>
            <a:r>
              <a:rPr lang="en-GB" sz="2000" dirty="0">
                <a:latin typeface="Courier New" panose="02070309020205020404" pitchFamily="49" charset="0"/>
                <a:cs typeface="Courier New" panose="02070309020205020404" pitchFamily="49" charset="0"/>
              </a:rPr>
              <a:t>Authorization: Basic bXl1c2VyOm15cGFzcw==</a:t>
            </a:r>
            <a:endParaRPr lang="en-GB" sz="2000" dirty="0">
              <a:latin typeface="Courier New" panose="02070309020205020404" pitchFamily="49" charset="0"/>
              <a:ea typeface="Helvetica Neue Light" panose="02000403000000020004" pitchFamily="2" charset="0"/>
              <a:cs typeface="Courier New" panose="02070309020205020404" pitchFamily="49" charset="0"/>
            </a:endParaRPr>
          </a:p>
          <a:p>
            <a:pPr marL="0" indent="0">
              <a:buNone/>
            </a:pPr>
            <a:endParaRPr lang="en-GB" sz="2000" dirty="0">
              <a:latin typeface="Helvetica Neue Light" panose="02000403000000020004" pitchFamily="2" charset="0"/>
              <a:ea typeface="Helvetica Neue Light" panose="02000403000000020004" pitchFamily="2" charset="0"/>
            </a:endParaRPr>
          </a:p>
          <a:p>
            <a:pPr marL="0" indent="0">
              <a:lnSpc>
                <a:spcPct val="150000"/>
              </a:lnSpc>
              <a:buNone/>
            </a:pPr>
            <a:endParaRPr lang="en-GB" sz="2000" dirty="0">
              <a:latin typeface="Courier New" panose="02070309020205020404" pitchFamily="49" charset="0"/>
              <a:cs typeface="Courier New" panose="02070309020205020404" pitchFamily="49" charset="0"/>
            </a:endParaRPr>
          </a:p>
          <a:p>
            <a:pPr marL="0" indent="0">
              <a:lnSpc>
                <a:spcPct val="150000"/>
              </a:lnSpc>
              <a:buNone/>
            </a:pPr>
            <a:endParaRPr lang="en-GB" sz="2000" dirty="0">
              <a:latin typeface="Courier New" panose="02070309020205020404" pitchFamily="49" charset="0"/>
              <a:ea typeface="Helvetica Neue Light" panose="02000403000000020004" pitchFamily="2" charset="0"/>
              <a:cs typeface="Courier New" panose="02070309020205020404" pitchFamily="49" charset="0"/>
            </a:endParaRPr>
          </a:p>
        </p:txBody>
      </p:sp>
      <p:sp>
        <p:nvSpPr>
          <p:cNvPr id="6" name="TextBox 5">
            <a:extLst>
              <a:ext uri="{FF2B5EF4-FFF2-40B4-BE49-F238E27FC236}">
                <a16:creationId xmlns:a16="http://schemas.microsoft.com/office/drawing/2014/main" id="{BA681EA9-F797-AC49-82BD-A2B7CAB04401}"/>
              </a:ext>
            </a:extLst>
          </p:cNvPr>
          <p:cNvSpPr txBox="1"/>
          <p:nvPr/>
        </p:nvSpPr>
        <p:spPr>
          <a:xfrm>
            <a:off x="838200" y="6308209"/>
            <a:ext cx="8967952" cy="369332"/>
          </a:xfrm>
          <a:prstGeom prst="rect">
            <a:avLst/>
          </a:prstGeom>
          <a:noFill/>
        </p:spPr>
        <p:txBody>
          <a:bodyPr wrap="square">
            <a:spAutoFit/>
          </a:bodyPr>
          <a:lstStyle/>
          <a:p>
            <a:r>
              <a:rPr lang="en-US" dirty="0">
                <a:hlinkClick r:id="rId2"/>
              </a:rPr>
              <a:t>https://code.tutsplus.com/tutorials/http-headers-for-dummies--net-8039</a:t>
            </a:r>
            <a:endParaRPr lang="en-US" dirty="0"/>
          </a:p>
        </p:txBody>
      </p:sp>
    </p:spTree>
    <p:extLst>
      <p:ext uri="{BB962C8B-B14F-4D97-AF65-F5344CB8AC3E}">
        <p14:creationId xmlns:p14="http://schemas.microsoft.com/office/powerpoint/2010/main" val="213447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HTTP response headers</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566041"/>
            <a:ext cx="10515600" cy="5097518"/>
          </a:xfrm>
        </p:spPr>
        <p:txBody>
          <a:bodyPr>
            <a:normAutofit fontScale="77500" lnSpcReduction="20000"/>
          </a:bodyPr>
          <a:lstStyle/>
          <a:p>
            <a:pPr marL="0" indent="0">
              <a:lnSpc>
                <a:spcPct val="160000"/>
              </a:lnSpc>
              <a:buNone/>
            </a:pPr>
            <a:r>
              <a:rPr lang="en-GB" sz="2000" dirty="0">
                <a:latin typeface="Helvetica Neue Light" panose="02000403000000020004" pitchFamily="2" charset="0"/>
                <a:ea typeface="Helvetica Neue Light" panose="02000403000000020004" pitchFamily="2" charset="0"/>
              </a:rPr>
              <a:t>Content-Type- This header indicates the "MIME type" of the document. The browser then decides how to interpret the contents based on this. For example, an HTML page (or a PHP script with HTML output) may return this:</a:t>
            </a:r>
          </a:p>
          <a:p>
            <a:pPr marL="0" indent="0">
              <a:lnSpc>
                <a:spcPct val="160000"/>
              </a:lnSpc>
              <a:buNone/>
            </a:pPr>
            <a:r>
              <a:rPr lang="en-GB" sz="2000" dirty="0">
                <a:latin typeface="Courier New" panose="02070309020205020404" pitchFamily="49" charset="0"/>
                <a:cs typeface="Courier New" panose="02070309020205020404" pitchFamily="49" charset="0"/>
              </a:rPr>
              <a:t>Content-Type: text/html; charset=UTF-8</a:t>
            </a:r>
          </a:p>
          <a:p>
            <a:pPr marL="0" indent="0">
              <a:lnSpc>
                <a:spcPct val="160000"/>
              </a:lnSpc>
              <a:buNone/>
            </a:pPr>
            <a:r>
              <a:rPr lang="en-GB" sz="2000" dirty="0">
                <a:latin typeface="Helvetica Neue Light" panose="02000403000000020004" pitchFamily="2" charset="0"/>
                <a:ea typeface="Helvetica Neue Light" panose="02000403000000020004" pitchFamily="2" charset="0"/>
              </a:rPr>
              <a:t>For a GIF image, this may be sent:</a:t>
            </a:r>
          </a:p>
          <a:p>
            <a:pPr marL="0" indent="0">
              <a:lnSpc>
                <a:spcPct val="160000"/>
              </a:lnSpc>
              <a:buNone/>
            </a:pPr>
            <a:r>
              <a:rPr lang="en-GB" sz="2000" dirty="0">
                <a:latin typeface="Courier New" panose="02070309020205020404" pitchFamily="49" charset="0"/>
                <a:ea typeface="Helvetica Neue Light" panose="02000403000000020004" pitchFamily="2" charset="0"/>
                <a:cs typeface="Courier New" panose="02070309020205020404" pitchFamily="49" charset="0"/>
              </a:rPr>
              <a:t>Content-Type: image/gif</a:t>
            </a:r>
          </a:p>
          <a:p>
            <a:pPr marL="0" indent="0">
              <a:lnSpc>
                <a:spcPct val="160000"/>
              </a:lnSpc>
              <a:buNone/>
            </a:pPr>
            <a:r>
              <a:rPr lang="en-GB" sz="2000" dirty="0">
                <a:latin typeface="Helvetica Neue Light" panose="02000403000000020004" pitchFamily="2" charset="0"/>
                <a:ea typeface="Helvetica Neue Light" panose="02000403000000020004" pitchFamily="2" charset="0"/>
              </a:rPr>
              <a:t>When content is going to be transmitted to the browser, the server can indicate its size (in bytes) using this header.</a:t>
            </a:r>
          </a:p>
          <a:p>
            <a:pPr marL="0" indent="0">
              <a:lnSpc>
                <a:spcPct val="160000"/>
              </a:lnSpc>
              <a:buNone/>
            </a:pPr>
            <a:r>
              <a:rPr lang="en-GB" sz="2000" dirty="0">
                <a:latin typeface="Courier New" panose="02070309020205020404" pitchFamily="49" charset="0"/>
                <a:ea typeface="Helvetica Neue Light" panose="02000403000000020004" pitchFamily="2" charset="0"/>
                <a:cs typeface="Courier New" panose="02070309020205020404" pitchFamily="49" charset="0"/>
              </a:rPr>
              <a:t>Content-Length: 89123</a:t>
            </a:r>
          </a:p>
          <a:p>
            <a:pPr marL="0" indent="0">
              <a:lnSpc>
                <a:spcPct val="160000"/>
              </a:lnSpc>
              <a:buNone/>
            </a:pPr>
            <a:r>
              <a:rPr lang="en-GB" sz="2200" dirty="0">
                <a:latin typeface="Helvetica Neue Light" panose="02000403000000020004" pitchFamily="2" charset="0"/>
                <a:ea typeface="Helvetica Neue Light" panose="02000403000000020004" pitchFamily="2" charset="0"/>
              </a:rPr>
              <a:t>As the name suggests, this header indicates the last modify date of the document, in GMT format:</a:t>
            </a:r>
          </a:p>
          <a:p>
            <a:pPr marL="0" indent="0">
              <a:lnSpc>
                <a:spcPct val="160000"/>
              </a:lnSpc>
              <a:buNone/>
            </a:pPr>
            <a:r>
              <a:rPr lang="en-GB" sz="2200" dirty="0">
                <a:latin typeface="Courier New" panose="02070309020205020404" pitchFamily="49" charset="0"/>
                <a:ea typeface="Helvetica Neue Light" panose="02000403000000020004" pitchFamily="2" charset="0"/>
                <a:cs typeface="Courier New" panose="02070309020205020404" pitchFamily="49" charset="0"/>
              </a:rPr>
              <a:t>Last-Modified: Sat, 28 Nov 2009 03:50:37 GMT</a:t>
            </a:r>
          </a:p>
          <a:p>
            <a:pPr marL="0" indent="0">
              <a:lnSpc>
                <a:spcPct val="160000"/>
              </a:lnSpc>
              <a:buNone/>
            </a:pPr>
            <a:r>
              <a:rPr lang="en-GB" sz="2200" dirty="0">
                <a:latin typeface="Helvetica Neue Light" panose="02000403000000020004" pitchFamily="2" charset="0"/>
                <a:ea typeface="Helvetica Neue Light" panose="02000403000000020004" pitchFamily="2" charset="0"/>
                <a:cs typeface="Courier New" panose="02070309020205020404" pitchFamily="49" charset="0"/>
              </a:rPr>
              <a:t>There are many more - see:</a:t>
            </a:r>
          </a:p>
          <a:p>
            <a:pPr marL="0" indent="0">
              <a:lnSpc>
                <a:spcPct val="160000"/>
              </a:lnSpc>
              <a:buNone/>
            </a:pPr>
            <a:r>
              <a:rPr lang="en-GB" sz="2000" dirty="0">
                <a:latin typeface="Helvetica Neue Light" panose="02000403000000020004" pitchFamily="2" charset="0"/>
                <a:ea typeface="Helvetica Neue Light" panose="02000403000000020004" pitchFamily="2" charset="0"/>
                <a:cs typeface="Courier New" panose="02070309020205020404" pitchFamily="49" charset="0"/>
                <a:hlinkClick r:id="rId2"/>
              </a:rPr>
              <a:t>https://www.tutorialspoint.com/http/http_header_fields.htm</a:t>
            </a:r>
            <a:endParaRPr lang="en-GB" sz="2000" dirty="0">
              <a:latin typeface="Helvetica Neue Light" panose="02000403000000020004" pitchFamily="2" charset="0"/>
              <a:ea typeface="Helvetica Neue Light" panose="02000403000000020004" pitchFamily="2" charset="0"/>
              <a:cs typeface="Courier New" panose="02070309020205020404" pitchFamily="49" charset="0"/>
            </a:endParaRPr>
          </a:p>
          <a:p>
            <a:pPr marL="0" indent="0">
              <a:lnSpc>
                <a:spcPct val="160000"/>
              </a:lnSpc>
              <a:buNone/>
            </a:pPr>
            <a:endParaRPr lang="en-GB" sz="2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799495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HTTP status codes</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66235" y="1408824"/>
            <a:ext cx="3605048" cy="4164013"/>
          </a:xfrm>
        </p:spPr>
        <p:txBody>
          <a:bodyPr>
            <a:normAutofit fontScale="85000" lnSpcReduction="10000"/>
          </a:bodyPr>
          <a:lstStyle/>
          <a:p>
            <a:pPr marL="0" indent="0">
              <a:lnSpc>
                <a:spcPct val="170000"/>
              </a:lnSpc>
              <a:buNone/>
            </a:pPr>
            <a:r>
              <a:rPr lang="en-GB" dirty="0">
                <a:latin typeface="Helvetica Neue Light" panose="02000403000000020004" pitchFamily="2" charset="0"/>
                <a:ea typeface="Helvetica Neue Light" panose="02000403000000020004" pitchFamily="2" charset="0"/>
              </a:rPr>
              <a:t>The Status-Code element in a server response, is a 3-digit integer where the first digit of the Status-Code defines the class of response. There are 5 values for the first digit.</a:t>
            </a:r>
          </a:p>
        </p:txBody>
      </p:sp>
      <p:pic>
        <p:nvPicPr>
          <p:cNvPr id="3" name="Picture 2">
            <a:extLst>
              <a:ext uri="{FF2B5EF4-FFF2-40B4-BE49-F238E27FC236}">
                <a16:creationId xmlns:a16="http://schemas.microsoft.com/office/drawing/2014/main" id="{7DC80DD3-C8EC-9041-8654-0C33C9B15933}"/>
              </a:ext>
            </a:extLst>
          </p:cNvPr>
          <p:cNvPicPr>
            <a:picLocks noChangeAspect="1"/>
          </p:cNvPicPr>
          <p:nvPr/>
        </p:nvPicPr>
        <p:blipFill>
          <a:blip r:embed="rId2"/>
          <a:stretch>
            <a:fillRect/>
          </a:stretch>
        </p:blipFill>
        <p:spPr>
          <a:xfrm>
            <a:off x="932027" y="1408824"/>
            <a:ext cx="7131169" cy="5084051"/>
          </a:xfrm>
          <a:prstGeom prst="rect">
            <a:avLst/>
          </a:prstGeom>
        </p:spPr>
      </p:pic>
    </p:spTree>
    <p:extLst>
      <p:ext uri="{BB962C8B-B14F-4D97-AF65-F5344CB8AC3E}">
        <p14:creationId xmlns:p14="http://schemas.microsoft.com/office/powerpoint/2010/main" val="2365946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Common status codes – 2s</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499804"/>
            <a:ext cx="10515600" cy="4351338"/>
          </a:xfrm>
        </p:spPr>
        <p:txBody>
          <a:bodyPr>
            <a:normAutofit/>
          </a:bodyPr>
          <a:lstStyle/>
          <a:p>
            <a:pPr marL="0" indent="0">
              <a:lnSpc>
                <a:spcPct val="150000"/>
              </a:lnSpc>
              <a:buNone/>
            </a:pPr>
            <a:r>
              <a:rPr lang="en-GB" sz="2400" b="1" dirty="0">
                <a:latin typeface="Helvetica Neue Light" panose="02000403000000020004" pitchFamily="2" charset="0"/>
                <a:ea typeface="Helvetica Neue Light" panose="02000403000000020004" pitchFamily="2" charset="0"/>
              </a:rPr>
              <a:t>200 OK</a:t>
            </a:r>
          </a:p>
          <a:p>
            <a:pPr marL="0" indent="0">
              <a:lnSpc>
                <a:spcPct val="150000"/>
              </a:lnSpc>
              <a:buNone/>
            </a:pPr>
            <a:r>
              <a:rPr lang="en-GB" sz="2400" dirty="0">
                <a:latin typeface="Helvetica Neue Light" panose="02000403000000020004" pitchFamily="2" charset="0"/>
                <a:ea typeface="Helvetica Neue Light" panose="02000403000000020004" pitchFamily="2" charset="0"/>
              </a:rPr>
              <a:t>As mentioned before, this status code is sent in response to a successful request.</a:t>
            </a:r>
          </a:p>
          <a:p>
            <a:pPr marL="0" indent="0">
              <a:lnSpc>
                <a:spcPct val="150000"/>
              </a:lnSpc>
              <a:buNone/>
            </a:pPr>
            <a:r>
              <a:rPr lang="en-GB" sz="2400" b="1" dirty="0">
                <a:latin typeface="Helvetica Neue Light" panose="02000403000000020004" pitchFamily="2" charset="0"/>
                <a:ea typeface="Helvetica Neue Light" panose="02000403000000020004" pitchFamily="2" charset="0"/>
              </a:rPr>
              <a:t>206 Partial Content</a:t>
            </a:r>
          </a:p>
          <a:p>
            <a:pPr marL="0" indent="0">
              <a:lnSpc>
                <a:spcPct val="150000"/>
              </a:lnSpc>
              <a:buNone/>
            </a:pPr>
            <a:r>
              <a:rPr lang="en-GB" sz="2400" dirty="0">
                <a:latin typeface="Helvetica Neue Light" panose="02000403000000020004" pitchFamily="2" charset="0"/>
                <a:ea typeface="Helvetica Neue Light" panose="02000403000000020004" pitchFamily="2" charset="0"/>
              </a:rPr>
              <a:t>If an application requests only a range of the requested file, the 206 code is returned. It's most commonly used with download managers that can stop and resume a download, or split the download into pieces.</a:t>
            </a:r>
          </a:p>
          <a:p>
            <a:pPr marL="0" indent="0">
              <a:lnSpc>
                <a:spcPct val="150000"/>
              </a:lnSpc>
              <a:buNone/>
            </a:pPr>
            <a:endParaRPr lang="en-GB" sz="24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821795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Common status codes – 3s</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499804"/>
            <a:ext cx="10515600" cy="4351338"/>
          </a:xfrm>
        </p:spPr>
        <p:txBody>
          <a:bodyPr>
            <a:normAutofit fontScale="92500" lnSpcReduction="10000"/>
          </a:bodyPr>
          <a:lstStyle/>
          <a:p>
            <a:pPr marL="0" indent="0">
              <a:lnSpc>
                <a:spcPct val="150000"/>
              </a:lnSpc>
              <a:buNone/>
            </a:pPr>
            <a:r>
              <a:rPr lang="en-GB" sz="2400" b="1" dirty="0">
                <a:latin typeface="Helvetica Neue Light" panose="02000403000000020004" pitchFamily="2" charset="0"/>
                <a:ea typeface="Helvetica Neue Light" panose="02000403000000020004" pitchFamily="2" charset="0"/>
              </a:rPr>
              <a:t>302 (or 307) </a:t>
            </a:r>
            <a:r>
              <a:rPr lang="en-GB" sz="2400" dirty="0">
                <a:latin typeface="Helvetica Neue Light" panose="02000403000000020004" pitchFamily="2" charset="0"/>
                <a:ea typeface="Helvetica Neue Light" panose="02000403000000020004" pitchFamily="2" charset="0"/>
              </a:rPr>
              <a:t>Moved Temporarily &amp;</a:t>
            </a:r>
            <a:r>
              <a:rPr lang="en-GB" sz="2400" b="1" dirty="0">
                <a:latin typeface="Helvetica Neue Light" panose="02000403000000020004" pitchFamily="2" charset="0"/>
                <a:ea typeface="Helvetica Neue Light" panose="02000403000000020004" pitchFamily="2" charset="0"/>
              </a:rPr>
              <a:t> 301 </a:t>
            </a:r>
            <a:r>
              <a:rPr lang="en-GB" sz="2400" dirty="0">
                <a:latin typeface="Helvetica Neue Light" panose="02000403000000020004" pitchFamily="2" charset="0"/>
                <a:ea typeface="Helvetica Neue Light" panose="02000403000000020004" pitchFamily="2" charset="0"/>
              </a:rPr>
              <a:t>Moved Permanently</a:t>
            </a:r>
          </a:p>
          <a:p>
            <a:pPr marL="0" indent="0">
              <a:lnSpc>
                <a:spcPct val="150000"/>
              </a:lnSpc>
              <a:buNone/>
            </a:pPr>
            <a:r>
              <a:rPr lang="en-GB" sz="2400" dirty="0">
                <a:latin typeface="Helvetica Neue Light" panose="02000403000000020004" pitchFamily="2" charset="0"/>
                <a:ea typeface="Helvetica Neue Light" panose="02000403000000020004" pitchFamily="2" charset="0"/>
              </a:rPr>
              <a:t>These two codes are used for redirecting a browser. For example, when you use a URL shortening service, such as </a:t>
            </a:r>
            <a:r>
              <a:rPr lang="en-GB" sz="2400" dirty="0">
                <a:latin typeface="Helvetica Neue Light" panose="02000403000000020004" pitchFamily="2" charset="0"/>
                <a:ea typeface="Helvetica Neue Light" panose="02000403000000020004" pitchFamily="2" charset="0"/>
                <a:hlinkClick r:id="rId2"/>
              </a:rPr>
              <a:t>bit.ly</a:t>
            </a:r>
            <a:r>
              <a:rPr lang="en-GB" sz="2400" dirty="0">
                <a:latin typeface="Helvetica Neue Light" panose="02000403000000020004" pitchFamily="2" charset="0"/>
                <a:ea typeface="Helvetica Neue Light" panose="02000403000000020004" pitchFamily="2" charset="0"/>
              </a:rPr>
              <a:t>, that's exactly how they forward the people who click on their links.</a:t>
            </a:r>
          </a:p>
          <a:p>
            <a:pPr marL="0" indent="0">
              <a:lnSpc>
                <a:spcPct val="150000"/>
              </a:lnSpc>
              <a:buNone/>
            </a:pPr>
            <a:r>
              <a:rPr lang="en-GB" sz="2400" dirty="0">
                <a:latin typeface="Helvetica Neue Light" panose="02000403000000020004" pitchFamily="2" charset="0"/>
                <a:ea typeface="Helvetica Neue Light" panose="02000403000000020004" pitchFamily="2" charset="0"/>
              </a:rPr>
              <a:t>Both 302 and 301 are handled very similarly by the browser, but they can have different meanings to search engine spiders. For instance, if your website is down for maintenance, you may redirect to another location using 302. The search engine spider will continue checking your page later in the future</a:t>
            </a:r>
          </a:p>
          <a:p>
            <a:pPr marL="0" indent="0">
              <a:lnSpc>
                <a:spcPct val="150000"/>
              </a:lnSpc>
              <a:buNone/>
            </a:pPr>
            <a:endParaRPr lang="en-GB" sz="24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2452503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Common status codes – 4s</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471721"/>
            <a:ext cx="3404695" cy="631223"/>
          </a:xfrm>
        </p:spPr>
        <p:txBody>
          <a:bodyPr>
            <a:normAutofit lnSpcReduction="10000"/>
          </a:bodyPr>
          <a:lstStyle/>
          <a:p>
            <a:pPr marL="0" indent="0">
              <a:lnSpc>
                <a:spcPct val="150000"/>
              </a:lnSpc>
              <a:buNone/>
            </a:pPr>
            <a:r>
              <a:rPr lang="en-GB" sz="2400" b="1" dirty="0">
                <a:latin typeface="HELVETICA NEUE LIGHT" panose="02000403000000020004" pitchFamily="2" charset="0"/>
                <a:ea typeface="HELVETICA NEUE LIGHT" panose="02000403000000020004" pitchFamily="2" charset="0"/>
              </a:rPr>
              <a:t>Everyone’s favourite</a:t>
            </a:r>
            <a:endParaRPr lang="en-GB" sz="2400" dirty="0">
              <a:latin typeface="Helvetica Neue Light" panose="02000403000000020004" pitchFamily="2" charset="0"/>
              <a:ea typeface="Helvetica Neue Light" panose="02000403000000020004" pitchFamily="2" charset="0"/>
            </a:endParaRPr>
          </a:p>
          <a:p>
            <a:pPr marL="0" indent="0">
              <a:lnSpc>
                <a:spcPct val="150000"/>
              </a:lnSpc>
              <a:buNone/>
            </a:pPr>
            <a:endParaRPr lang="en-GB" sz="2400" dirty="0">
              <a:latin typeface="Helvetica Neue Light" panose="02000403000000020004" pitchFamily="2" charset="0"/>
              <a:ea typeface="Helvetica Neue Light" panose="02000403000000020004" pitchFamily="2" charset="0"/>
            </a:endParaRPr>
          </a:p>
        </p:txBody>
      </p:sp>
      <p:pic>
        <p:nvPicPr>
          <p:cNvPr id="3" name="Picture 2">
            <a:extLst>
              <a:ext uri="{FF2B5EF4-FFF2-40B4-BE49-F238E27FC236}">
                <a16:creationId xmlns:a16="http://schemas.microsoft.com/office/drawing/2014/main" id="{7430B4FA-4023-D64C-BDC5-C0954BABD0B6}"/>
              </a:ext>
            </a:extLst>
          </p:cNvPr>
          <p:cNvPicPr>
            <a:picLocks noChangeAspect="1"/>
          </p:cNvPicPr>
          <p:nvPr/>
        </p:nvPicPr>
        <p:blipFill>
          <a:blip r:embed="rId2"/>
          <a:stretch>
            <a:fillRect/>
          </a:stretch>
        </p:blipFill>
        <p:spPr>
          <a:xfrm>
            <a:off x="734423" y="2141537"/>
            <a:ext cx="7142196" cy="4351338"/>
          </a:xfrm>
          <a:prstGeom prst="rect">
            <a:avLst/>
          </a:prstGeom>
          <a:ln>
            <a:noFill/>
          </a:ln>
        </p:spPr>
      </p:pic>
      <p:pic>
        <p:nvPicPr>
          <p:cNvPr id="8" name="Picture 7">
            <a:extLst>
              <a:ext uri="{FF2B5EF4-FFF2-40B4-BE49-F238E27FC236}">
                <a16:creationId xmlns:a16="http://schemas.microsoft.com/office/drawing/2014/main" id="{D050E0FE-D6F5-F044-88A5-158588A4337C}"/>
              </a:ext>
            </a:extLst>
          </p:cNvPr>
          <p:cNvPicPr>
            <a:picLocks noChangeAspect="1"/>
          </p:cNvPicPr>
          <p:nvPr/>
        </p:nvPicPr>
        <p:blipFill>
          <a:blip r:embed="rId3"/>
          <a:stretch>
            <a:fillRect/>
          </a:stretch>
        </p:blipFill>
        <p:spPr>
          <a:xfrm>
            <a:off x="7648017" y="2418556"/>
            <a:ext cx="4064000" cy="3797300"/>
          </a:xfrm>
          <a:prstGeom prst="rect">
            <a:avLst/>
          </a:prstGeom>
        </p:spPr>
      </p:pic>
    </p:spTree>
    <p:extLst>
      <p:ext uri="{BB962C8B-B14F-4D97-AF65-F5344CB8AC3E}">
        <p14:creationId xmlns:p14="http://schemas.microsoft.com/office/powerpoint/2010/main" val="190421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Common status codes – 4s</a:t>
            </a:r>
          </a:p>
        </p:txBody>
      </p:sp>
      <p:pic>
        <p:nvPicPr>
          <p:cNvPr id="6" name="Picture 5">
            <a:extLst>
              <a:ext uri="{FF2B5EF4-FFF2-40B4-BE49-F238E27FC236}">
                <a16:creationId xmlns:a16="http://schemas.microsoft.com/office/drawing/2014/main" id="{D7A1BF2E-D2C0-374E-82B8-F78E1616FA80}"/>
              </a:ext>
            </a:extLst>
          </p:cNvPr>
          <p:cNvPicPr>
            <a:picLocks noChangeAspect="1"/>
          </p:cNvPicPr>
          <p:nvPr/>
        </p:nvPicPr>
        <p:blipFill>
          <a:blip r:embed="rId2"/>
          <a:stretch>
            <a:fillRect/>
          </a:stretch>
        </p:blipFill>
        <p:spPr>
          <a:xfrm>
            <a:off x="838200" y="1690688"/>
            <a:ext cx="6980786" cy="4775200"/>
          </a:xfrm>
          <a:prstGeom prst="rect">
            <a:avLst/>
          </a:prstGeom>
        </p:spPr>
      </p:pic>
    </p:spTree>
    <p:extLst>
      <p:ext uri="{BB962C8B-B14F-4D97-AF65-F5344CB8AC3E}">
        <p14:creationId xmlns:p14="http://schemas.microsoft.com/office/powerpoint/2010/main" val="3236043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A05177D-9CDA-434D-88F0-ED734BA002E7}"/>
              </a:ext>
            </a:extLst>
          </p:cNvPr>
          <p:cNvPicPr>
            <a:picLocks noChangeAspect="1"/>
          </p:cNvPicPr>
          <p:nvPr/>
        </p:nvPicPr>
        <p:blipFill>
          <a:blip r:embed="rId2"/>
          <a:stretch>
            <a:fillRect/>
          </a:stretch>
        </p:blipFill>
        <p:spPr>
          <a:xfrm>
            <a:off x="514809" y="2241550"/>
            <a:ext cx="6763669" cy="3693319"/>
          </a:xfrm>
          <a:prstGeom prst="rect">
            <a:avLst/>
          </a:prstGeom>
        </p:spPr>
      </p:pic>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Common status codes – 4s</a:t>
            </a:r>
          </a:p>
        </p:txBody>
      </p:sp>
      <p:sp>
        <p:nvSpPr>
          <p:cNvPr id="5" name="TextBox 4">
            <a:extLst>
              <a:ext uri="{FF2B5EF4-FFF2-40B4-BE49-F238E27FC236}">
                <a16:creationId xmlns:a16="http://schemas.microsoft.com/office/drawing/2014/main" id="{F5571C65-DF1A-4D42-86A7-5B5551519DC7}"/>
              </a:ext>
            </a:extLst>
          </p:cNvPr>
          <p:cNvSpPr txBox="1"/>
          <p:nvPr/>
        </p:nvSpPr>
        <p:spPr>
          <a:xfrm>
            <a:off x="7601869" y="2209105"/>
            <a:ext cx="4023394" cy="3725764"/>
          </a:xfrm>
          <a:prstGeom prst="rect">
            <a:avLst/>
          </a:prstGeom>
          <a:noFill/>
        </p:spPr>
        <p:txBody>
          <a:bodyPr wrap="square">
            <a:spAutoFit/>
          </a:bodyPr>
          <a:lstStyle/>
          <a:p>
            <a:pPr algn="l">
              <a:lnSpc>
                <a:spcPct val="150000"/>
              </a:lnSpc>
            </a:pPr>
            <a:r>
              <a:rPr lang="en-GB" sz="2000" dirty="0">
                <a:solidFill>
                  <a:srgbClr val="3A3A3A"/>
                </a:solidFill>
                <a:effectLst/>
                <a:latin typeface="Helvetica Neue Light" panose="02000403000000020004" pitchFamily="2" charset="0"/>
                <a:ea typeface="Helvetica Neue Light" panose="02000403000000020004" pitchFamily="2" charset="0"/>
              </a:rPr>
              <a:t>If you are not allowed to access a page, this code may be sent to your browser. This often happens when you try to open a URL for a folder that contains no index page. If the server settings do not allow the display of the folder contents, you will get a 403 error.</a:t>
            </a:r>
          </a:p>
        </p:txBody>
      </p:sp>
      <p:pic>
        <p:nvPicPr>
          <p:cNvPr id="7" name="Picture 6">
            <a:extLst>
              <a:ext uri="{FF2B5EF4-FFF2-40B4-BE49-F238E27FC236}">
                <a16:creationId xmlns:a16="http://schemas.microsoft.com/office/drawing/2014/main" id="{F36E76A1-931F-1C4B-8E55-0575592916E5}"/>
              </a:ext>
            </a:extLst>
          </p:cNvPr>
          <p:cNvPicPr>
            <a:picLocks noChangeAspect="1"/>
          </p:cNvPicPr>
          <p:nvPr/>
        </p:nvPicPr>
        <p:blipFill>
          <a:blip r:embed="rId3"/>
          <a:stretch>
            <a:fillRect/>
          </a:stretch>
        </p:blipFill>
        <p:spPr>
          <a:xfrm>
            <a:off x="838200" y="1530350"/>
            <a:ext cx="3187700" cy="711200"/>
          </a:xfrm>
          <a:prstGeom prst="rect">
            <a:avLst/>
          </a:prstGeom>
        </p:spPr>
      </p:pic>
    </p:spTree>
    <p:extLst>
      <p:ext uri="{BB962C8B-B14F-4D97-AF65-F5344CB8AC3E}">
        <p14:creationId xmlns:p14="http://schemas.microsoft.com/office/powerpoint/2010/main" val="2345115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324E766-6ACB-7A44-A675-E0BD59BB6930}"/>
              </a:ext>
            </a:extLst>
          </p:cNvPr>
          <p:cNvPicPr>
            <a:picLocks noChangeAspect="1"/>
          </p:cNvPicPr>
          <p:nvPr/>
        </p:nvPicPr>
        <p:blipFill>
          <a:blip r:embed="rId2"/>
          <a:stretch>
            <a:fillRect/>
          </a:stretch>
        </p:blipFill>
        <p:spPr>
          <a:xfrm>
            <a:off x="786481" y="2380555"/>
            <a:ext cx="6434158" cy="3748783"/>
          </a:xfrm>
          <a:prstGeom prst="rect">
            <a:avLst/>
          </a:prstGeom>
        </p:spPr>
      </p:pic>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Common status codes – 5s</a:t>
            </a:r>
          </a:p>
        </p:txBody>
      </p:sp>
      <p:sp>
        <p:nvSpPr>
          <p:cNvPr id="5" name="TextBox 4">
            <a:extLst>
              <a:ext uri="{FF2B5EF4-FFF2-40B4-BE49-F238E27FC236}">
                <a16:creationId xmlns:a16="http://schemas.microsoft.com/office/drawing/2014/main" id="{F5571C65-DF1A-4D42-86A7-5B5551519DC7}"/>
              </a:ext>
            </a:extLst>
          </p:cNvPr>
          <p:cNvSpPr txBox="1"/>
          <p:nvPr/>
        </p:nvSpPr>
        <p:spPr>
          <a:xfrm>
            <a:off x="7387324" y="2277075"/>
            <a:ext cx="4718948" cy="3725764"/>
          </a:xfrm>
          <a:prstGeom prst="rect">
            <a:avLst/>
          </a:prstGeom>
          <a:noFill/>
        </p:spPr>
        <p:txBody>
          <a:bodyPr wrap="square">
            <a:spAutoFit/>
          </a:bodyPr>
          <a:lstStyle/>
          <a:p>
            <a:pPr>
              <a:lnSpc>
                <a:spcPct val="150000"/>
              </a:lnSpc>
            </a:pPr>
            <a:r>
              <a:rPr lang="en-GB" sz="2000" dirty="0">
                <a:latin typeface="Helvetica Neue Light" panose="02000403000000020004" pitchFamily="2" charset="0"/>
                <a:ea typeface="Helvetica Neue Light" panose="02000403000000020004" pitchFamily="2" charset="0"/>
              </a:rPr>
              <a:t>This code is usually seen when a web script crashes. Most CGI scripts do not output errors directly to the browser, unlike PHP. If there are any fatal errors, they will just send a 500 status code. And the programmer then needs to search the server error logs to find the error messages.</a:t>
            </a:r>
            <a:endParaRPr lang="en-GB" sz="2000" dirty="0">
              <a:solidFill>
                <a:srgbClr val="3A3A3A"/>
              </a:solidFill>
              <a:effectLst/>
              <a:latin typeface="Helvetica Neue Light" panose="02000403000000020004" pitchFamily="2" charset="0"/>
              <a:ea typeface="Helvetica Neue Light" panose="02000403000000020004" pitchFamily="2" charset="0"/>
            </a:endParaRPr>
          </a:p>
        </p:txBody>
      </p:sp>
      <p:sp>
        <p:nvSpPr>
          <p:cNvPr id="6" name="Content Placeholder 4">
            <a:extLst>
              <a:ext uri="{FF2B5EF4-FFF2-40B4-BE49-F238E27FC236}">
                <a16:creationId xmlns:a16="http://schemas.microsoft.com/office/drawing/2014/main" id="{A71A1CB1-19F7-2C4C-95EF-B4DE310749EA}"/>
              </a:ext>
            </a:extLst>
          </p:cNvPr>
          <p:cNvSpPr>
            <a:spLocks noGrp="1"/>
          </p:cNvSpPr>
          <p:nvPr>
            <p:ph idx="1"/>
          </p:nvPr>
        </p:nvSpPr>
        <p:spPr>
          <a:xfrm>
            <a:off x="838199" y="1471721"/>
            <a:ext cx="6805613" cy="631223"/>
          </a:xfrm>
        </p:spPr>
        <p:txBody>
          <a:bodyPr>
            <a:normAutofit lnSpcReduction="10000"/>
          </a:bodyPr>
          <a:lstStyle/>
          <a:p>
            <a:pPr marL="0" indent="0">
              <a:lnSpc>
                <a:spcPct val="150000"/>
              </a:lnSpc>
              <a:buNone/>
            </a:pPr>
            <a:r>
              <a:rPr lang="en-GB" sz="2400" dirty="0">
                <a:latin typeface="Helvetica Neue Light" panose="02000403000000020004" pitchFamily="2" charset="0"/>
                <a:ea typeface="Helvetica Neue Light" panose="02000403000000020004" pitchFamily="2" charset="0"/>
              </a:rPr>
              <a:t>Very common when developing and unhelpful </a:t>
            </a:r>
            <a:r>
              <a:rPr lang="en-GB" sz="2400" dirty="0">
                <a:latin typeface="Helvetica Neue Light" panose="02000403000000020004" pitchFamily="2" charset="0"/>
                <a:ea typeface="Helvetica Neue Light" panose="02000403000000020004" pitchFamily="2" charset="0"/>
                <a:sym typeface="Wingdings" pitchFamily="2" charset="2"/>
              </a:rPr>
              <a:t></a:t>
            </a:r>
            <a:endParaRPr lang="en-GB" sz="2400" dirty="0">
              <a:latin typeface="Helvetica Neue Light" panose="02000403000000020004" pitchFamily="2" charset="0"/>
              <a:ea typeface="Helvetica Neue Light" panose="02000403000000020004" pitchFamily="2" charset="0"/>
            </a:endParaRPr>
          </a:p>
          <a:p>
            <a:pPr marL="0" indent="0">
              <a:lnSpc>
                <a:spcPct val="150000"/>
              </a:lnSpc>
              <a:buNone/>
            </a:pPr>
            <a:endParaRPr lang="en-GB" sz="24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41406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65125"/>
            <a:ext cx="10515600" cy="5549900"/>
          </a:xfrm>
        </p:spPr>
        <p:txBody>
          <a:bodyPr>
            <a:normAutofit/>
          </a:bodyPr>
          <a:lstStyle/>
          <a:p>
            <a:pPr algn="ctr">
              <a:lnSpc>
                <a:spcPct val="150000"/>
              </a:lnSpc>
            </a:pPr>
            <a:r>
              <a:rPr lang="en-GB" sz="6000" b="1" dirty="0">
                <a:solidFill>
                  <a:srgbClr val="D3473F"/>
                </a:solidFill>
                <a:latin typeface="American Typewriter" panose="02090604020004020304" pitchFamily="18" charset="77"/>
              </a:rPr>
              <a:t>Complete List</a:t>
            </a:r>
            <a:br>
              <a:rPr lang="en-GB" b="1" dirty="0">
                <a:solidFill>
                  <a:srgbClr val="D3473F"/>
                </a:solidFill>
                <a:latin typeface="American Typewriter" panose="02090604020004020304" pitchFamily="18" charset="77"/>
              </a:rPr>
            </a:br>
            <a:r>
              <a:rPr lang="en-GB" dirty="0">
                <a:solidFill>
                  <a:srgbClr val="D3473F"/>
                </a:solidFill>
                <a:latin typeface="American Typewriter" panose="02090604020004020304" pitchFamily="18" charset="77"/>
              </a:rPr>
              <a:t>You can find the complete list of HTTP status codes with their explanation on </a:t>
            </a:r>
            <a:r>
              <a:rPr lang="en-GB" dirty="0">
                <a:solidFill>
                  <a:schemeClr val="accent1">
                    <a:lumMod val="75000"/>
                  </a:schemeClr>
                </a:solidFill>
                <a:latin typeface="American Typewriter" panose="02090604020004020304" pitchFamily="18" charset="77"/>
                <a:hlinkClick r:id="rId2">
                  <a:extLst>
                    <a:ext uri="{A12FA001-AC4F-418D-AE19-62706E023703}">
                      <ahyp:hlinkClr xmlns:ahyp="http://schemas.microsoft.com/office/drawing/2018/hyperlinkcolor" val="tx"/>
                    </a:ext>
                  </a:extLst>
                </a:hlinkClick>
              </a:rPr>
              <a:t>Wikipedia</a:t>
            </a:r>
            <a:r>
              <a:rPr lang="en-GB" dirty="0">
                <a:solidFill>
                  <a:schemeClr val="accent1">
                    <a:lumMod val="75000"/>
                  </a:schemeClr>
                </a:solidFill>
                <a:latin typeface="American Typewriter" panose="02090604020004020304" pitchFamily="18" charset="77"/>
              </a:rPr>
              <a:t>.</a:t>
            </a:r>
          </a:p>
        </p:txBody>
      </p:sp>
    </p:spTree>
    <p:extLst>
      <p:ext uri="{BB962C8B-B14F-4D97-AF65-F5344CB8AC3E}">
        <p14:creationId xmlns:p14="http://schemas.microsoft.com/office/powerpoint/2010/main" val="64114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HTTP headers browser extension</a:t>
            </a:r>
            <a:b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br>
            <a:r>
              <a:rPr lang="en-US" sz="36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hlinkClick r:id="rId2"/>
              </a:rPr>
              <a:t>see video for demo</a:t>
            </a:r>
            <a:endParaRPr lang="en-US" sz="36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pic>
        <p:nvPicPr>
          <p:cNvPr id="6" name="Picture 5">
            <a:extLst>
              <a:ext uri="{FF2B5EF4-FFF2-40B4-BE49-F238E27FC236}">
                <a16:creationId xmlns:a16="http://schemas.microsoft.com/office/drawing/2014/main" id="{2E23E030-045C-904F-B40E-7F7D5E3CBBCF}"/>
              </a:ext>
            </a:extLst>
          </p:cNvPr>
          <p:cNvPicPr>
            <a:picLocks noChangeAspect="1"/>
          </p:cNvPicPr>
          <p:nvPr/>
        </p:nvPicPr>
        <p:blipFill>
          <a:blip r:embed="rId3"/>
          <a:stretch>
            <a:fillRect/>
          </a:stretch>
        </p:blipFill>
        <p:spPr>
          <a:xfrm>
            <a:off x="598488" y="2432050"/>
            <a:ext cx="9309100" cy="3708400"/>
          </a:xfrm>
          <a:prstGeom prst="rect">
            <a:avLst/>
          </a:prstGeom>
          <a:ln>
            <a:solidFill>
              <a:schemeClr val="bg1">
                <a:lumMod val="50000"/>
              </a:schemeClr>
            </a:solidFill>
          </a:ln>
        </p:spPr>
      </p:pic>
      <p:pic>
        <p:nvPicPr>
          <p:cNvPr id="3" name="Picture 2">
            <a:extLst>
              <a:ext uri="{FF2B5EF4-FFF2-40B4-BE49-F238E27FC236}">
                <a16:creationId xmlns:a16="http://schemas.microsoft.com/office/drawing/2014/main" id="{6DF3362C-7D5B-F84A-AEFA-E7B22820933D}"/>
              </a:ext>
            </a:extLst>
          </p:cNvPr>
          <p:cNvPicPr>
            <a:picLocks noChangeAspect="1"/>
          </p:cNvPicPr>
          <p:nvPr/>
        </p:nvPicPr>
        <p:blipFill>
          <a:blip r:embed="rId4"/>
          <a:stretch>
            <a:fillRect/>
          </a:stretch>
        </p:blipFill>
        <p:spPr>
          <a:xfrm>
            <a:off x="6738938" y="3892550"/>
            <a:ext cx="5270500" cy="2781300"/>
          </a:xfrm>
          <a:prstGeom prst="rect">
            <a:avLst/>
          </a:prstGeom>
        </p:spPr>
      </p:pic>
      <p:sp>
        <p:nvSpPr>
          <p:cNvPr id="9" name="Rectangle 8">
            <a:extLst>
              <a:ext uri="{FF2B5EF4-FFF2-40B4-BE49-F238E27FC236}">
                <a16:creationId xmlns:a16="http://schemas.microsoft.com/office/drawing/2014/main" id="{72891900-05A3-F848-9111-BB08FCDCDBCA}"/>
              </a:ext>
            </a:extLst>
          </p:cNvPr>
          <p:cNvSpPr/>
          <p:nvPr/>
        </p:nvSpPr>
        <p:spPr>
          <a:xfrm>
            <a:off x="7983538" y="5283200"/>
            <a:ext cx="3009900" cy="3000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D8D592B-2C7D-3101-EA5F-FEF622DAE95B}"/>
              </a:ext>
            </a:extLst>
          </p:cNvPr>
          <p:cNvSpPr txBox="1"/>
          <p:nvPr/>
        </p:nvSpPr>
        <p:spPr>
          <a:xfrm>
            <a:off x="838200" y="1852891"/>
            <a:ext cx="6099462" cy="369332"/>
          </a:xfrm>
          <a:prstGeom prst="rect">
            <a:avLst/>
          </a:prstGeom>
          <a:noFill/>
        </p:spPr>
        <p:txBody>
          <a:bodyPr wrap="square">
            <a:spAutoFit/>
          </a:bodyPr>
          <a:lstStyle/>
          <a:p>
            <a:r>
              <a:rPr lang="en-US" dirty="0">
                <a:hlinkClick r:id="rId5"/>
              </a:rPr>
              <a:t>http://localhost:8000/uni/code_examples/ajax1.html</a:t>
            </a:r>
            <a:endParaRPr lang="en-US" dirty="0"/>
          </a:p>
        </p:txBody>
      </p:sp>
    </p:spTree>
    <p:extLst>
      <p:ext uri="{BB962C8B-B14F-4D97-AF65-F5344CB8AC3E}">
        <p14:creationId xmlns:p14="http://schemas.microsoft.com/office/powerpoint/2010/main" val="1082890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References/sources</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p:txBody>
          <a:bodyPr>
            <a:normAutofit/>
          </a:bodyPr>
          <a:lstStyle/>
          <a:p>
            <a:pPr marL="0" indent="0">
              <a:lnSpc>
                <a:spcPct val="150000"/>
              </a:lnSpc>
              <a:buNone/>
            </a:pPr>
            <a:r>
              <a:rPr lang="en-GB" sz="1800" dirty="0" err="1">
                <a:latin typeface="Helvetica Neue Light" panose="02000403000000020004" pitchFamily="2" charset="0"/>
                <a:ea typeface="Helvetica Neue Light" panose="02000403000000020004" pitchFamily="2" charset="0"/>
              </a:rPr>
              <a:t>Developer.mozilla.org</a:t>
            </a:r>
            <a:r>
              <a:rPr lang="en-GB" sz="1800" dirty="0">
                <a:latin typeface="Helvetica Neue Light" panose="02000403000000020004" pitchFamily="2" charset="0"/>
                <a:ea typeface="Helvetica Neue Light" panose="02000403000000020004" pitchFamily="2" charset="0"/>
              </a:rPr>
              <a:t>. 2022. HTTP | MDN. [online] Available at: &lt;https://</a:t>
            </a:r>
            <a:r>
              <a:rPr lang="en-GB" sz="1800" dirty="0" err="1">
                <a:latin typeface="Helvetica Neue Light" panose="02000403000000020004" pitchFamily="2" charset="0"/>
                <a:ea typeface="Helvetica Neue Light" panose="02000403000000020004" pitchFamily="2" charset="0"/>
              </a:rPr>
              <a:t>developer.mozilla.org</a:t>
            </a:r>
            <a:r>
              <a:rPr lang="en-GB" sz="1800" dirty="0">
                <a:latin typeface="Helvetica Neue Light" panose="02000403000000020004" pitchFamily="2" charset="0"/>
                <a:ea typeface="Helvetica Neue Light" panose="02000403000000020004" pitchFamily="2" charset="0"/>
              </a:rPr>
              <a:t>/</a:t>
            </a:r>
            <a:r>
              <a:rPr lang="en-GB" sz="1800" dirty="0" err="1">
                <a:latin typeface="Helvetica Neue Light" panose="02000403000000020004" pitchFamily="2" charset="0"/>
                <a:ea typeface="Helvetica Neue Light" panose="02000403000000020004" pitchFamily="2" charset="0"/>
              </a:rPr>
              <a:t>en</a:t>
            </a:r>
            <a:r>
              <a:rPr lang="en-GB" sz="1800" dirty="0">
                <a:latin typeface="Helvetica Neue Light" panose="02000403000000020004" pitchFamily="2" charset="0"/>
                <a:ea typeface="Helvetica Neue Light" panose="02000403000000020004" pitchFamily="2" charset="0"/>
              </a:rPr>
              <a:t>-US/docs/Web/HTTP/&gt; [Accessed 25 January 2022].</a:t>
            </a:r>
          </a:p>
          <a:p>
            <a:pPr marL="0" indent="0">
              <a:lnSpc>
                <a:spcPct val="150000"/>
              </a:lnSpc>
              <a:buNone/>
            </a:pPr>
            <a:endParaRPr lang="en-GB" sz="1800" dirty="0">
              <a:latin typeface="Helvetica Neue Light" panose="02000403000000020004" pitchFamily="2" charset="0"/>
              <a:ea typeface="Helvetica Neue Light" panose="02000403000000020004" pitchFamily="2" charset="0"/>
            </a:endParaRPr>
          </a:p>
          <a:p>
            <a:pPr marL="0" indent="0">
              <a:lnSpc>
                <a:spcPct val="150000"/>
              </a:lnSpc>
              <a:buNone/>
            </a:pPr>
            <a:r>
              <a:rPr lang="en-GB" sz="1800" dirty="0" err="1">
                <a:latin typeface="Helvetica Neue Light" panose="02000403000000020004" pitchFamily="2" charset="0"/>
                <a:ea typeface="Helvetica Neue Light" panose="02000403000000020004" pitchFamily="2" charset="0"/>
              </a:rPr>
              <a:t>Guzel</a:t>
            </a:r>
            <a:r>
              <a:rPr lang="en-GB" sz="1800" dirty="0">
                <a:latin typeface="Helvetica Neue Light" panose="02000403000000020004" pitchFamily="2" charset="0"/>
                <a:ea typeface="Helvetica Neue Light" panose="02000403000000020004" pitchFamily="2" charset="0"/>
              </a:rPr>
              <a:t>, B., 2022. HTTP Headers for Dummies. [online] Code </a:t>
            </a:r>
            <a:r>
              <a:rPr lang="en-GB" sz="1800" dirty="0" err="1">
                <a:latin typeface="Helvetica Neue Light" panose="02000403000000020004" pitchFamily="2" charset="0"/>
                <a:ea typeface="Helvetica Neue Light" panose="02000403000000020004" pitchFamily="2" charset="0"/>
              </a:rPr>
              <a:t>Envato</a:t>
            </a:r>
            <a:r>
              <a:rPr lang="en-GB" sz="1800" dirty="0">
                <a:latin typeface="Helvetica Neue Light" panose="02000403000000020004" pitchFamily="2" charset="0"/>
                <a:ea typeface="Helvetica Neue Light" panose="02000403000000020004" pitchFamily="2" charset="0"/>
              </a:rPr>
              <a:t> Tuts+. Available at: &lt;https://</a:t>
            </a:r>
            <a:r>
              <a:rPr lang="en-GB" sz="1800" dirty="0" err="1">
                <a:latin typeface="Helvetica Neue Light" panose="02000403000000020004" pitchFamily="2" charset="0"/>
                <a:ea typeface="Helvetica Neue Light" panose="02000403000000020004" pitchFamily="2" charset="0"/>
              </a:rPr>
              <a:t>code.tutsplus.com</a:t>
            </a:r>
            <a:r>
              <a:rPr lang="en-GB" sz="1800" dirty="0">
                <a:latin typeface="Helvetica Neue Light" panose="02000403000000020004" pitchFamily="2" charset="0"/>
                <a:ea typeface="Helvetica Neue Light" panose="02000403000000020004" pitchFamily="2" charset="0"/>
              </a:rPr>
              <a:t>/tutorials/http-headers-for-dummies--net-8039&gt; [Accessed 25 January 2022].</a:t>
            </a:r>
          </a:p>
          <a:p>
            <a:pPr marL="0" indent="0">
              <a:lnSpc>
                <a:spcPct val="150000"/>
              </a:lnSpc>
              <a:buNone/>
            </a:pPr>
            <a:endParaRPr lang="en-GB" sz="1800" dirty="0">
              <a:latin typeface="Helvetica Neue Light" panose="02000403000000020004" pitchFamily="2" charset="0"/>
              <a:ea typeface="Helvetica Neue Light" panose="02000403000000020004" pitchFamily="2" charset="0"/>
            </a:endParaRPr>
          </a:p>
          <a:p>
            <a:pPr marL="0" indent="0">
              <a:lnSpc>
                <a:spcPct val="150000"/>
              </a:lnSpc>
              <a:buNone/>
            </a:pPr>
            <a:r>
              <a:rPr lang="en-GB" sz="1800" dirty="0" err="1">
                <a:latin typeface="Helvetica Neue Light" panose="02000403000000020004" pitchFamily="2" charset="0"/>
                <a:ea typeface="Helvetica Neue Light" panose="02000403000000020004" pitchFamily="2" charset="0"/>
              </a:rPr>
              <a:t>Tutorialspoint.com</a:t>
            </a:r>
            <a:r>
              <a:rPr lang="en-GB" sz="1800" dirty="0">
                <a:latin typeface="Helvetica Neue Light" panose="02000403000000020004" pitchFamily="2" charset="0"/>
                <a:ea typeface="Helvetica Neue Light" panose="02000403000000020004" pitchFamily="2" charset="0"/>
              </a:rPr>
              <a:t>. 2022. HTTP - Responses. [online] Available at: &lt;https://</a:t>
            </a:r>
            <a:r>
              <a:rPr lang="en-GB" sz="1800" dirty="0" err="1">
                <a:latin typeface="Helvetica Neue Light" panose="02000403000000020004" pitchFamily="2" charset="0"/>
                <a:ea typeface="Helvetica Neue Light" panose="02000403000000020004" pitchFamily="2" charset="0"/>
              </a:rPr>
              <a:t>www.tutorialspoint.com</a:t>
            </a:r>
            <a:r>
              <a:rPr lang="en-GB" sz="1800" dirty="0">
                <a:latin typeface="Helvetica Neue Light" panose="02000403000000020004" pitchFamily="2" charset="0"/>
                <a:ea typeface="Helvetica Neue Light" panose="02000403000000020004" pitchFamily="2" charset="0"/>
              </a:rPr>
              <a:t>/http/</a:t>
            </a:r>
            <a:r>
              <a:rPr lang="en-GB" sz="1800" dirty="0" err="1">
                <a:latin typeface="Helvetica Neue Light" panose="02000403000000020004" pitchFamily="2" charset="0"/>
                <a:ea typeface="Helvetica Neue Light" panose="02000403000000020004" pitchFamily="2" charset="0"/>
              </a:rPr>
              <a:t>http_responses.htm</a:t>
            </a:r>
            <a:r>
              <a:rPr lang="en-GB" sz="1800" dirty="0">
                <a:latin typeface="Helvetica Neue Light" panose="02000403000000020004" pitchFamily="2" charset="0"/>
                <a:ea typeface="Helvetica Neue Light" panose="02000403000000020004" pitchFamily="2" charset="0"/>
              </a:rPr>
              <a:t>&gt; [Accessed 25 January 2022].</a:t>
            </a:r>
          </a:p>
        </p:txBody>
      </p:sp>
    </p:spTree>
    <p:extLst>
      <p:ext uri="{BB962C8B-B14F-4D97-AF65-F5344CB8AC3E}">
        <p14:creationId xmlns:p14="http://schemas.microsoft.com/office/powerpoint/2010/main" val="1469215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5B50">
                <a:alpha val="83137"/>
              </a:srgbClr>
            </a:gs>
            <a:gs pos="41000">
              <a:srgbClr val="FF574B">
                <a:lumMod val="87000"/>
                <a:lumOff val="13000"/>
              </a:srgbClr>
            </a:gs>
            <a:gs pos="100000">
              <a:srgbClr val="FF574B"/>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247136"/>
            <a:ext cx="12192000" cy="5152767"/>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400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a:t>
            </a:r>
          </a:p>
        </p:txBody>
      </p:sp>
    </p:spTree>
    <p:extLst>
      <p:ext uri="{BB962C8B-B14F-4D97-AF65-F5344CB8AC3E}">
        <p14:creationId xmlns:p14="http://schemas.microsoft.com/office/powerpoint/2010/main" val="3844783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702</TotalTime>
  <Words>1904</Words>
  <Application>Microsoft Macintosh PowerPoint</Application>
  <PresentationFormat>Widescreen</PresentationFormat>
  <Paragraphs>124</Paragraphs>
  <Slides>29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American Typewriter</vt:lpstr>
      <vt:lpstr>Arial</vt:lpstr>
      <vt:lpstr>Calibri</vt:lpstr>
      <vt:lpstr>Calibri Light</vt:lpstr>
      <vt:lpstr>Courier New</vt:lpstr>
      <vt:lpstr>HELVETICA NEUE LIGHT</vt:lpstr>
      <vt:lpstr>HELVETICA NEUE LIGHT</vt:lpstr>
      <vt:lpstr>Helvetica Neue Thin</vt:lpstr>
      <vt:lpstr>Office Theme</vt:lpstr>
      <vt:lpstr>COMP 1842</vt:lpstr>
      <vt:lpstr>Introduction</vt:lpstr>
      <vt:lpstr>HTTP</vt:lpstr>
      <vt:lpstr>PowerPoint Presentation</vt:lpstr>
      <vt:lpstr>Client: the user-agent</vt:lpstr>
      <vt:lpstr>The web server</vt:lpstr>
      <vt:lpstr>Proxies</vt:lpstr>
      <vt:lpstr>HTTP Basic features</vt:lpstr>
      <vt:lpstr>HTTP Basic features 2</vt:lpstr>
      <vt:lpstr>MIME type</vt:lpstr>
      <vt:lpstr>http flow</vt:lpstr>
      <vt:lpstr>http flow…cont</vt:lpstr>
      <vt:lpstr>Requests</vt:lpstr>
      <vt:lpstr>Requests…cont</vt:lpstr>
      <vt:lpstr>Responses</vt:lpstr>
      <vt:lpstr>Responses…cont</vt:lpstr>
      <vt:lpstr>HTTP request headers</vt:lpstr>
      <vt:lpstr>HTTP response headers</vt:lpstr>
      <vt:lpstr>HTTP status codes</vt:lpstr>
      <vt:lpstr>Common status codes – 2s</vt:lpstr>
      <vt:lpstr>Common status codes – 3s</vt:lpstr>
      <vt:lpstr>Common status codes – 4s</vt:lpstr>
      <vt:lpstr>Common status codes – 4s</vt:lpstr>
      <vt:lpstr>Common status codes – 4s</vt:lpstr>
      <vt:lpstr>Common status codes – 5s</vt:lpstr>
      <vt:lpstr>Complete List You can find the complete list of HTTP status codes with their explanation on Wikipedia.</vt:lpstr>
      <vt:lpstr>HTTP headers browser extension see video for demo</vt:lpstr>
      <vt:lpstr>References/sources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1321</dc:title>
  <dc:creator>Matthew Prichard</dc:creator>
  <cp:lastModifiedBy>Matthew Prichard</cp:lastModifiedBy>
  <cp:revision>52</cp:revision>
  <dcterms:created xsi:type="dcterms:W3CDTF">2020-06-28T01:46:05Z</dcterms:created>
  <dcterms:modified xsi:type="dcterms:W3CDTF">2025-01-20T12:05:27Z</dcterms:modified>
</cp:coreProperties>
</file>